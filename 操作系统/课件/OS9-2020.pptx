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88" r:id="rId10"/>
    <p:sldId id="286" r:id="rId11"/>
    <p:sldId id="285" r:id="rId12"/>
    <p:sldId id="287" r:id="rId13"/>
    <p:sldId id="265" r:id="rId14"/>
    <p:sldId id="266" r:id="rId15"/>
    <p:sldId id="267" r:id="rId16"/>
    <p:sldId id="284" r:id="rId17"/>
    <p:sldId id="290" r:id="rId18"/>
    <p:sldId id="276" r:id="rId19"/>
    <p:sldId id="282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CCECFF"/>
    <a:srgbClr val="C0C0C0"/>
    <a:srgbClr val="FFFF00"/>
    <a:srgbClr val="99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7" autoAdjust="0"/>
  </p:normalViewPr>
  <p:slideViewPr>
    <p:cSldViewPr>
      <p:cViewPr varScale="1">
        <p:scale>
          <a:sx n="87" d="100"/>
          <a:sy n="87" d="100"/>
        </p:scale>
        <p:origin x="-72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6F58FF2-45C1-4D5E-A93B-30D34BF2A1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pic>
        <p:nvPicPr>
          <p:cNvPr id="13" name="Picture 17" descr="bit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6550" y="188913"/>
            <a:ext cx="1049338" cy="103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19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5AE1A-66AF-455B-BF51-5742AEBD0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03129-AEAC-44D3-8693-1F09540DE3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24F6A-2D87-4D67-98C7-5EE76106A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1628775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1628775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F628D-A54B-4743-9161-B76EBF0BA1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EB6AC-55CE-4C98-A7C1-C87B606E6E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691DB-4E5D-4651-8D6E-B037B5EDA6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5FFF3-25F5-43C7-8452-C73B0562CD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4EFB9-64CB-491D-A01C-E5A52F85B2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E2A65-0C84-4957-94FB-83870D3079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C6904-BCBC-4DE5-AD66-8BA28BB5AE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260350"/>
            <a:ext cx="1960563" cy="58991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260350"/>
            <a:ext cx="5730875" cy="58991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E1748-317D-42F2-99A9-BEF14656F6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03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1628775"/>
            <a:ext cx="38100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1628775"/>
            <a:ext cx="3810000" cy="2189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3970338"/>
            <a:ext cx="3810000" cy="2189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BC284-0D2B-4F75-9EA9-C3D8FF1441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80899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1035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80901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80902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603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1628775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CA5B2AE3-FDCB-4F1A-B451-44EC9AC16D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0908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33" name="Picture 13" descr="bit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56550" y="188913"/>
            <a:ext cx="1049338" cy="103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Char char="n"/>
        <a:defRPr sz="30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5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6920F4-E5C2-4F27-BE39-883C235084D1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第九章  </a:t>
            </a:r>
            <a:r>
              <a:rPr lang="en-US" altLang="zh-CN" smtClean="0"/>
              <a:t>Linux</a:t>
            </a:r>
            <a:r>
              <a:rPr lang="zh-CN" altLang="en-US" smtClean="0"/>
              <a:t>文件系统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北京理工大学计算机学院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906416-8FE6-4D1D-90EE-484EDF780EE8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9.1 Ext2</a:t>
            </a:r>
            <a:r>
              <a:rPr lang="zh-CN" altLang="en-US" smtClean="0"/>
              <a:t>磁盘涉及的数据结构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Linux</a:t>
            </a:r>
            <a:r>
              <a:rPr lang="zh-CN" altLang="en-US" dirty="0" smtClean="0"/>
              <a:t>最初采用的是</a:t>
            </a:r>
            <a:r>
              <a:rPr lang="en-US" altLang="zh-CN" dirty="0" err="1" smtClean="0">
                <a:solidFill>
                  <a:srgbClr val="FF0000"/>
                </a:solidFill>
              </a:rPr>
              <a:t>Minix</a:t>
            </a:r>
            <a:r>
              <a:rPr lang="zh-CN" altLang="en-US" dirty="0" smtClean="0"/>
              <a:t>的</a:t>
            </a:r>
            <a:r>
              <a:rPr lang="zh-CN" altLang="en-US" dirty="0" smtClean="0"/>
              <a:t>文件系统。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当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成熟时，引入了扩展文件系统（ </a:t>
            </a:r>
            <a:r>
              <a:rPr lang="en-US" altLang="zh-CN" dirty="0" smtClean="0"/>
              <a:t>Ext </a:t>
            </a:r>
            <a:r>
              <a:rPr lang="en-US" altLang="zh-CN" dirty="0" smtClean="0"/>
              <a:t>FS</a:t>
            </a:r>
            <a:r>
              <a:rPr lang="zh-CN" altLang="en-US" dirty="0" smtClean="0"/>
              <a:t>）。</a:t>
            </a:r>
            <a:r>
              <a:rPr lang="zh-CN" altLang="en-US" dirty="0" smtClean="0"/>
              <a:t>在</a:t>
            </a:r>
            <a:r>
              <a:rPr lang="en-US" altLang="zh-CN" dirty="0" smtClean="0"/>
              <a:t>1994</a:t>
            </a:r>
            <a:r>
              <a:rPr lang="zh-CN" altLang="en-US" dirty="0" smtClean="0"/>
              <a:t>年引入了第二扩展文件系统（</a:t>
            </a:r>
            <a:r>
              <a:rPr lang="en-US" altLang="zh-CN" dirty="0" smtClean="0">
                <a:solidFill>
                  <a:srgbClr val="FF0000"/>
                </a:solidFill>
              </a:rPr>
              <a:t>Ext2</a:t>
            </a:r>
            <a:r>
              <a:rPr lang="zh-CN" altLang="en-US" dirty="0" smtClean="0"/>
              <a:t>），它相当高效和强健，已成为广泛使用的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文件系统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</a:rPr>
              <a:t>Ext4</a:t>
            </a:r>
            <a:r>
              <a:rPr lang="zh-CN" altLang="en-US" dirty="0" smtClean="0"/>
              <a:t>将一组连续的数据块当作一个扩展盘区进行管理，类似</a:t>
            </a:r>
            <a:r>
              <a:rPr lang="en-US" altLang="zh-CN" dirty="0" smtClean="0"/>
              <a:t>NTFS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run</a:t>
            </a:r>
            <a:r>
              <a:rPr lang="zh-CN" altLang="en-US" dirty="0" smtClean="0"/>
              <a:t>概念，索引顺序结构。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34E570-1967-4991-9616-D5E673A74515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9.1.1  Ext2</a:t>
            </a:r>
            <a:r>
              <a:rPr lang="zh-CN" altLang="en-US" smtClean="0"/>
              <a:t>文件卷的布局</a:t>
            </a:r>
          </a:p>
        </p:txBody>
      </p:sp>
      <p:sp>
        <p:nvSpPr>
          <p:cNvPr id="512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Ext2</a:t>
            </a:r>
            <a:r>
              <a:rPr lang="zh-CN" altLang="en-US" dirty="0" smtClean="0"/>
              <a:t>把磁盘块分为组，每组包含存放在相邻磁道的数据块和索引节点。</a:t>
            </a:r>
            <a:r>
              <a:rPr lang="zh-CN" altLang="en-US" dirty="0" smtClean="0">
                <a:solidFill>
                  <a:srgbClr val="FF0000"/>
                </a:solidFill>
              </a:rPr>
              <a:t>块组</a:t>
            </a:r>
            <a:r>
              <a:rPr lang="zh-CN" altLang="en-US" dirty="0" smtClean="0"/>
              <a:t>的大小相等并顺序安排。</a:t>
            </a:r>
          </a:p>
          <a:p>
            <a:pPr eaLnBrk="1" hangingPunct="1"/>
            <a:r>
              <a:rPr lang="en-US" altLang="zh-CN" dirty="0" smtClean="0"/>
              <a:t>Ext2</a:t>
            </a:r>
            <a:r>
              <a:rPr lang="zh-CN" altLang="en-US" dirty="0" smtClean="0"/>
              <a:t>用“</a:t>
            </a:r>
            <a:r>
              <a:rPr lang="zh-CN" altLang="en-US" dirty="0" smtClean="0">
                <a:solidFill>
                  <a:srgbClr val="FF0000"/>
                </a:solidFill>
              </a:rPr>
              <a:t>块组描述符</a:t>
            </a:r>
            <a:r>
              <a:rPr lang="zh-CN" altLang="en-US" dirty="0" smtClean="0"/>
              <a:t>”来描述这些块组本身的结构信息，同时将</a:t>
            </a:r>
            <a:r>
              <a:rPr lang="zh-CN" altLang="en-US" dirty="0" smtClean="0">
                <a:solidFill>
                  <a:srgbClr val="FF0000"/>
                </a:solidFill>
              </a:rPr>
              <a:t>超级块</a:t>
            </a:r>
            <a:r>
              <a:rPr lang="zh-CN" altLang="en-US" dirty="0" smtClean="0"/>
              <a:t>和所有块组描述符重复存储于每个块组中。</a:t>
            </a:r>
          </a:p>
          <a:p>
            <a:pPr eaLnBrk="1" hangingPunct="1"/>
            <a:r>
              <a:rPr lang="en-US" altLang="zh-CN" dirty="0" smtClean="0"/>
              <a:t>Ext2</a:t>
            </a:r>
            <a:r>
              <a:rPr lang="zh-CN" altLang="en-US" dirty="0" smtClean="0"/>
              <a:t>通过“</a:t>
            </a:r>
            <a:r>
              <a:rPr lang="zh-CN" altLang="en-US" dirty="0" smtClean="0">
                <a:solidFill>
                  <a:srgbClr val="FF0000"/>
                </a:solidFill>
              </a:rPr>
              <a:t>位图</a:t>
            </a:r>
            <a:r>
              <a:rPr lang="zh-CN" altLang="en-US" dirty="0" smtClean="0"/>
              <a:t>”来管理每个块组中的磁盘块和索引节点。盘块位图，索引节点位图。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6CB944-5957-42A6-84CB-9EE700E4B74B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6147" name="Rectangle 36"/>
          <p:cNvSpPr>
            <a:spLocks noChangeArrowheads="1"/>
          </p:cNvSpPr>
          <p:nvPr/>
        </p:nvSpPr>
        <p:spPr bwMode="auto">
          <a:xfrm>
            <a:off x="611188" y="1844675"/>
            <a:ext cx="3521075" cy="1014413"/>
          </a:xfrm>
          <a:prstGeom prst="rect">
            <a:avLst/>
          </a:prstGeom>
          <a:solidFill>
            <a:schemeClr val="bg2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8" name="Text Box 37"/>
          <p:cNvSpPr txBox="1">
            <a:spLocks noChangeArrowheads="1"/>
          </p:cNvSpPr>
          <p:nvPr/>
        </p:nvSpPr>
        <p:spPr bwMode="auto">
          <a:xfrm>
            <a:off x="682625" y="2060575"/>
            <a:ext cx="1008063" cy="5461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引导块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49" name="Line 38"/>
          <p:cNvSpPr>
            <a:spLocks noChangeShapeType="1"/>
          </p:cNvSpPr>
          <p:nvPr/>
        </p:nvSpPr>
        <p:spPr bwMode="auto">
          <a:xfrm>
            <a:off x="1711325" y="1844675"/>
            <a:ext cx="0" cy="10144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0" name="Text Box 39"/>
          <p:cNvSpPr txBox="1">
            <a:spLocks noChangeArrowheads="1"/>
          </p:cNvSpPr>
          <p:nvPr/>
        </p:nvSpPr>
        <p:spPr bwMode="auto">
          <a:xfrm>
            <a:off x="2508250" y="2098675"/>
            <a:ext cx="1198563" cy="64135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</a:rPr>
              <a:t>块组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0</a:t>
            </a:r>
            <a:endParaRPr lang="en-US" altLang="zh-CN" sz="28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51" name="Rectangle 41"/>
          <p:cNvSpPr>
            <a:spLocks noChangeArrowheads="1"/>
          </p:cNvSpPr>
          <p:nvPr/>
        </p:nvSpPr>
        <p:spPr bwMode="auto">
          <a:xfrm>
            <a:off x="5670550" y="1844675"/>
            <a:ext cx="2860675" cy="1014413"/>
          </a:xfrm>
          <a:prstGeom prst="rect">
            <a:avLst/>
          </a:prstGeom>
          <a:solidFill>
            <a:schemeClr val="bg2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2" name="Text Box 43"/>
          <p:cNvSpPr txBox="1">
            <a:spLocks noChangeArrowheads="1"/>
          </p:cNvSpPr>
          <p:nvPr/>
        </p:nvSpPr>
        <p:spPr bwMode="auto">
          <a:xfrm>
            <a:off x="6299200" y="2098675"/>
            <a:ext cx="1441450" cy="5080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</a:rPr>
              <a:t>块组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n-1</a:t>
            </a:r>
            <a:endParaRPr lang="en-US" altLang="zh-CN" sz="28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53" name="Text Box 44"/>
          <p:cNvSpPr txBox="1">
            <a:spLocks noChangeArrowheads="1"/>
          </p:cNvSpPr>
          <p:nvPr/>
        </p:nvSpPr>
        <p:spPr bwMode="auto">
          <a:xfrm>
            <a:off x="847725" y="5541963"/>
            <a:ext cx="593725" cy="6238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4" name="Text Box 45"/>
          <p:cNvSpPr txBox="1">
            <a:spLocks noChangeArrowheads="1"/>
          </p:cNvSpPr>
          <p:nvPr/>
        </p:nvSpPr>
        <p:spPr bwMode="auto">
          <a:xfrm>
            <a:off x="1690688" y="5518150"/>
            <a:ext cx="779462" cy="62388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k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5" name="Text Box 46"/>
          <p:cNvSpPr txBox="1">
            <a:spLocks noChangeArrowheads="1"/>
          </p:cNvSpPr>
          <p:nvPr/>
        </p:nvSpPr>
        <p:spPr bwMode="auto">
          <a:xfrm>
            <a:off x="2625725" y="5541963"/>
            <a:ext cx="730250" cy="6238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6" name="Text Box 47"/>
          <p:cNvSpPr txBox="1">
            <a:spLocks noChangeArrowheads="1"/>
          </p:cNvSpPr>
          <p:nvPr/>
        </p:nvSpPr>
        <p:spPr bwMode="auto">
          <a:xfrm>
            <a:off x="3563938" y="5541963"/>
            <a:ext cx="958850" cy="6238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7" name="Text Box 48"/>
          <p:cNvSpPr txBox="1">
            <a:spLocks noChangeArrowheads="1"/>
          </p:cNvSpPr>
          <p:nvPr/>
        </p:nvSpPr>
        <p:spPr bwMode="auto">
          <a:xfrm>
            <a:off x="4572000" y="5541963"/>
            <a:ext cx="781050" cy="6238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m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8" name="Text Box 49"/>
          <p:cNvSpPr txBox="1">
            <a:spLocks noChangeArrowheads="1"/>
          </p:cNvSpPr>
          <p:nvPr/>
        </p:nvSpPr>
        <p:spPr bwMode="auto">
          <a:xfrm>
            <a:off x="5670550" y="5541963"/>
            <a:ext cx="844550" cy="6238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zh-CN" altLang="en-US" sz="2400" b="1">
                <a:latin typeface="Times New Roman" pitchFamily="18" charset="0"/>
              </a:rPr>
              <a:t>块</a:t>
            </a:r>
            <a:endParaRPr lang="zh-CN" altLang="en-US" sz="2400" b="1">
              <a:latin typeface="Verdana" pitchFamily="34" charset="0"/>
            </a:endParaRPr>
          </a:p>
        </p:txBody>
      </p:sp>
      <p:sp>
        <p:nvSpPr>
          <p:cNvPr id="6159" name="Rectangle 50"/>
          <p:cNvSpPr>
            <a:spLocks noChangeArrowheads="1"/>
          </p:cNvSpPr>
          <p:nvPr/>
        </p:nvSpPr>
        <p:spPr bwMode="auto">
          <a:xfrm>
            <a:off x="611188" y="3875088"/>
            <a:ext cx="6113462" cy="1522412"/>
          </a:xfrm>
          <a:prstGeom prst="rect">
            <a:avLst/>
          </a:prstGeom>
          <a:solidFill>
            <a:schemeClr val="bg2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>
              <a:latin typeface="Verdana" pitchFamily="34" charset="0"/>
            </a:endParaRPr>
          </a:p>
        </p:txBody>
      </p:sp>
      <p:sp>
        <p:nvSpPr>
          <p:cNvPr id="6160" name="Text Box 51"/>
          <p:cNvSpPr txBox="1">
            <a:spLocks noChangeArrowheads="1"/>
          </p:cNvSpPr>
          <p:nvPr/>
        </p:nvSpPr>
        <p:spPr bwMode="auto">
          <a:xfrm>
            <a:off x="827088" y="4005263"/>
            <a:ext cx="503237" cy="12954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超</a:t>
            </a:r>
          </a:p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级</a:t>
            </a:r>
          </a:p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块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1" name="Text Box 52"/>
          <p:cNvSpPr txBox="1">
            <a:spLocks noChangeArrowheads="1"/>
          </p:cNvSpPr>
          <p:nvPr/>
        </p:nvSpPr>
        <p:spPr bwMode="auto">
          <a:xfrm>
            <a:off x="1547813" y="4005263"/>
            <a:ext cx="660400" cy="123031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块组描述</a:t>
            </a:r>
          </a:p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符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2" name="Text Box 53"/>
          <p:cNvSpPr txBox="1">
            <a:spLocks noChangeArrowheads="1"/>
          </p:cNvSpPr>
          <p:nvPr/>
        </p:nvSpPr>
        <p:spPr bwMode="auto">
          <a:xfrm>
            <a:off x="2389188" y="4005263"/>
            <a:ext cx="862012" cy="124142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数据块位图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3" name="Text Box 54"/>
          <p:cNvSpPr txBox="1">
            <a:spLocks noChangeArrowheads="1"/>
          </p:cNvSpPr>
          <p:nvPr/>
        </p:nvSpPr>
        <p:spPr bwMode="auto">
          <a:xfrm>
            <a:off x="3348038" y="4005263"/>
            <a:ext cx="879475" cy="115252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索引节点位图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4" name="Text Box 55"/>
          <p:cNvSpPr txBox="1">
            <a:spLocks noChangeArrowheads="1"/>
          </p:cNvSpPr>
          <p:nvPr/>
        </p:nvSpPr>
        <p:spPr bwMode="auto">
          <a:xfrm>
            <a:off x="4500563" y="4005263"/>
            <a:ext cx="779462" cy="1169987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索引节点区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5" name="Text Box 56"/>
          <p:cNvSpPr txBox="1">
            <a:spLocks noChangeArrowheads="1"/>
          </p:cNvSpPr>
          <p:nvPr/>
        </p:nvSpPr>
        <p:spPr bwMode="auto">
          <a:xfrm>
            <a:off x="5580063" y="4005263"/>
            <a:ext cx="1079500" cy="11207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文件</a:t>
            </a:r>
          </a:p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</a:rPr>
              <a:t>数据区</a:t>
            </a:r>
            <a:endParaRPr lang="zh-CN" altLang="en-US" sz="24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6166" name="Line 57"/>
          <p:cNvSpPr>
            <a:spLocks noChangeShapeType="1"/>
          </p:cNvSpPr>
          <p:nvPr/>
        </p:nvSpPr>
        <p:spPr bwMode="auto">
          <a:xfrm>
            <a:off x="1492250" y="3875088"/>
            <a:ext cx="0" cy="15224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7" name="Line 58"/>
          <p:cNvSpPr>
            <a:spLocks noChangeShapeType="1"/>
          </p:cNvSpPr>
          <p:nvPr/>
        </p:nvSpPr>
        <p:spPr bwMode="auto">
          <a:xfrm>
            <a:off x="2370138" y="3875088"/>
            <a:ext cx="0" cy="15224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8" name="Line 59"/>
          <p:cNvSpPr>
            <a:spLocks noChangeShapeType="1"/>
          </p:cNvSpPr>
          <p:nvPr/>
        </p:nvSpPr>
        <p:spPr bwMode="auto">
          <a:xfrm>
            <a:off x="3251200" y="3875088"/>
            <a:ext cx="0" cy="15224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9" name="Line 60"/>
          <p:cNvSpPr>
            <a:spLocks noChangeShapeType="1"/>
          </p:cNvSpPr>
          <p:nvPr/>
        </p:nvSpPr>
        <p:spPr bwMode="auto">
          <a:xfrm>
            <a:off x="4351338" y="3875088"/>
            <a:ext cx="0" cy="15224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0" name="Line 61"/>
          <p:cNvSpPr>
            <a:spLocks noChangeShapeType="1"/>
          </p:cNvSpPr>
          <p:nvPr/>
        </p:nvSpPr>
        <p:spPr bwMode="auto">
          <a:xfrm>
            <a:off x="5451475" y="3875088"/>
            <a:ext cx="0" cy="15224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1" name="Line 62"/>
          <p:cNvSpPr>
            <a:spLocks noChangeShapeType="1"/>
          </p:cNvSpPr>
          <p:nvPr/>
        </p:nvSpPr>
        <p:spPr bwMode="auto">
          <a:xfrm flipH="1">
            <a:off x="611188" y="2859088"/>
            <a:ext cx="1100137" cy="1016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2" name="Line 63"/>
          <p:cNvSpPr>
            <a:spLocks noChangeShapeType="1"/>
          </p:cNvSpPr>
          <p:nvPr/>
        </p:nvSpPr>
        <p:spPr bwMode="auto">
          <a:xfrm>
            <a:off x="4132263" y="2859088"/>
            <a:ext cx="2419350" cy="10160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3" name="Rectangle 6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solidFill>
                  <a:schemeClr val="tx1"/>
                </a:solidFill>
              </a:rPr>
              <a:t>Ext2</a:t>
            </a:r>
            <a:r>
              <a:rPr lang="zh-CN" altLang="en-US" dirty="0" smtClean="0">
                <a:solidFill>
                  <a:schemeClr val="tx1"/>
                </a:solidFill>
              </a:rPr>
              <a:t>示意图  </a:t>
            </a:r>
            <a:r>
              <a:rPr lang="en-US" altLang="zh-CN" dirty="0" smtClean="0">
                <a:solidFill>
                  <a:srgbClr val="FF0000"/>
                </a:solidFill>
              </a:rPr>
              <a:t>P189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6174" name="Rectangle 68"/>
          <p:cNvSpPr>
            <a:spLocks noChangeArrowheads="1"/>
          </p:cNvSpPr>
          <p:nvPr/>
        </p:nvSpPr>
        <p:spPr bwMode="auto">
          <a:xfrm>
            <a:off x="4140200" y="1844675"/>
            <a:ext cx="1511300" cy="100806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75" name="Text Box 64"/>
          <p:cNvSpPr txBox="1">
            <a:spLocks noChangeArrowheads="1"/>
          </p:cNvSpPr>
          <p:nvPr/>
        </p:nvSpPr>
        <p:spPr bwMode="auto">
          <a:xfrm>
            <a:off x="4356100" y="2133600"/>
            <a:ext cx="1100138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just"/>
            <a:r>
              <a:rPr lang="en-US" altLang="zh-CN" sz="2400" b="1">
                <a:latin typeface="Times New Roman" pitchFamily="18" charset="0"/>
              </a:rPr>
              <a:t>……</a:t>
            </a:r>
            <a:endParaRPr lang="en-US" altLang="zh-CN" sz="2400" b="1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AEB6FB-F712-4027-BC6F-E7999E19F848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</a:t>
            </a:r>
          </a:p>
        </p:txBody>
      </p:sp>
      <p:sp>
        <p:nvSpPr>
          <p:cNvPr id="717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超级块</a:t>
            </a:r>
            <a:r>
              <a:rPr lang="zh-CN" altLang="en-US" dirty="0" smtClean="0"/>
              <a:t>存放整个文件卷的资源管理信息。</a:t>
            </a:r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索引节点</a:t>
            </a:r>
            <a:r>
              <a:rPr lang="zh-CN" altLang="en-US" dirty="0" smtClean="0"/>
              <a:t>存放文件的管理控制信息。</a:t>
            </a:r>
          </a:p>
          <a:p>
            <a:pPr eaLnBrk="1" hangingPunct="1"/>
            <a:r>
              <a:rPr lang="zh-CN" altLang="en-US" dirty="0" smtClean="0"/>
              <a:t>只有</a:t>
            </a:r>
            <a:r>
              <a:rPr lang="zh-CN" altLang="en-US" dirty="0" smtClean="0">
                <a:solidFill>
                  <a:srgbClr val="FF0000"/>
                </a:solidFill>
              </a:rPr>
              <a:t>块组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/>
              <a:t>中所包含的超级块和块组描述符才由内核使用，而其余的超级块和块组描述符保持不变，事实上，内核甚至不考虑它们。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盘块位图必须存放在一个单独的块中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>
                <a:solidFill>
                  <a:srgbClr val="FF0000"/>
                </a:solidFill>
              </a:rPr>
              <a:t>索引节点位图也必须存放在一个单独块中</a:t>
            </a:r>
            <a:endParaRPr lang="zh-CN" altLang="en-US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462031-C0B6-49B0-8F0E-672AB53B3AF6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</a:t>
            </a:r>
          </a:p>
        </p:txBody>
      </p:sp>
      <p:sp>
        <p:nvSpPr>
          <p:cNvPr id="819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1643063"/>
            <a:ext cx="7772400" cy="4516437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dirty="0" smtClean="0"/>
              <a:t>考虑一个</a:t>
            </a:r>
            <a:r>
              <a:rPr lang="en-US" altLang="zh-CN" dirty="0" smtClean="0"/>
              <a:t>8GB</a:t>
            </a:r>
            <a:r>
              <a:rPr lang="zh-CN" altLang="en-US" dirty="0" smtClean="0"/>
              <a:t>的分区，盘块的大小为</a:t>
            </a:r>
            <a:r>
              <a:rPr lang="en-US" altLang="zh-CN" dirty="0" smtClean="0"/>
              <a:t>4KB</a:t>
            </a:r>
            <a:r>
              <a:rPr lang="zh-CN" altLang="en-US" dirty="0" smtClean="0"/>
              <a:t>。每个</a:t>
            </a:r>
            <a:r>
              <a:rPr lang="en-US" altLang="zh-CN" dirty="0" smtClean="0"/>
              <a:t>4KB</a:t>
            </a:r>
            <a:r>
              <a:rPr lang="zh-CN" altLang="en-US" dirty="0" smtClean="0"/>
              <a:t>的盘块位图可描述</a:t>
            </a:r>
            <a:r>
              <a:rPr lang="en-US" altLang="zh-CN" dirty="0" smtClean="0"/>
              <a:t>32K</a:t>
            </a:r>
            <a:r>
              <a:rPr lang="zh-CN" altLang="en-US" dirty="0" smtClean="0"/>
              <a:t>个磁盘块，即</a:t>
            </a:r>
            <a:r>
              <a:rPr lang="en-US" altLang="zh-CN" dirty="0" smtClean="0"/>
              <a:t>128MB</a:t>
            </a:r>
            <a:r>
              <a:rPr lang="zh-CN" altLang="en-US" dirty="0" smtClean="0"/>
              <a:t>。因此，最多需要</a:t>
            </a:r>
            <a:r>
              <a:rPr lang="en-US" altLang="zh-CN" dirty="0" smtClean="0"/>
              <a:t>64</a:t>
            </a:r>
            <a:r>
              <a:rPr lang="zh-CN" altLang="en-US" dirty="0" smtClean="0"/>
              <a:t>个块组。</a:t>
            </a:r>
            <a:endParaRPr lang="en-US" altLang="zh-CN" dirty="0" smtClean="0"/>
          </a:p>
          <a:p>
            <a:pPr eaLnBrk="1" hangingPunct="1">
              <a:spcBef>
                <a:spcPts val="1800"/>
              </a:spcBef>
            </a:pPr>
            <a:r>
              <a:rPr lang="zh-CN" altLang="en-US" dirty="0" smtClean="0"/>
              <a:t>假设每个块组包含</a:t>
            </a:r>
            <a:r>
              <a:rPr lang="en-US" altLang="zh-CN" dirty="0" smtClean="0"/>
              <a:t>4096</a:t>
            </a:r>
            <a:r>
              <a:rPr lang="zh-CN" altLang="en-US" dirty="0" smtClean="0"/>
              <a:t>个索引节点，若想确定索引节点</a:t>
            </a:r>
            <a:r>
              <a:rPr lang="en-US" altLang="zh-CN" dirty="0" smtClean="0"/>
              <a:t>13021</a:t>
            </a:r>
            <a:r>
              <a:rPr lang="zh-CN" altLang="en-US" dirty="0" smtClean="0"/>
              <a:t>在磁盘上的地址。</a:t>
            </a:r>
          </a:p>
          <a:p>
            <a:pPr eaLnBrk="1" hangingPunct="1">
              <a:spcBef>
                <a:spcPts val="1800"/>
              </a:spcBef>
              <a:buFont typeface="Wingdings" pitchFamily="2" charset="2"/>
              <a:buNone/>
            </a:pPr>
            <a:r>
              <a:rPr lang="zh-CN" altLang="en-US" dirty="0" smtClean="0"/>
              <a:t>	</a:t>
            </a:r>
            <a:r>
              <a:rPr lang="en-US" altLang="zh-CN" dirty="0" smtClean="0"/>
              <a:t>13021/4096=3……733</a:t>
            </a:r>
          </a:p>
          <a:p>
            <a:pPr eaLnBrk="1" hangingPunct="1">
              <a:spcBef>
                <a:spcPts val="1800"/>
              </a:spcBef>
              <a:buFont typeface="Wingdings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该索引节点在第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个块组的索引节点表的第</a:t>
            </a:r>
            <a:r>
              <a:rPr lang="en-US" altLang="zh-CN" dirty="0" smtClean="0"/>
              <a:t>733</a:t>
            </a:r>
            <a:r>
              <a:rPr lang="zh-CN" altLang="en-US" dirty="0" smtClean="0"/>
              <a:t>个表项中。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82DC2F-D754-4C34-BA26-57BE3ACD6F09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9.1.2  </a:t>
            </a:r>
            <a:r>
              <a:rPr lang="zh-CN" altLang="en-US" smtClean="0"/>
              <a:t>超级块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 ext2_super_block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s_inodes_count</a:t>
            </a:r>
            <a:r>
              <a:rPr lang="en-US" altLang="zh-CN" sz="2600" dirty="0" smtClean="0"/>
              <a:t>;          </a:t>
            </a:r>
            <a:r>
              <a:rPr lang="zh-CN" altLang="en-US" sz="2600" dirty="0" smtClean="0"/>
              <a:t>索引节点的总数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s_blocks_count</a:t>
            </a:r>
            <a:r>
              <a:rPr lang="en-US" altLang="zh-CN" sz="2600" dirty="0" smtClean="0"/>
              <a:t>;          </a:t>
            </a:r>
            <a:r>
              <a:rPr lang="zh-CN" altLang="en-US" sz="2600" dirty="0" smtClean="0"/>
              <a:t>盘块的总数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s_free_blocks_count</a:t>
            </a:r>
            <a:r>
              <a:rPr lang="en-US" altLang="zh-CN" sz="2600" dirty="0" smtClean="0"/>
              <a:t>;  </a:t>
            </a:r>
            <a:r>
              <a:rPr lang="zh-CN" altLang="en-US" sz="2600" dirty="0" smtClean="0"/>
              <a:t>空闲块计数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s_free_inodes_count</a:t>
            </a:r>
            <a:r>
              <a:rPr lang="en-US" altLang="zh-CN" sz="2600" dirty="0" smtClean="0"/>
              <a:t>;  </a:t>
            </a:r>
            <a:r>
              <a:rPr lang="zh-CN" altLang="en-US" sz="2600" dirty="0" smtClean="0"/>
              <a:t>空闲索引节点数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s_log_block_size</a:t>
            </a:r>
            <a:r>
              <a:rPr lang="en-US" altLang="zh-CN" sz="2600" dirty="0" smtClean="0"/>
              <a:t>;        </a:t>
            </a:r>
            <a:r>
              <a:rPr lang="zh-CN" altLang="en-US" sz="2600" dirty="0" smtClean="0"/>
              <a:t>盘块的大小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s_blocks_per_group</a:t>
            </a:r>
            <a:r>
              <a:rPr lang="en-US" altLang="zh-CN" sz="2600" dirty="0" smtClean="0"/>
              <a:t>;   </a:t>
            </a:r>
            <a:r>
              <a:rPr lang="zh-CN" altLang="en-US" sz="2600" dirty="0" smtClean="0"/>
              <a:t>每组中的盘块数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s_inodes_per_group</a:t>
            </a:r>
            <a:r>
              <a:rPr lang="en-US" altLang="zh-CN" sz="2600" dirty="0" smtClean="0"/>
              <a:t>;  </a:t>
            </a:r>
            <a:r>
              <a:rPr lang="zh-CN" altLang="en-US" sz="2600" dirty="0" smtClean="0"/>
              <a:t>每组索引节点数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s_inode_size</a:t>
            </a:r>
            <a:r>
              <a:rPr lang="en-US" altLang="zh-CN" sz="2600" dirty="0" smtClean="0"/>
              <a:t>; </a:t>
            </a:r>
            <a:r>
              <a:rPr lang="zh-CN" altLang="en-US" sz="2600" dirty="0" smtClean="0"/>
              <a:t>磁盘上索引节点结构的大小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……};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129CC7-24A0-4845-956C-29C2D46712F1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9.1.3  </a:t>
            </a:r>
            <a:r>
              <a:rPr lang="zh-CN" altLang="en-US" smtClean="0"/>
              <a:t>块组描述符</a:t>
            </a:r>
          </a:p>
        </p:txBody>
      </p:sp>
      <p:sp>
        <p:nvSpPr>
          <p:cNvPr id="102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 ext2_group_desc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bg_block_bitmap</a:t>
            </a:r>
            <a:r>
              <a:rPr lang="en-US" altLang="zh-CN" sz="2600" dirty="0" smtClean="0"/>
              <a:t>;	</a:t>
            </a:r>
            <a:r>
              <a:rPr lang="zh-CN" altLang="en-US" sz="2600" dirty="0" smtClean="0"/>
              <a:t>盘块位图的块号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bg_inode_bitmap</a:t>
            </a:r>
            <a:r>
              <a:rPr lang="en-US" altLang="zh-CN" sz="2600" dirty="0" smtClean="0"/>
              <a:t>;	</a:t>
            </a:r>
            <a:r>
              <a:rPr lang="zh-CN" altLang="en-US" sz="2600" dirty="0" smtClean="0"/>
              <a:t>索引节点位图的块号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bg_inode_table</a:t>
            </a:r>
            <a:r>
              <a:rPr lang="en-US" altLang="zh-CN" sz="2600" dirty="0" smtClean="0"/>
              <a:t>; </a:t>
            </a:r>
            <a:r>
              <a:rPr lang="zh-CN" altLang="en-US" sz="2600" dirty="0" smtClean="0"/>
              <a:t>索引节点区的第一个盘块块号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bg_free_blocks_count</a:t>
            </a:r>
            <a:r>
              <a:rPr lang="en-US" altLang="zh-CN" sz="2600" dirty="0" smtClean="0"/>
              <a:t>;</a:t>
            </a:r>
            <a:r>
              <a:rPr lang="zh-CN" altLang="en-US" sz="2600" dirty="0" smtClean="0"/>
              <a:t>组中空闲块的个数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bg_free_inodes_count</a:t>
            </a:r>
            <a:r>
              <a:rPr lang="en-US" altLang="zh-CN" sz="2600" dirty="0" smtClean="0"/>
              <a:t>;</a:t>
            </a:r>
            <a:r>
              <a:rPr lang="zh-CN" altLang="en-US" sz="2600" dirty="0" smtClean="0"/>
              <a:t>组中空闲索引节点的个数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bg_used_dirs_count</a:t>
            </a:r>
            <a:r>
              <a:rPr lang="en-US" altLang="zh-CN" sz="2600" dirty="0" smtClean="0"/>
              <a:t>; </a:t>
            </a:r>
            <a:r>
              <a:rPr lang="zh-CN" altLang="en-US" sz="2600" dirty="0" smtClean="0"/>
              <a:t>组中目录的个数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 smtClean="0"/>
              <a:t>……};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D89283-420F-4304-A354-144A9C4F847E}" type="slidenum">
              <a:rPr lang="en-US" altLang="zh-CN" smtClean="0"/>
              <a:pPr/>
              <a:t>9</a:t>
            </a:fld>
            <a:endParaRPr lang="en-US" altLang="zh-CN" dirty="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9.1.4 </a:t>
            </a:r>
            <a:r>
              <a:rPr lang="zh-CN" altLang="en-US" smtClean="0"/>
              <a:t>文件目录与索引节点结构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把通常的文件目录项分成简单目录项和索引节点两部分。</a:t>
            </a:r>
          </a:p>
          <a:p>
            <a:pPr eaLnBrk="1" hangingPunct="1"/>
            <a:r>
              <a:rPr lang="zh-CN" altLang="en-US" dirty="0" smtClean="0">
                <a:solidFill>
                  <a:schemeClr val="accent2"/>
                </a:solidFill>
              </a:rPr>
              <a:t>简单目录项</a:t>
            </a:r>
            <a:r>
              <a:rPr lang="zh-CN" altLang="en-US" dirty="0" smtClean="0"/>
              <a:t>包含了文件名和索引节点号等，可以提高文件目录的检索</a:t>
            </a:r>
            <a:r>
              <a:rPr lang="zh-CN" altLang="en-US" dirty="0" smtClean="0"/>
              <a:t>速度。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系统只保留一个索引节点，就可实现多条路径共享文件，减少信息冗余。（硬链接）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P191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7007F9-5462-4EB7-A07C-8CC26F7F4669}" type="slidenum">
              <a:rPr lang="en-US" altLang="zh-CN" smtClean="0"/>
              <a:pPr/>
              <a:t>10</a:t>
            </a:fld>
            <a:endParaRPr lang="en-US" altLang="zh-CN" dirty="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目录项结构  </a:t>
            </a:r>
            <a:r>
              <a:rPr lang="en-US" altLang="zh-CN" dirty="0" smtClean="0">
                <a:solidFill>
                  <a:srgbClr val="FF0000"/>
                </a:solidFill>
              </a:rPr>
              <a:t>P191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52600"/>
            <a:ext cx="7993063" cy="44846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ext2_dir_entry_2{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__le32  </a:t>
            </a:r>
            <a:r>
              <a:rPr lang="en-US" altLang="zh-CN" dirty="0" err="1" smtClean="0"/>
              <a:t>inode</a:t>
            </a:r>
            <a:r>
              <a:rPr lang="en-US" altLang="zh-CN" dirty="0" smtClean="0"/>
              <a:t>;       </a:t>
            </a:r>
            <a:r>
              <a:rPr lang="zh-CN" altLang="en-US" dirty="0" smtClean="0"/>
              <a:t>索引节点号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__le16  </a:t>
            </a:r>
            <a:r>
              <a:rPr lang="en-US" altLang="zh-CN" dirty="0" err="1" smtClean="0"/>
              <a:t>rec_len</a:t>
            </a:r>
            <a:r>
              <a:rPr lang="en-US" altLang="zh-CN" dirty="0" smtClean="0"/>
              <a:t>;    </a:t>
            </a:r>
            <a:r>
              <a:rPr lang="zh-CN" altLang="en-US" dirty="0" smtClean="0"/>
              <a:t>目录项长度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__u8   </a:t>
            </a:r>
            <a:r>
              <a:rPr lang="en-US" altLang="zh-CN" dirty="0" err="1" smtClean="0"/>
              <a:t>name_len</a:t>
            </a:r>
            <a:r>
              <a:rPr lang="en-US" altLang="zh-CN" dirty="0" smtClean="0"/>
              <a:t>;  </a:t>
            </a:r>
            <a:r>
              <a:rPr lang="zh-CN" altLang="en-US" dirty="0" smtClean="0"/>
              <a:t>实际文件名长度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__u8  </a:t>
            </a:r>
            <a:r>
              <a:rPr lang="en-US" altLang="zh-CN" dirty="0" err="1" smtClean="0"/>
              <a:t>file_type</a:t>
            </a:r>
            <a:r>
              <a:rPr lang="en-US" altLang="zh-CN" dirty="0" smtClean="0"/>
              <a:t>;     </a:t>
            </a:r>
            <a:r>
              <a:rPr lang="zh-CN" altLang="en-US" dirty="0" smtClean="0"/>
              <a:t>文件类型</a:t>
            </a:r>
          </a:p>
          <a:p>
            <a:pPr eaLnBrk="1" hangingPunct="1">
              <a:buNone/>
            </a:pPr>
            <a:r>
              <a:rPr lang="en-US" altLang="zh-CN" dirty="0" smtClean="0"/>
              <a:t>char  name[255];  </a:t>
            </a:r>
            <a:r>
              <a:rPr lang="zh-CN" altLang="en-US" dirty="0" smtClean="0"/>
              <a:t>文件名</a:t>
            </a:r>
            <a:r>
              <a:rPr lang="zh-CN" altLang="en-US" sz="2800" dirty="0" smtClean="0"/>
              <a:t>是</a:t>
            </a:r>
            <a:r>
              <a:rPr lang="en-US" altLang="zh-CN" sz="2800" dirty="0" smtClean="0"/>
              <a:t>4B</a:t>
            </a:r>
            <a:r>
              <a:rPr lang="zh-CN" altLang="en-US" sz="2800" dirty="0" smtClean="0"/>
              <a:t>的整数倍</a:t>
            </a:r>
            <a:r>
              <a:rPr lang="zh-CN" altLang="en-US" dirty="0" smtClean="0"/>
              <a:t>，变长数组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}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8F6E59-89E5-4092-91DB-98129B877BCD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文件类型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zh-CN" sz="2600" dirty="0" smtClean="0"/>
              <a:t>0</a:t>
            </a:r>
            <a:r>
              <a:rPr lang="zh-CN" altLang="en-US" sz="2600" dirty="0" smtClean="0"/>
              <a:t>：不可知</a:t>
            </a:r>
          </a:p>
          <a:p>
            <a:pPr eaLnBrk="1" hangingPunct="1"/>
            <a:r>
              <a:rPr lang="en-US" altLang="zh-CN" sz="2600" dirty="0" smtClean="0"/>
              <a:t>1</a:t>
            </a:r>
            <a:r>
              <a:rPr lang="zh-CN" altLang="en-US" sz="2600" dirty="0" smtClean="0"/>
              <a:t>：普通文件</a:t>
            </a:r>
          </a:p>
          <a:p>
            <a:pPr eaLnBrk="1" hangingPunct="1"/>
            <a:r>
              <a:rPr lang="en-US" altLang="zh-CN" sz="2600" dirty="0" smtClean="0"/>
              <a:t>2</a:t>
            </a:r>
            <a:r>
              <a:rPr lang="zh-CN" altLang="en-US" sz="2600" dirty="0" smtClean="0"/>
              <a:t>：目录文件</a:t>
            </a:r>
          </a:p>
          <a:p>
            <a:pPr eaLnBrk="1" hangingPunct="1"/>
            <a:r>
              <a:rPr lang="en-US" altLang="zh-CN" sz="2600" dirty="0" smtClean="0"/>
              <a:t>3</a:t>
            </a:r>
            <a:r>
              <a:rPr lang="zh-CN" altLang="en-US" sz="2600" dirty="0" smtClean="0"/>
              <a:t>：字符设备文件</a:t>
            </a:r>
          </a:p>
          <a:p>
            <a:pPr eaLnBrk="1" hangingPunct="1"/>
            <a:r>
              <a:rPr lang="en-US" altLang="zh-CN" sz="2600" dirty="0" smtClean="0"/>
              <a:t>4</a:t>
            </a:r>
            <a:r>
              <a:rPr lang="zh-CN" altLang="en-US" sz="2600" dirty="0" smtClean="0"/>
              <a:t>：块设备文件</a:t>
            </a:r>
          </a:p>
          <a:p>
            <a:pPr eaLnBrk="1" hangingPunct="1"/>
            <a:r>
              <a:rPr lang="en-US" altLang="zh-CN" sz="2600" dirty="0" smtClean="0"/>
              <a:t>5</a:t>
            </a:r>
            <a:r>
              <a:rPr lang="zh-CN" altLang="en-US" sz="2600" dirty="0" smtClean="0"/>
              <a:t>：有名管道</a:t>
            </a:r>
          </a:p>
          <a:p>
            <a:pPr eaLnBrk="1" hangingPunct="1"/>
            <a:r>
              <a:rPr lang="en-US" altLang="zh-CN" sz="2600" dirty="0" smtClean="0"/>
              <a:t>6</a:t>
            </a:r>
            <a:r>
              <a:rPr lang="zh-CN" altLang="en-US" sz="2600" dirty="0" smtClean="0"/>
              <a:t>：套接字文件</a:t>
            </a:r>
          </a:p>
          <a:p>
            <a:pPr eaLnBrk="1" hangingPunct="1"/>
            <a:r>
              <a:rPr lang="en-US" altLang="zh-CN" sz="2600" dirty="0" smtClean="0"/>
              <a:t>7</a:t>
            </a:r>
            <a:r>
              <a:rPr lang="zh-CN" altLang="en-US" sz="2600" dirty="0" smtClean="0"/>
              <a:t>：符号链接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altLang="zh-CN" sz="2600" dirty="0" smtClean="0"/>
              <a:t>name</a:t>
            </a:r>
            <a:r>
              <a:rPr lang="zh-CN" altLang="en-US" sz="2600" dirty="0" smtClean="0"/>
              <a:t>字段存放文件的名字，最多为</a:t>
            </a:r>
            <a:r>
              <a:rPr lang="en-US" altLang="zh-CN" sz="2600" dirty="0" smtClean="0"/>
              <a:t>255B</a:t>
            </a:r>
            <a:r>
              <a:rPr lang="zh-CN" altLang="en-US" sz="2600" dirty="0" smtClean="0"/>
              <a:t>，实际字符数为</a:t>
            </a:r>
            <a:r>
              <a:rPr lang="en-US" altLang="zh-CN" sz="2600" dirty="0" err="1" smtClean="0"/>
              <a:t>name_len</a:t>
            </a:r>
            <a:r>
              <a:rPr lang="zh-CN" altLang="en-US" sz="2600" dirty="0" smtClean="0"/>
              <a:t>。</a:t>
            </a:r>
          </a:p>
          <a:p>
            <a:pPr eaLnBrk="1" hangingPunct="1"/>
            <a:r>
              <a:rPr lang="zh-CN" altLang="en-US" sz="2600" dirty="0" smtClean="0"/>
              <a:t>文件名必须是</a:t>
            </a:r>
            <a:r>
              <a:rPr lang="en-US" altLang="zh-CN" sz="2600" dirty="0" smtClean="0"/>
              <a:t>4B</a:t>
            </a:r>
            <a:r>
              <a:rPr lang="zh-CN" altLang="en-US" sz="2600" dirty="0" smtClean="0"/>
              <a:t>的整数倍。</a:t>
            </a:r>
          </a:p>
          <a:p>
            <a:pPr eaLnBrk="1" hangingPunct="1"/>
            <a:r>
              <a:rPr lang="zh-CN" altLang="en-US" sz="2600" dirty="0" smtClean="0"/>
              <a:t>目录结构是变长的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49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8001000" cy="676275"/>
          </a:xfrm>
        </p:spPr>
        <p:txBody>
          <a:bodyPr/>
          <a:lstStyle/>
          <a:p>
            <a:pPr eaLnBrk="1" hangingPunct="1"/>
            <a:r>
              <a:rPr lang="zh-CN" altLang="en-US" smtClean="0"/>
              <a:t>目录项</a:t>
            </a:r>
          </a:p>
        </p:txBody>
      </p:sp>
      <p:graphicFrame>
        <p:nvGraphicFramePr>
          <p:cNvPr id="71452" name="Group 796"/>
          <p:cNvGraphicFramePr>
            <a:graphicFrameLocks noGrp="1"/>
          </p:cNvGraphicFramePr>
          <p:nvPr>
            <p:ph sz="half" idx="1"/>
          </p:nvPr>
        </p:nvGraphicFramePr>
        <p:xfrm>
          <a:off x="468313" y="1989138"/>
          <a:ext cx="6264275" cy="4062415"/>
        </p:xfrm>
        <a:graphic>
          <a:graphicData uri="http://schemas.openxmlformats.org/drawingml/2006/table">
            <a:tbl>
              <a:tblPr/>
              <a:tblGrid>
                <a:gridCol w="482600"/>
                <a:gridCol w="484187"/>
                <a:gridCol w="481013"/>
                <a:gridCol w="481012"/>
                <a:gridCol w="374650"/>
                <a:gridCol w="588963"/>
                <a:gridCol w="482600"/>
                <a:gridCol w="484187"/>
                <a:gridCol w="479425"/>
                <a:gridCol w="481013"/>
                <a:gridCol w="481012"/>
                <a:gridCol w="481013"/>
                <a:gridCol w="482600"/>
              </a:tblGrid>
              <a:tr h="776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inode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rec_len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name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u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52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68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n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449" name="Group 793"/>
          <p:cNvGraphicFramePr>
            <a:graphicFrameLocks noGrp="1"/>
          </p:cNvGraphicFramePr>
          <p:nvPr>
            <p:ph sz="quarter" idx="2"/>
          </p:nvPr>
        </p:nvGraphicFramePr>
        <p:xfrm>
          <a:off x="6732588" y="3860800"/>
          <a:ext cx="1979612" cy="576263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  <a:gridCol w="495300"/>
                <a:gridCol w="493712"/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448" name="Group 792"/>
          <p:cNvGraphicFramePr>
            <a:graphicFrameLocks noGrp="1"/>
          </p:cNvGraphicFramePr>
          <p:nvPr>
            <p:ph sz="quarter" idx="3"/>
          </p:nvPr>
        </p:nvGraphicFramePr>
        <p:xfrm>
          <a:off x="6732588" y="5013325"/>
          <a:ext cx="2016125" cy="546100"/>
        </p:xfrm>
        <a:graphic>
          <a:graphicData uri="http://schemas.openxmlformats.org/drawingml/2006/table">
            <a:tbl>
              <a:tblPr/>
              <a:tblGrid>
                <a:gridCol w="504825"/>
                <a:gridCol w="504825"/>
                <a:gridCol w="503237"/>
                <a:gridCol w="503238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\0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470" name="Text Box 459"/>
          <p:cNvSpPr txBox="1">
            <a:spLocks noChangeArrowheads="1"/>
          </p:cNvSpPr>
          <p:nvPr/>
        </p:nvSpPr>
        <p:spPr bwMode="auto">
          <a:xfrm>
            <a:off x="3059113" y="2852738"/>
            <a:ext cx="576262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12</a:t>
            </a:r>
          </a:p>
        </p:txBody>
      </p:sp>
      <p:sp>
        <p:nvSpPr>
          <p:cNvPr id="14471" name="Text Box 460"/>
          <p:cNvSpPr txBox="1">
            <a:spLocks noChangeArrowheads="1"/>
          </p:cNvSpPr>
          <p:nvPr/>
        </p:nvSpPr>
        <p:spPr bwMode="auto">
          <a:xfrm>
            <a:off x="3059113" y="3357563"/>
            <a:ext cx="576262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12</a:t>
            </a:r>
          </a:p>
        </p:txBody>
      </p:sp>
      <p:sp>
        <p:nvSpPr>
          <p:cNvPr id="14472" name="Text Box 461"/>
          <p:cNvSpPr txBox="1">
            <a:spLocks noChangeArrowheads="1"/>
          </p:cNvSpPr>
          <p:nvPr/>
        </p:nvSpPr>
        <p:spPr bwMode="auto">
          <a:xfrm>
            <a:off x="1403350" y="2852738"/>
            <a:ext cx="1008063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21</a:t>
            </a:r>
          </a:p>
        </p:txBody>
      </p:sp>
      <p:sp>
        <p:nvSpPr>
          <p:cNvPr id="14473" name="Text Box 463"/>
          <p:cNvSpPr txBox="1">
            <a:spLocks noChangeArrowheads="1"/>
          </p:cNvSpPr>
          <p:nvPr/>
        </p:nvSpPr>
        <p:spPr bwMode="auto">
          <a:xfrm>
            <a:off x="3059113" y="3933825"/>
            <a:ext cx="576262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16</a:t>
            </a:r>
          </a:p>
        </p:txBody>
      </p:sp>
      <p:sp>
        <p:nvSpPr>
          <p:cNvPr id="14474" name="Text Box 464"/>
          <p:cNvSpPr txBox="1">
            <a:spLocks noChangeArrowheads="1"/>
          </p:cNvSpPr>
          <p:nvPr/>
        </p:nvSpPr>
        <p:spPr bwMode="auto">
          <a:xfrm>
            <a:off x="3059113" y="4508500"/>
            <a:ext cx="576262" cy="3968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FF00"/>
                </a:solidFill>
                <a:latin typeface="Verdana" pitchFamily="34" charset="0"/>
              </a:rPr>
              <a:t>28</a:t>
            </a:r>
          </a:p>
        </p:txBody>
      </p:sp>
      <p:sp>
        <p:nvSpPr>
          <p:cNvPr id="14475" name="Text Box 465"/>
          <p:cNvSpPr txBox="1">
            <a:spLocks noChangeArrowheads="1"/>
          </p:cNvSpPr>
          <p:nvPr/>
        </p:nvSpPr>
        <p:spPr bwMode="auto">
          <a:xfrm>
            <a:off x="3059113" y="5084763"/>
            <a:ext cx="576262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16</a:t>
            </a:r>
          </a:p>
        </p:txBody>
      </p:sp>
      <p:sp>
        <p:nvSpPr>
          <p:cNvPr id="14476" name="Text Box 466"/>
          <p:cNvSpPr txBox="1">
            <a:spLocks noChangeArrowheads="1"/>
          </p:cNvSpPr>
          <p:nvPr/>
        </p:nvSpPr>
        <p:spPr bwMode="auto">
          <a:xfrm>
            <a:off x="3059113" y="5589588"/>
            <a:ext cx="576262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12</a:t>
            </a:r>
          </a:p>
        </p:txBody>
      </p:sp>
      <p:sp>
        <p:nvSpPr>
          <p:cNvPr id="14477" name="Text Box 471"/>
          <p:cNvSpPr txBox="1">
            <a:spLocks noChangeArrowheads="1"/>
          </p:cNvSpPr>
          <p:nvPr/>
        </p:nvSpPr>
        <p:spPr bwMode="auto">
          <a:xfrm>
            <a:off x="1403350" y="5589588"/>
            <a:ext cx="1008063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34</a:t>
            </a:r>
          </a:p>
        </p:txBody>
      </p:sp>
      <p:sp>
        <p:nvSpPr>
          <p:cNvPr id="14478" name="Text Box 472"/>
          <p:cNvSpPr txBox="1">
            <a:spLocks noChangeArrowheads="1"/>
          </p:cNvSpPr>
          <p:nvPr/>
        </p:nvSpPr>
        <p:spPr bwMode="auto">
          <a:xfrm>
            <a:off x="1403350" y="4005263"/>
            <a:ext cx="1008063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53</a:t>
            </a:r>
          </a:p>
        </p:txBody>
      </p:sp>
      <p:sp>
        <p:nvSpPr>
          <p:cNvPr id="14479" name="Text Box 473"/>
          <p:cNvSpPr txBox="1">
            <a:spLocks noChangeArrowheads="1"/>
          </p:cNvSpPr>
          <p:nvPr/>
        </p:nvSpPr>
        <p:spPr bwMode="auto">
          <a:xfrm>
            <a:off x="1403350" y="4508500"/>
            <a:ext cx="1008063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67</a:t>
            </a:r>
          </a:p>
        </p:txBody>
      </p:sp>
      <p:sp>
        <p:nvSpPr>
          <p:cNvPr id="14480" name="Text Box 474"/>
          <p:cNvSpPr txBox="1">
            <a:spLocks noChangeArrowheads="1"/>
          </p:cNvSpPr>
          <p:nvPr/>
        </p:nvSpPr>
        <p:spPr bwMode="auto">
          <a:xfrm>
            <a:off x="1403350" y="5084763"/>
            <a:ext cx="1008063" cy="3968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rgbClr val="FFFF00"/>
                </a:solidFill>
                <a:latin typeface="Verdana" pitchFamily="34" charset="0"/>
              </a:rPr>
              <a:t>0</a:t>
            </a:r>
          </a:p>
        </p:txBody>
      </p:sp>
      <p:sp>
        <p:nvSpPr>
          <p:cNvPr id="14481" name="Text Box 475"/>
          <p:cNvSpPr txBox="1">
            <a:spLocks noChangeArrowheads="1"/>
          </p:cNvSpPr>
          <p:nvPr/>
        </p:nvSpPr>
        <p:spPr bwMode="auto">
          <a:xfrm>
            <a:off x="1403350" y="3429000"/>
            <a:ext cx="1008063" cy="3968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chemeClr val="bg1"/>
                </a:solidFill>
                <a:latin typeface="Verdana" pitchFamily="34" charset="0"/>
              </a:rPr>
              <a:t>22</a:t>
            </a:r>
          </a:p>
        </p:txBody>
      </p:sp>
      <p:sp>
        <p:nvSpPr>
          <p:cNvPr id="14482" name="Text Box 794"/>
          <p:cNvSpPr txBox="1">
            <a:spLocks noChangeArrowheads="1"/>
          </p:cNvSpPr>
          <p:nvPr/>
        </p:nvSpPr>
        <p:spPr bwMode="auto">
          <a:xfrm>
            <a:off x="2700338" y="1268413"/>
            <a:ext cx="172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Verdana" pitchFamily="34" charset="0"/>
              </a:rPr>
              <a:t>name_len</a:t>
            </a:r>
          </a:p>
        </p:txBody>
      </p:sp>
      <p:sp>
        <p:nvSpPr>
          <p:cNvPr id="14483" name="Text Box 795"/>
          <p:cNvSpPr txBox="1">
            <a:spLocks noChangeArrowheads="1"/>
          </p:cNvSpPr>
          <p:nvPr/>
        </p:nvSpPr>
        <p:spPr bwMode="auto">
          <a:xfrm>
            <a:off x="4716463" y="1268413"/>
            <a:ext cx="1943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Verdana" pitchFamily="34" charset="0"/>
              </a:rPr>
              <a:t>file_type</a:t>
            </a:r>
          </a:p>
        </p:txBody>
      </p:sp>
      <p:sp>
        <p:nvSpPr>
          <p:cNvPr id="14484" name="Line 797"/>
          <p:cNvSpPr>
            <a:spLocks noChangeShapeType="1"/>
          </p:cNvSpPr>
          <p:nvPr/>
        </p:nvSpPr>
        <p:spPr bwMode="auto">
          <a:xfrm flipH="1" flipV="1">
            <a:off x="3924300" y="1700213"/>
            <a:ext cx="142875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85" name="Line 798"/>
          <p:cNvSpPr>
            <a:spLocks noChangeShapeType="1"/>
          </p:cNvSpPr>
          <p:nvPr/>
        </p:nvSpPr>
        <p:spPr bwMode="auto">
          <a:xfrm flipV="1">
            <a:off x="4572000" y="1700213"/>
            <a:ext cx="360363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86" name="Text Box 799"/>
          <p:cNvSpPr txBox="1">
            <a:spLocks noChangeArrowheads="1"/>
          </p:cNvSpPr>
          <p:nvPr/>
        </p:nvSpPr>
        <p:spPr bwMode="auto">
          <a:xfrm>
            <a:off x="6227763" y="549275"/>
            <a:ext cx="2447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Verdana" pitchFamily="34" charset="0"/>
              </a:rPr>
              <a:t>28=12+16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4DD54D-90D0-4037-95C4-13836FBADF20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索引节点（</a:t>
            </a:r>
            <a:r>
              <a:rPr lang="en-US" altLang="zh-CN" smtClean="0"/>
              <a:t>128B</a:t>
            </a:r>
            <a:r>
              <a:rPr lang="zh-CN" altLang="en-US" smtClean="0"/>
              <a:t>）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52600"/>
            <a:ext cx="7812088" cy="47005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err="1" smtClean="0"/>
              <a:t>struct</a:t>
            </a:r>
            <a:r>
              <a:rPr lang="en-US" altLang="zh-CN" sz="2600" dirty="0" smtClean="0"/>
              <a:t>  ext2_inode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>
                <a:solidFill>
                  <a:schemeClr val="accent2"/>
                </a:solidFill>
              </a:rPr>
              <a:t>i_mode</a:t>
            </a:r>
            <a:r>
              <a:rPr lang="en-US" altLang="zh-CN" sz="2600" dirty="0" smtClean="0"/>
              <a:t>;     </a:t>
            </a:r>
            <a:r>
              <a:rPr lang="zh-CN" altLang="en-US" sz="2600" dirty="0" smtClean="0"/>
              <a:t>文件类型和访问权限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i_uid</a:t>
            </a:r>
            <a:r>
              <a:rPr lang="en-US" altLang="zh-CN" sz="2600" dirty="0" smtClean="0"/>
              <a:t>;         </a:t>
            </a:r>
            <a:r>
              <a:rPr lang="zh-CN" altLang="en-US" sz="2600" dirty="0" smtClean="0"/>
              <a:t>拥有者的标识符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i_size</a:t>
            </a:r>
            <a:r>
              <a:rPr lang="en-US" altLang="zh-CN" sz="2600" dirty="0" smtClean="0"/>
              <a:t>;        </a:t>
            </a:r>
            <a:r>
              <a:rPr lang="zh-CN" altLang="en-US" sz="2600" dirty="0" smtClean="0"/>
              <a:t>以字节为单位的文件长度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/>
              <a:t>i_gid</a:t>
            </a:r>
            <a:r>
              <a:rPr lang="en-US" altLang="zh-CN" sz="2600" dirty="0" smtClean="0"/>
              <a:t>;         </a:t>
            </a:r>
            <a:r>
              <a:rPr lang="zh-CN" altLang="en-US" sz="2600" dirty="0" smtClean="0"/>
              <a:t>组标识符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__le16  </a:t>
            </a:r>
            <a:r>
              <a:rPr lang="en-US" altLang="zh-CN" sz="2600" dirty="0" err="1" smtClean="0">
                <a:solidFill>
                  <a:schemeClr val="accent2"/>
                </a:solidFill>
              </a:rPr>
              <a:t>i_links_count</a:t>
            </a:r>
            <a:r>
              <a:rPr lang="en-US" altLang="zh-CN" sz="2600" dirty="0" smtClean="0"/>
              <a:t>;   </a:t>
            </a:r>
            <a:r>
              <a:rPr lang="zh-CN" altLang="en-US" sz="2600" dirty="0" smtClean="0"/>
              <a:t>硬连接计数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>
                <a:solidFill>
                  <a:schemeClr val="accent2"/>
                </a:solidFill>
              </a:rPr>
              <a:t>i_block</a:t>
            </a:r>
            <a:r>
              <a:rPr lang="en-US" altLang="zh-CN" sz="2600" dirty="0" smtClean="0">
                <a:solidFill>
                  <a:schemeClr val="accent2"/>
                </a:solidFill>
              </a:rPr>
              <a:t>[15]</a:t>
            </a:r>
            <a:r>
              <a:rPr lang="en-US" altLang="zh-CN" sz="2600" dirty="0" smtClean="0"/>
              <a:t>;      	</a:t>
            </a:r>
            <a:r>
              <a:rPr lang="zh-CN" altLang="en-US" sz="2600" dirty="0" smtClean="0"/>
              <a:t>索引表，</a:t>
            </a:r>
            <a:r>
              <a:rPr lang="en-US" altLang="zh-CN" sz="2600" dirty="0" smtClean="0"/>
              <a:t>15</a:t>
            </a:r>
            <a:r>
              <a:rPr lang="en-US" altLang="zh-CN" dirty="0" smtClean="0"/>
              <a:t>×4B</a:t>
            </a:r>
            <a:endParaRPr lang="en-US" altLang="zh-CN" sz="26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i_blocks</a:t>
            </a:r>
            <a:r>
              <a:rPr lang="en-US" altLang="zh-CN" sz="2600" dirty="0" smtClean="0"/>
              <a:t>;           </a:t>
            </a:r>
            <a:r>
              <a:rPr lang="zh-CN" altLang="en-US" sz="2600" dirty="0" smtClean="0"/>
              <a:t>文件的数据块数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__le32  </a:t>
            </a:r>
            <a:r>
              <a:rPr lang="en-US" altLang="zh-CN" sz="2600" dirty="0" err="1" smtClean="0"/>
              <a:t>i_file_acl</a:t>
            </a:r>
            <a:r>
              <a:rPr lang="en-US" altLang="zh-CN" sz="2600" dirty="0" smtClean="0"/>
              <a:t>;          </a:t>
            </a:r>
            <a:r>
              <a:rPr lang="zh-CN" altLang="en-US" sz="2600" dirty="0" smtClean="0"/>
              <a:t>文件访问控制表</a:t>
            </a:r>
            <a:r>
              <a:rPr lang="en-US" altLang="zh-CN" sz="2600" dirty="0" smtClean="0">
                <a:solidFill>
                  <a:schemeClr val="accent2"/>
                </a:solidFill>
              </a:rPr>
              <a:t>ACL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 smtClean="0"/>
              <a:t>……}</a:t>
            </a:r>
            <a:r>
              <a:rPr lang="zh-CN" altLang="en-US" sz="2600" dirty="0" smtClean="0"/>
              <a:t>； </a:t>
            </a:r>
            <a:endParaRPr lang="en-US" altLang="zh-CN" sz="26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 smtClean="0">
                <a:solidFill>
                  <a:srgbClr val="FF0000"/>
                </a:solidFill>
              </a:rPr>
              <a:t>索引节点存放在索引节点区</a:t>
            </a:r>
            <a:endParaRPr lang="zh-CN" alt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B1CEAE2-902A-48D2-8C2D-C74023FC1603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索引表</a:t>
            </a:r>
          </a:p>
        </p:txBody>
      </p:sp>
      <p:sp>
        <p:nvSpPr>
          <p:cNvPr id="1741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rgbClr val="FF0000"/>
                </a:solidFill>
              </a:rPr>
              <a:t>索引表</a:t>
            </a:r>
            <a:r>
              <a:rPr lang="zh-CN" altLang="en-US" sz="2800" dirty="0" smtClean="0"/>
              <a:t>：是一个有</a:t>
            </a:r>
            <a:r>
              <a:rPr lang="en-US" altLang="zh-CN" sz="2800" dirty="0" smtClean="0"/>
              <a:t>15</a:t>
            </a:r>
            <a:r>
              <a:rPr lang="zh-CN" altLang="en-US" sz="2800" dirty="0" smtClean="0"/>
              <a:t>个元素的数组，每个元素占</a:t>
            </a:r>
            <a:r>
              <a:rPr lang="en-US" altLang="zh-CN" sz="2800" dirty="0" smtClean="0"/>
              <a:t>4B</a:t>
            </a:r>
            <a:r>
              <a:rPr lang="zh-CN" altLang="en-US" sz="2800" dirty="0" smtClean="0"/>
              <a:t>。数组的</a:t>
            </a:r>
            <a:r>
              <a:rPr lang="en-US" altLang="zh-CN" sz="2800" dirty="0" smtClean="0"/>
              <a:t>15</a:t>
            </a:r>
            <a:r>
              <a:rPr lang="zh-CN" altLang="en-US" sz="2800" dirty="0" smtClean="0"/>
              <a:t>个元素有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种类型。</a:t>
            </a:r>
            <a:endParaRPr lang="en-US" altLang="zh-CN" sz="2800" dirty="0" smtClean="0"/>
          </a:p>
          <a:p>
            <a:pPr eaLnBrk="1" hangingPunct="1"/>
            <a:r>
              <a:rPr lang="zh-CN" altLang="en-US" sz="2400" dirty="0" smtClean="0"/>
              <a:t>最初的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个元素是直接索引项，给出文件最初的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个逻辑块号对应的物理块号。</a:t>
            </a:r>
          </a:p>
          <a:p>
            <a:pPr eaLnBrk="1" hangingPunct="1"/>
            <a:r>
              <a:rPr lang="zh-CN" altLang="en-US" sz="2400" dirty="0" smtClean="0"/>
              <a:t>索引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是一次间接索引块，对应的文件逻辑块号</a:t>
            </a:r>
            <a:r>
              <a:rPr lang="zh-CN" altLang="en-US" sz="2400" dirty="0" smtClean="0">
                <a:solidFill>
                  <a:schemeClr val="accent2"/>
                </a:solidFill>
              </a:rPr>
              <a:t>从</a:t>
            </a:r>
            <a:r>
              <a:rPr lang="en-US" altLang="zh-CN" sz="2400" dirty="0" smtClean="0">
                <a:solidFill>
                  <a:schemeClr val="accent2"/>
                </a:solidFill>
              </a:rPr>
              <a:t>12</a:t>
            </a:r>
            <a:r>
              <a:rPr lang="zh-CN" altLang="en-US" sz="2400" dirty="0" smtClean="0">
                <a:solidFill>
                  <a:schemeClr val="accent2"/>
                </a:solidFill>
              </a:rPr>
              <a:t>到（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b/4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</a:t>
            </a:r>
            <a:r>
              <a:rPr lang="en-US" altLang="zh-CN" sz="2400" dirty="0" smtClean="0">
                <a:solidFill>
                  <a:schemeClr val="accent2"/>
                </a:solidFill>
              </a:rPr>
              <a:t>+11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是盘块大小。</a:t>
            </a:r>
          </a:p>
          <a:p>
            <a:pPr eaLnBrk="1" hangingPunct="1"/>
            <a:r>
              <a:rPr lang="zh-CN" altLang="en-US" sz="2400" dirty="0" smtClean="0"/>
              <a:t>索引</a:t>
            </a:r>
            <a:r>
              <a:rPr lang="en-US" altLang="zh-CN" sz="2400" dirty="0" smtClean="0"/>
              <a:t>13</a:t>
            </a:r>
            <a:r>
              <a:rPr lang="zh-CN" altLang="en-US" sz="2400" dirty="0" smtClean="0"/>
              <a:t>是二次间接索引块，对应的文件逻辑块号从</a:t>
            </a:r>
            <a:r>
              <a:rPr lang="en-US" altLang="zh-CN" sz="2400" dirty="0" smtClean="0">
                <a:solidFill>
                  <a:schemeClr val="accent2"/>
                </a:solidFill>
              </a:rPr>
              <a:t>b/4+12</a:t>
            </a:r>
            <a:r>
              <a:rPr lang="zh-CN" altLang="en-US" sz="2400" dirty="0" smtClean="0">
                <a:solidFill>
                  <a:schemeClr val="accent2"/>
                </a:solidFill>
              </a:rPr>
              <a:t>到 </a:t>
            </a:r>
            <a:r>
              <a:rPr lang="en-US" altLang="zh-CN" sz="2400" dirty="0" smtClean="0">
                <a:solidFill>
                  <a:schemeClr val="accent2"/>
                </a:solidFill>
              </a:rPr>
              <a:t>(b/4)</a:t>
            </a:r>
            <a:r>
              <a:rPr lang="en-US" altLang="zh-CN" sz="2400" baseline="30000" dirty="0" smtClean="0">
                <a:solidFill>
                  <a:schemeClr val="accent2"/>
                </a:solidFill>
              </a:rPr>
              <a:t>2</a:t>
            </a:r>
            <a:r>
              <a:rPr lang="en-US" altLang="zh-CN" sz="2400" dirty="0" smtClean="0">
                <a:solidFill>
                  <a:schemeClr val="accent2"/>
                </a:solidFill>
              </a:rPr>
              <a:t>+(b/4)+11</a:t>
            </a:r>
            <a:r>
              <a:rPr lang="zh-CN" altLang="en-US" sz="2400" dirty="0" smtClean="0"/>
              <a:t>。</a:t>
            </a:r>
          </a:p>
          <a:p>
            <a:pPr eaLnBrk="1" hangingPunct="1"/>
            <a:r>
              <a:rPr lang="zh-CN" altLang="en-US" sz="2400" dirty="0" smtClean="0"/>
              <a:t>索引</a:t>
            </a:r>
            <a:r>
              <a:rPr lang="en-US" altLang="zh-CN" sz="2400" dirty="0" smtClean="0"/>
              <a:t>14</a:t>
            </a:r>
            <a:r>
              <a:rPr lang="zh-CN" altLang="en-US" sz="2400" dirty="0" smtClean="0"/>
              <a:t>是三次间接索引块，对应的文件逻辑块号从 </a:t>
            </a:r>
            <a:r>
              <a:rPr lang="en-US" altLang="zh-CN" sz="2400" dirty="0" smtClean="0">
                <a:solidFill>
                  <a:schemeClr val="accent2"/>
                </a:solidFill>
              </a:rPr>
              <a:t>(b/4)</a:t>
            </a:r>
            <a:r>
              <a:rPr lang="en-US" altLang="zh-CN" sz="2400" baseline="30000" dirty="0" smtClean="0">
                <a:solidFill>
                  <a:schemeClr val="accent2"/>
                </a:solidFill>
              </a:rPr>
              <a:t>2</a:t>
            </a:r>
            <a:r>
              <a:rPr lang="en-US" altLang="zh-CN" sz="2400" dirty="0" smtClean="0">
                <a:solidFill>
                  <a:schemeClr val="accent2"/>
                </a:solidFill>
              </a:rPr>
              <a:t>+(b/4)+12</a:t>
            </a:r>
            <a:r>
              <a:rPr lang="zh-CN" altLang="en-US" sz="2400" dirty="0" smtClean="0">
                <a:solidFill>
                  <a:schemeClr val="accent2"/>
                </a:solidFill>
              </a:rPr>
              <a:t>到</a:t>
            </a:r>
            <a:r>
              <a:rPr lang="en-US" altLang="zh-CN" sz="2400" dirty="0" smtClean="0">
                <a:solidFill>
                  <a:schemeClr val="accent2"/>
                </a:solidFill>
              </a:rPr>
              <a:t>(b/4)</a:t>
            </a:r>
            <a:r>
              <a:rPr lang="en-US" altLang="zh-CN" sz="2400" baseline="30000" dirty="0" smtClean="0">
                <a:solidFill>
                  <a:schemeClr val="accent2"/>
                </a:solidFill>
              </a:rPr>
              <a:t>3</a:t>
            </a:r>
            <a:r>
              <a:rPr lang="en-US" altLang="zh-CN" sz="2400" dirty="0" smtClean="0">
                <a:solidFill>
                  <a:schemeClr val="accent2"/>
                </a:solidFill>
              </a:rPr>
              <a:t>+(b/4)</a:t>
            </a:r>
            <a:r>
              <a:rPr lang="en-US" altLang="zh-CN" sz="2400" baseline="30000" dirty="0" smtClean="0">
                <a:solidFill>
                  <a:schemeClr val="accent2"/>
                </a:solidFill>
              </a:rPr>
              <a:t>2</a:t>
            </a:r>
            <a:r>
              <a:rPr lang="en-US" altLang="zh-CN" sz="2400" dirty="0" smtClean="0">
                <a:solidFill>
                  <a:schemeClr val="accent2"/>
                </a:solidFill>
              </a:rPr>
              <a:t>+(b/4)+11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。</a:t>
            </a:r>
          </a:p>
          <a:p>
            <a:pPr eaLnBrk="1" hangingPunct="1"/>
            <a:endParaRPr lang="zh-CN" altLang="en-US" sz="28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76"/>
          <p:cNvSpPr txBox="1">
            <a:spLocks noChangeArrowheads="1"/>
          </p:cNvSpPr>
          <p:nvPr/>
        </p:nvSpPr>
        <p:spPr bwMode="auto">
          <a:xfrm>
            <a:off x="1747838" y="5767388"/>
            <a:ext cx="5873750" cy="4699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/>
            <a:r>
              <a:rPr lang="zh-CN" altLang="en-US" sz="3200" b="1">
                <a:solidFill>
                  <a:srgbClr val="000066"/>
                </a:solidFill>
                <a:latin typeface="Verdana" pitchFamily="34" charset="0"/>
              </a:rPr>
              <a:t>索引表</a:t>
            </a:r>
          </a:p>
        </p:txBody>
      </p:sp>
      <p:grpSp>
        <p:nvGrpSpPr>
          <p:cNvPr id="18435" name="Group 95"/>
          <p:cNvGrpSpPr>
            <a:grpSpLocks/>
          </p:cNvGrpSpPr>
          <p:nvPr/>
        </p:nvGrpSpPr>
        <p:grpSpPr bwMode="auto">
          <a:xfrm>
            <a:off x="468313" y="836613"/>
            <a:ext cx="8207375" cy="4749800"/>
            <a:chOff x="295" y="527"/>
            <a:chExt cx="5170" cy="2992"/>
          </a:xfrm>
        </p:grpSpPr>
        <p:sp>
          <p:nvSpPr>
            <p:cNvPr id="18436" name="Rectangle 5"/>
            <p:cNvSpPr>
              <a:spLocks noChangeArrowheads="1"/>
            </p:cNvSpPr>
            <p:nvPr/>
          </p:nvSpPr>
          <p:spPr bwMode="auto">
            <a:xfrm>
              <a:off x="295" y="527"/>
              <a:ext cx="5170" cy="29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37" name="Text Box 6"/>
            <p:cNvSpPr txBox="1">
              <a:spLocks noChangeArrowheads="1"/>
            </p:cNvSpPr>
            <p:nvPr/>
          </p:nvSpPr>
          <p:spPr bwMode="auto">
            <a:xfrm>
              <a:off x="2072" y="572"/>
              <a:ext cx="1398" cy="23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zh-CN" altLang="en-US" sz="2800" b="1" dirty="0" smtClean="0">
                  <a:solidFill>
                    <a:schemeClr val="bg1"/>
                  </a:solidFill>
                  <a:latin typeface="Times New Roman" pitchFamily="18" charset="0"/>
                </a:rPr>
                <a:t>直接索引</a:t>
              </a:r>
              <a:endParaRPr lang="zh-CN" altLang="en-US" sz="2800" b="1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38" name="Rectangle 7"/>
            <p:cNvSpPr>
              <a:spLocks noChangeArrowheads="1"/>
            </p:cNvSpPr>
            <p:nvPr/>
          </p:nvSpPr>
          <p:spPr bwMode="auto">
            <a:xfrm>
              <a:off x="3598" y="1792"/>
              <a:ext cx="520" cy="231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39" name="Rectangle 8"/>
            <p:cNvSpPr>
              <a:spLocks noChangeArrowheads="1"/>
            </p:cNvSpPr>
            <p:nvPr/>
          </p:nvSpPr>
          <p:spPr bwMode="auto">
            <a:xfrm>
              <a:off x="4265" y="1792"/>
              <a:ext cx="520" cy="231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40" name="Rectangle 9"/>
            <p:cNvSpPr>
              <a:spLocks noChangeArrowheads="1"/>
            </p:cNvSpPr>
            <p:nvPr/>
          </p:nvSpPr>
          <p:spPr bwMode="auto">
            <a:xfrm>
              <a:off x="2950" y="1792"/>
              <a:ext cx="519" cy="231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41" name="Rectangle 10"/>
            <p:cNvSpPr>
              <a:spLocks noChangeArrowheads="1"/>
            </p:cNvSpPr>
            <p:nvPr/>
          </p:nvSpPr>
          <p:spPr bwMode="auto">
            <a:xfrm>
              <a:off x="3598" y="2253"/>
              <a:ext cx="520" cy="230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42" name="Rectangle 11"/>
            <p:cNvSpPr>
              <a:spLocks noChangeArrowheads="1"/>
            </p:cNvSpPr>
            <p:nvPr/>
          </p:nvSpPr>
          <p:spPr bwMode="auto">
            <a:xfrm>
              <a:off x="4266" y="2253"/>
              <a:ext cx="519" cy="230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43" name="Rectangle 12"/>
            <p:cNvSpPr>
              <a:spLocks noChangeArrowheads="1"/>
            </p:cNvSpPr>
            <p:nvPr/>
          </p:nvSpPr>
          <p:spPr bwMode="auto">
            <a:xfrm>
              <a:off x="2950" y="2253"/>
              <a:ext cx="519" cy="230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400" b="1">
                  <a:solidFill>
                    <a:srgbClr val="000066"/>
                  </a:solidFill>
                  <a:latin typeface="Times New Roman" pitchFamily="18" charset="0"/>
                </a:rPr>
                <a:t>12</a:t>
              </a:r>
              <a:endParaRPr lang="en-US" altLang="zh-CN" sz="2400" b="1">
                <a:solidFill>
                  <a:srgbClr val="000066"/>
                </a:solidFill>
                <a:latin typeface="Verdana" pitchFamily="34" charset="0"/>
              </a:endParaRPr>
            </a:p>
          </p:txBody>
        </p:sp>
        <p:sp>
          <p:nvSpPr>
            <p:cNvPr id="18444" name="Rectangle 13"/>
            <p:cNvSpPr>
              <a:spLocks noChangeArrowheads="1"/>
            </p:cNvSpPr>
            <p:nvPr/>
          </p:nvSpPr>
          <p:spPr bwMode="auto">
            <a:xfrm>
              <a:off x="1642" y="2253"/>
              <a:ext cx="520" cy="230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400" b="1">
                  <a:solidFill>
                    <a:srgbClr val="000066"/>
                  </a:solidFill>
                  <a:latin typeface="Times New Roman" pitchFamily="18" charset="0"/>
                </a:rPr>
                <a:t>2</a:t>
              </a:r>
              <a:endParaRPr lang="en-US" altLang="zh-CN" sz="2400" b="1">
                <a:solidFill>
                  <a:srgbClr val="000066"/>
                </a:solidFill>
                <a:latin typeface="Verdana" pitchFamily="34" charset="0"/>
              </a:endParaRPr>
            </a:p>
          </p:txBody>
        </p:sp>
        <p:sp>
          <p:nvSpPr>
            <p:cNvPr id="18445" name="Rectangle 14"/>
            <p:cNvSpPr>
              <a:spLocks noChangeArrowheads="1"/>
            </p:cNvSpPr>
            <p:nvPr/>
          </p:nvSpPr>
          <p:spPr bwMode="auto">
            <a:xfrm>
              <a:off x="2291" y="2253"/>
              <a:ext cx="519" cy="230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400" b="1">
                  <a:solidFill>
                    <a:srgbClr val="000066"/>
                  </a:solidFill>
                  <a:latin typeface="Times New Roman" pitchFamily="18" charset="0"/>
                </a:rPr>
                <a:t>4</a:t>
              </a:r>
              <a:endParaRPr lang="en-US" altLang="zh-CN" sz="2400" b="1">
                <a:solidFill>
                  <a:srgbClr val="000066"/>
                </a:solidFill>
                <a:latin typeface="Verdana" pitchFamily="34" charset="0"/>
              </a:endParaRPr>
            </a:p>
          </p:txBody>
        </p:sp>
        <p:sp>
          <p:nvSpPr>
            <p:cNvPr id="18446" name="Rectangle 15"/>
            <p:cNvSpPr>
              <a:spLocks noChangeArrowheads="1"/>
            </p:cNvSpPr>
            <p:nvPr/>
          </p:nvSpPr>
          <p:spPr bwMode="auto">
            <a:xfrm>
              <a:off x="4265" y="2828"/>
              <a:ext cx="520" cy="231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47" name="Rectangle 16"/>
            <p:cNvSpPr>
              <a:spLocks noChangeArrowheads="1"/>
            </p:cNvSpPr>
            <p:nvPr/>
          </p:nvSpPr>
          <p:spPr bwMode="auto">
            <a:xfrm>
              <a:off x="2341" y="2713"/>
              <a:ext cx="752" cy="46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000" b="1">
                  <a:latin typeface="Times New Roman" pitchFamily="18" charset="0"/>
                </a:rPr>
                <a:t>(b/4)</a:t>
              </a:r>
              <a:r>
                <a:rPr lang="en-US" altLang="zh-CN" sz="2000" b="1" baseline="30000">
                  <a:latin typeface="Times New Roman" pitchFamily="18" charset="0"/>
                </a:rPr>
                <a:t>2</a:t>
              </a:r>
              <a:r>
                <a:rPr lang="en-US" altLang="zh-CN" sz="2000" b="1">
                  <a:latin typeface="Times New Roman" pitchFamily="18" charset="0"/>
                </a:rPr>
                <a:t>+</a:t>
              </a:r>
            </a:p>
            <a:p>
              <a:pPr algn="ctr"/>
              <a:r>
                <a:rPr lang="en-US" altLang="zh-CN" sz="2000" b="1">
                  <a:latin typeface="Times New Roman" pitchFamily="18" charset="0"/>
                </a:rPr>
                <a:t>(b/4)+12</a:t>
              </a:r>
              <a:endParaRPr lang="en-US" altLang="zh-CN" sz="2000" b="1">
                <a:latin typeface="Verdana" pitchFamily="34" charset="0"/>
              </a:endParaRPr>
            </a:p>
          </p:txBody>
        </p:sp>
        <p:sp>
          <p:nvSpPr>
            <p:cNvPr id="18448" name="Rectangle 17"/>
            <p:cNvSpPr>
              <a:spLocks noChangeArrowheads="1"/>
            </p:cNvSpPr>
            <p:nvPr/>
          </p:nvSpPr>
          <p:spPr bwMode="auto">
            <a:xfrm>
              <a:off x="3425" y="2713"/>
              <a:ext cx="603" cy="346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000" b="1">
                  <a:latin typeface="Times New Roman" pitchFamily="18" charset="0"/>
                </a:rPr>
                <a:t>b/4+12</a:t>
              </a:r>
              <a:endParaRPr lang="en-US" altLang="zh-CN" sz="2000" b="1">
                <a:latin typeface="Verdana" pitchFamily="34" charset="0"/>
              </a:endParaRPr>
            </a:p>
          </p:txBody>
        </p:sp>
        <p:sp>
          <p:nvSpPr>
            <p:cNvPr id="18449" name="Rectangle 18"/>
            <p:cNvSpPr>
              <a:spLocks noChangeArrowheads="1"/>
            </p:cNvSpPr>
            <p:nvPr/>
          </p:nvSpPr>
          <p:spPr bwMode="auto">
            <a:xfrm>
              <a:off x="1006" y="2713"/>
              <a:ext cx="1206" cy="46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/>
              <a:r>
                <a:rPr lang="en-US" altLang="zh-CN" sz="2000" b="1">
                  <a:latin typeface="Times New Roman" pitchFamily="18" charset="0"/>
                </a:rPr>
                <a:t>(b/4)</a:t>
              </a:r>
              <a:r>
                <a:rPr lang="en-US" altLang="zh-CN" sz="2000" b="1" baseline="30000">
                  <a:latin typeface="Times New Roman" pitchFamily="18" charset="0"/>
                </a:rPr>
                <a:t>3</a:t>
              </a:r>
              <a:r>
                <a:rPr lang="en-US" altLang="zh-CN" sz="2000" b="1">
                  <a:latin typeface="Times New Roman" pitchFamily="18" charset="0"/>
                </a:rPr>
                <a:t>+(b/4)</a:t>
              </a:r>
              <a:r>
                <a:rPr lang="en-US" altLang="zh-CN" sz="2000" b="1" baseline="30000">
                  <a:latin typeface="Times New Roman" pitchFamily="18" charset="0"/>
                </a:rPr>
                <a:t>2</a:t>
              </a:r>
              <a:r>
                <a:rPr lang="en-US" altLang="zh-CN" sz="2000" b="1">
                  <a:latin typeface="Times New Roman" pitchFamily="18" charset="0"/>
                </a:rPr>
                <a:t>+</a:t>
              </a:r>
            </a:p>
            <a:p>
              <a:pPr algn="ctr"/>
              <a:r>
                <a:rPr lang="en-US" altLang="zh-CN" sz="2000" b="1">
                  <a:latin typeface="Times New Roman" pitchFamily="18" charset="0"/>
                </a:rPr>
                <a:t>(b/4)+11</a:t>
              </a:r>
              <a:endParaRPr lang="en-US" altLang="zh-CN" sz="2000" b="1">
                <a:latin typeface="Verdana" pitchFamily="34" charset="0"/>
              </a:endParaRPr>
            </a:p>
          </p:txBody>
        </p:sp>
        <p:sp>
          <p:nvSpPr>
            <p:cNvPr id="18450" name="Line 19"/>
            <p:cNvSpPr>
              <a:spLocks noChangeShapeType="1"/>
            </p:cNvSpPr>
            <p:nvPr/>
          </p:nvSpPr>
          <p:spPr bwMode="auto">
            <a:xfrm>
              <a:off x="3229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1" name="Line 20"/>
            <p:cNvSpPr>
              <a:spLocks noChangeShapeType="1"/>
            </p:cNvSpPr>
            <p:nvPr/>
          </p:nvSpPr>
          <p:spPr bwMode="auto">
            <a:xfrm>
              <a:off x="3789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2" name="Line 21"/>
            <p:cNvSpPr>
              <a:spLocks noChangeShapeType="1"/>
            </p:cNvSpPr>
            <p:nvPr/>
          </p:nvSpPr>
          <p:spPr bwMode="auto">
            <a:xfrm>
              <a:off x="3928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3" name="Line 22"/>
            <p:cNvSpPr>
              <a:spLocks noChangeShapeType="1"/>
            </p:cNvSpPr>
            <p:nvPr/>
          </p:nvSpPr>
          <p:spPr bwMode="auto">
            <a:xfrm>
              <a:off x="4513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4" name="Line 23"/>
            <p:cNvSpPr>
              <a:spLocks noChangeShapeType="1"/>
            </p:cNvSpPr>
            <p:nvPr/>
          </p:nvSpPr>
          <p:spPr bwMode="auto">
            <a:xfrm>
              <a:off x="3789" y="2253"/>
              <a:ext cx="0" cy="2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5" name="Line 24"/>
            <p:cNvSpPr>
              <a:spLocks noChangeShapeType="1"/>
            </p:cNvSpPr>
            <p:nvPr/>
          </p:nvSpPr>
          <p:spPr bwMode="auto">
            <a:xfrm>
              <a:off x="3928" y="2253"/>
              <a:ext cx="0" cy="2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6" name="Line 25"/>
            <p:cNvSpPr>
              <a:spLocks noChangeShapeType="1"/>
            </p:cNvSpPr>
            <p:nvPr/>
          </p:nvSpPr>
          <p:spPr bwMode="auto">
            <a:xfrm>
              <a:off x="4558" y="2253"/>
              <a:ext cx="0" cy="2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7" name="Text Box 26"/>
            <p:cNvSpPr txBox="1">
              <a:spLocks noChangeArrowheads="1"/>
            </p:cNvSpPr>
            <p:nvPr/>
          </p:nvSpPr>
          <p:spPr bwMode="auto">
            <a:xfrm>
              <a:off x="531" y="758"/>
              <a:ext cx="742" cy="318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i_block</a:t>
              </a:r>
              <a:endParaRPr lang="en-US" altLang="zh-CN" sz="24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58" name="Rectangle 28"/>
            <p:cNvSpPr>
              <a:spLocks noChangeArrowheads="1"/>
            </p:cNvSpPr>
            <p:nvPr/>
          </p:nvSpPr>
          <p:spPr bwMode="auto">
            <a:xfrm>
              <a:off x="1413" y="1217"/>
              <a:ext cx="3494" cy="346"/>
            </a:xfrm>
            <a:prstGeom prst="rect">
              <a:avLst/>
            </a:prstGeom>
            <a:solidFill>
              <a:srgbClr val="99000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59" name="Text Box 29"/>
            <p:cNvSpPr txBox="1">
              <a:spLocks noChangeArrowheads="1"/>
            </p:cNvSpPr>
            <p:nvPr/>
          </p:nvSpPr>
          <p:spPr bwMode="auto">
            <a:xfrm>
              <a:off x="1413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0" name="Text Box 30"/>
            <p:cNvSpPr txBox="1">
              <a:spLocks noChangeArrowheads="1"/>
            </p:cNvSpPr>
            <p:nvPr/>
          </p:nvSpPr>
          <p:spPr bwMode="auto">
            <a:xfrm>
              <a:off x="1646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1" name="Text Box 31"/>
            <p:cNvSpPr txBox="1">
              <a:spLocks noChangeArrowheads="1"/>
            </p:cNvSpPr>
            <p:nvPr/>
          </p:nvSpPr>
          <p:spPr bwMode="auto">
            <a:xfrm>
              <a:off x="1879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2" name="Text Box 32"/>
            <p:cNvSpPr txBox="1">
              <a:spLocks noChangeArrowheads="1"/>
            </p:cNvSpPr>
            <p:nvPr/>
          </p:nvSpPr>
          <p:spPr bwMode="auto">
            <a:xfrm>
              <a:off x="2112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3" name="Text Box 33"/>
            <p:cNvSpPr txBox="1">
              <a:spLocks noChangeArrowheads="1"/>
            </p:cNvSpPr>
            <p:nvPr/>
          </p:nvSpPr>
          <p:spPr bwMode="auto">
            <a:xfrm>
              <a:off x="2345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4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4" name="Text Box 34"/>
            <p:cNvSpPr txBox="1">
              <a:spLocks noChangeArrowheads="1"/>
            </p:cNvSpPr>
            <p:nvPr/>
          </p:nvSpPr>
          <p:spPr bwMode="auto">
            <a:xfrm>
              <a:off x="2578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5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5" name="Text Box 35"/>
            <p:cNvSpPr txBox="1">
              <a:spLocks noChangeArrowheads="1"/>
            </p:cNvSpPr>
            <p:nvPr/>
          </p:nvSpPr>
          <p:spPr bwMode="auto">
            <a:xfrm>
              <a:off x="2811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6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6" name="Text Box 36"/>
            <p:cNvSpPr txBox="1">
              <a:spLocks noChangeArrowheads="1"/>
            </p:cNvSpPr>
            <p:nvPr/>
          </p:nvSpPr>
          <p:spPr bwMode="auto">
            <a:xfrm>
              <a:off x="3044" y="987"/>
              <a:ext cx="116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7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7" name="Text Box 37"/>
            <p:cNvSpPr txBox="1">
              <a:spLocks noChangeArrowheads="1"/>
            </p:cNvSpPr>
            <p:nvPr/>
          </p:nvSpPr>
          <p:spPr bwMode="auto">
            <a:xfrm>
              <a:off x="3276" y="987"/>
              <a:ext cx="117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8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8" name="Text Box 38"/>
            <p:cNvSpPr txBox="1">
              <a:spLocks noChangeArrowheads="1"/>
            </p:cNvSpPr>
            <p:nvPr/>
          </p:nvSpPr>
          <p:spPr bwMode="auto">
            <a:xfrm>
              <a:off x="3509" y="987"/>
              <a:ext cx="117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9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69" name="Text Box 39"/>
            <p:cNvSpPr txBox="1">
              <a:spLocks noChangeArrowheads="1"/>
            </p:cNvSpPr>
            <p:nvPr/>
          </p:nvSpPr>
          <p:spPr bwMode="auto">
            <a:xfrm>
              <a:off x="3742" y="987"/>
              <a:ext cx="233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10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70" name="Text Box 40"/>
            <p:cNvSpPr txBox="1">
              <a:spLocks noChangeArrowheads="1"/>
            </p:cNvSpPr>
            <p:nvPr/>
          </p:nvSpPr>
          <p:spPr bwMode="auto">
            <a:xfrm>
              <a:off x="3975" y="987"/>
              <a:ext cx="233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11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71" name="Text Box 41"/>
            <p:cNvSpPr txBox="1">
              <a:spLocks noChangeArrowheads="1"/>
            </p:cNvSpPr>
            <p:nvPr/>
          </p:nvSpPr>
          <p:spPr bwMode="auto">
            <a:xfrm>
              <a:off x="4208" y="987"/>
              <a:ext cx="233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12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72" name="Text Box 42"/>
            <p:cNvSpPr txBox="1">
              <a:spLocks noChangeArrowheads="1"/>
            </p:cNvSpPr>
            <p:nvPr/>
          </p:nvSpPr>
          <p:spPr bwMode="auto">
            <a:xfrm>
              <a:off x="4441" y="987"/>
              <a:ext cx="233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13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73" name="Text Box 43"/>
            <p:cNvSpPr txBox="1">
              <a:spLocks noChangeArrowheads="1"/>
            </p:cNvSpPr>
            <p:nvPr/>
          </p:nvSpPr>
          <p:spPr bwMode="auto">
            <a:xfrm>
              <a:off x="4674" y="987"/>
              <a:ext cx="233" cy="230"/>
            </a:xfrm>
            <a:prstGeom prst="rect">
              <a:avLst/>
            </a:prstGeom>
            <a:solidFill>
              <a:schemeClr val="bg2"/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just"/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</a:rPr>
                <a:t>14</a:t>
              </a:r>
              <a:endParaRPr lang="en-US" altLang="zh-CN" sz="2000" b="1">
                <a:solidFill>
                  <a:schemeClr val="bg1"/>
                </a:solidFill>
                <a:latin typeface="Verdana" pitchFamily="34" charset="0"/>
              </a:endParaRPr>
            </a:p>
          </p:txBody>
        </p:sp>
        <p:sp>
          <p:nvSpPr>
            <p:cNvPr id="18474" name="Line 44"/>
            <p:cNvSpPr>
              <a:spLocks noChangeShapeType="1"/>
            </p:cNvSpPr>
            <p:nvPr/>
          </p:nvSpPr>
          <p:spPr bwMode="auto">
            <a:xfrm>
              <a:off x="1879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75" name="Line 45"/>
            <p:cNvSpPr>
              <a:spLocks noChangeShapeType="1"/>
            </p:cNvSpPr>
            <p:nvPr/>
          </p:nvSpPr>
          <p:spPr bwMode="auto">
            <a:xfrm>
              <a:off x="2112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76" name="Line 46"/>
            <p:cNvSpPr>
              <a:spLocks noChangeShapeType="1"/>
            </p:cNvSpPr>
            <p:nvPr/>
          </p:nvSpPr>
          <p:spPr bwMode="auto">
            <a:xfrm>
              <a:off x="2345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77" name="Line 47"/>
            <p:cNvSpPr>
              <a:spLocks noChangeShapeType="1"/>
            </p:cNvSpPr>
            <p:nvPr/>
          </p:nvSpPr>
          <p:spPr bwMode="auto">
            <a:xfrm>
              <a:off x="2578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78" name="Line 48"/>
            <p:cNvSpPr>
              <a:spLocks noChangeShapeType="1"/>
            </p:cNvSpPr>
            <p:nvPr/>
          </p:nvSpPr>
          <p:spPr bwMode="auto">
            <a:xfrm>
              <a:off x="2811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79" name="Line 49"/>
            <p:cNvSpPr>
              <a:spLocks noChangeShapeType="1"/>
            </p:cNvSpPr>
            <p:nvPr/>
          </p:nvSpPr>
          <p:spPr bwMode="auto">
            <a:xfrm>
              <a:off x="3742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0" name="Line 50"/>
            <p:cNvSpPr>
              <a:spLocks noChangeShapeType="1"/>
            </p:cNvSpPr>
            <p:nvPr/>
          </p:nvSpPr>
          <p:spPr bwMode="auto">
            <a:xfrm>
              <a:off x="3044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1" name="Line 51"/>
            <p:cNvSpPr>
              <a:spLocks noChangeShapeType="1"/>
            </p:cNvSpPr>
            <p:nvPr/>
          </p:nvSpPr>
          <p:spPr bwMode="auto">
            <a:xfrm>
              <a:off x="3276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2" name="Line 52"/>
            <p:cNvSpPr>
              <a:spLocks noChangeShapeType="1"/>
            </p:cNvSpPr>
            <p:nvPr/>
          </p:nvSpPr>
          <p:spPr bwMode="auto">
            <a:xfrm>
              <a:off x="3509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3" name="Line 53"/>
            <p:cNvSpPr>
              <a:spLocks noChangeShapeType="1"/>
            </p:cNvSpPr>
            <p:nvPr/>
          </p:nvSpPr>
          <p:spPr bwMode="auto">
            <a:xfrm>
              <a:off x="3975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4" name="Line 54"/>
            <p:cNvSpPr>
              <a:spLocks noChangeShapeType="1"/>
            </p:cNvSpPr>
            <p:nvPr/>
          </p:nvSpPr>
          <p:spPr bwMode="auto">
            <a:xfrm>
              <a:off x="4208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5" name="Line 55"/>
            <p:cNvSpPr>
              <a:spLocks noChangeShapeType="1"/>
            </p:cNvSpPr>
            <p:nvPr/>
          </p:nvSpPr>
          <p:spPr bwMode="auto">
            <a:xfrm>
              <a:off x="4441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6" name="Line 56"/>
            <p:cNvSpPr>
              <a:spLocks noChangeShapeType="1"/>
            </p:cNvSpPr>
            <p:nvPr/>
          </p:nvSpPr>
          <p:spPr bwMode="auto">
            <a:xfrm>
              <a:off x="4674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7" name="Line 57"/>
            <p:cNvSpPr>
              <a:spLocks noChangeShapeType="1"/>
            </p:cNvSpPr>
            <p:nvPr/>
          </p:nvSpPr>
          <p:spPr bwMode="auto">
            <a:xfrm>
              <a:off x="1646" y="1217"/>
              <a:ext cx="0" cy="34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8" name="Line 58"/>
            <p:cNvSpPr>
              <a:spLocks noChangeShapeType="1"/>
            </p:cNvSpPr>
            <p:nvPr/>
          </p:nvSpPr>
          <p:spPr bwMode="auto">
            <a:xfrm>
              <a:off x="1413" y="1217"/>
              <a:ext cx="349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89" name="AutoShape 59"/>
            <p:cNvSpPr>
              <a:spLocks/>
            </p:cNvSpPr>
            <p:nvPr/>
          </p:nvSpPr>
          <p:spPr bwMode="auto">
            <a:xfrm rot="5373474">
              <a:off x="2703" y="-421"/>
              <a:ext cx="110" cy="2692"/>
            </a:xfrm>
            <a:prstGeom prst="leftBrace">
              <a:avLst>
                <a:gd name="adj1" fmla="val 203939"/>
                <a:gd name="adj2" fmla="val 50000"/>
              </a:avLst>
            </a:pr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0" name="Freeform 60"/>
            <p:cNvSpPr>
              <a:spLocks/>
            </p:cNvSpPr>
            <p:nvPr/>
          </p:nvSpPr>
          <p:spPr bwMode="auto">
            <a:xfrm>
              <a:off x="1972" y="1480"/>
              <a:ext cx="46" cy="773"/>
            </a:xfrm>
            <a:custGeom>
              <a:avLst/>
              <a:gdLst>
                <a:gd name="T0" fmla="*/ 0 w 1"/>
                <a:gd name="T1" fmla="*/ 0 h 898"/>
                <a:gd name="T2" fmla="*/ 0 w 1"/>
                <a:gd name="T3" fmla="*/ 773 h 898"/>
                <a:gd name="T4" fmla="*/ 0 60000 65536"/>
                <a:gd name="T5" fmla="*/ 0 60000 65536"/>
                <a:gd name="T6" fmla="*/ 0 w 1"/>
                <a:gd name="T7" fmla="*/ 0 h 898"/>
                <a:gd name="T8" fmla="*/ 1 w 1"/>
                <a:gd name="T9" fmla="*/ 898 h 8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8">
                  <a:moveTo>
                    <a:pt x="0" y="0"/>
                  </a:moveTo>
                  <a:lnTo>
                    <a:pt x="0" y="898"/>
                  </a:lnTo>
                </a:path>
              </a:pathLst>
            </a:cu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 flipH="1">
              <a:off x="3229" y="1447"/>
              <a:ext cx="1118" cy="34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2" name="Line 63"/>
            <p:cNvSpPr>
              <a:spLocks noChangeShapeType="1"/>
            </p:cNvSpPr>
            <p:nvPr/>
          </p:nvSpPr>
          <p:spPr bwMode="auto">
            <a:xfrm flipH="1">
              <a:off x="4068" y="1447"/>
              <a:ext cx="419" cy="34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3" name="Line 64"/>
            <p:cNvSpPr>
              <a:spLocks noChangeShapeType="1"/>
            </p:cNvSpPr>
            <p:nvPr/>
          </p:nvSpPr>
          <p:spPr bwMode="auto">
            <a:xfrm flipH="1">
              <a:off x="4626" y="1447"/>
              <a:ext cx="140" cy="34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4" name="Line 70"/>
            <p:cNvSpPr>
              <a:spLocks noChangeShapeType="1"/>
            </p:cNvSpPr>
            <p:nvPr/>
          </p:nvSpPr>
          <p:spPr bwMode="auto">
            <a:xfrm>
              <a:off x="4513" y="2828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5" name="Line 74"/>
            <p:cNvSpPr>
              <a:spLocks noChangeShapeType="1"/>
            </p:cNvSpPr>
            <p:nvPr/>
          </p:nvSpPr>
          <p:spPr bwMode="auto">
            <a:xfrm flipH="1" flipV="1">
              <a:off x="3093" y="3179"/>
              <a:ext cx="1239" cy="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6" name="Line 75"/>
            <p:cNvSpPr>
              <a:spLocks noChangeShapeType="1"/>
            </p:cNvSpPr>
            <p:nvPr/>
          </p:nvSpPr>
          <p:spPr bwMode="auto">
            <a:xfrm flipV="1">
              <a:off x="1701" y="3173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7" name="Freeform 77"/>
            <p:cNvSpPr>
              <a:spLocks/>
            </p:cNvSpPr>
            <p:nvPr/>
          </p:nvSpPr>
          <p:spPr bwMode="auto">
            <a:xfrm>
              <a:off x="1709" y="3404"/>
              <a:ext cx="2985" cy="5"/>
            </a:xfrm>
            <a:custGeom>
              <a:avLst/>
              <a:gdLst>
                <a:gd name="T0" fmla="*/ 0 w 4122"/>
                <a:gd name="T1" fmla="*/ 0 h 7"/>
                <a:gd name="T2" fmla="*/ 2985 w 4122"/>
                <a:gd name="T3" fmla="*/ 5 h 7"/>
                <a:gd name="T4" fmla="*/ 0 60000 65536"/>
                <a:gd name="T5" fmla="*/ 0 60000 65536"/>
                <a:gd name="T6" fmla="*/ 0 w 4122"/>
                <a:gd name="T7" fmla="*/ 0 h 7"/>
                <a:gd name="T8" fmla="*/ 4122 w 4122"/>
                <a:gd name="T9" fmla="*/ 7 h 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22" h="7">
                  <a:moveTo>
                    <a:pt x="0" y="0"/>
                  </a:moveTo>
                  <a:lnTo>
                    <a:pt x="4122" y="7"/>
                  </a:lnTo>
                </a:path>
              </a:pathLst>
            </a:cu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8" name="Line 78"/>
            <p:cNvSpPr>
              <a:spLocks noChangeShapeType="1"/>
            </p:cNvSpPr>
            <p:nvPr/>
          </p:nvSpPr>
          <p:spPr bwMode="auto">
            <a:xfrm>
              <a:off x="4649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499" name="Line 79"/>
            <p:cNvSpPr>
              <a:spLocks noChangeShapeType="1"/>
            </p:cNvSpPr>
            <p:nvPr/>
          </p:nvSpPr>
          <p:spPr bwMode="auto">
            <a:xfrm>
              <a:off x="4694" y="2253"/>
              <a:ext cx="0" cy="2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0" name="Line 80"/>
            <p:cNvSpPr>
              <a:spLocks noChangeShapeType="1"/>
            </p:cNvSpPr>
            <p:nvPr/>
          </p:nvSpPr>
          <p:spPr bwMode="auto">
            <a:xfrm>
              <a:off x="3369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1" name="Line 81"/>
            <p:cNvSpPr>
              <a:spLocks noChangeShapeType="1"/>
            </p:cNvSpPr>
            <p:nvPr/>
          </p:nvSpPr>
          <p:spPr bwMode="auto">
            <a:xfrm>
              <a:off x="4626" y="2828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2" name="Line 82"/>
            <p:cNvSpPr>
              <a:spLocks noChangeShapeType="1"/>
            </p:cNvSpPr>
            <p:nvPr/>
          </p:nvSpPr>
          <p:spPr bwMode="auto">
            <a:xfrm>
              <a:off x="4377" y="2828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3" name="Line 83"/>
            <p:cNvSpPr>
              <a:spLocks noChangeShapeType="1"/>
            </p:cNvSpPr>
            <p:nvPr/>
          </p:nvSpPr>
          <p:spPr bwMode="auto">
            <a:xfrm>
              <a:off x="3089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4" name="Line 84"/>
            <p:cNvSpPr>
              <a:spLocks noChangeShapeType="1"/>
            </p:cNvSpPr>
            <p:nvPr/>
          </p:nvSpPr>
          <p:spPr bwMode="auto">
            <a:xfrm>
              <a:off x="4377" y="1792"/>
              <a:ext cx="0" cy="23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5" name="Line 85"/>
            <p:cNvSpPr>
              <a:spLocks noChangeShapeType="1"/>
            </p:cNvSpPr>
            <p:nvPr/>
          </p:nvSpPr>
          <p:spPr bwMode="auto">
            <a:xfrm>
              <a:off x="4422" y="2253"/>
              <a:ext cx="0" cy="2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06" name="Line 86"/>
            <p:cNvSpPr>
              <a:spLocks noChangeShapeType="1"/>
            </p:cNvSpPr>
            <p:nvPr/>
          </p:nvSpPr>
          <p:spPr bwMode="auto">
            <a:xfrm>
              <a:off x="2998" y="1928"/>
              <a:ext cx="0" cy="3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Line 87"/>
            <p:cNvSpPr>
              <a:spLocks noChangeShapeType="1"/>
            </p:cNvSpPr>
            <p:nvPr/>
          </p:nvSpPr>
          <p:spPr bwMode="auto">
            <a:xfrm>
              <a:off x="3662" y="1928"/>
              <a:ext cx="0" cy="3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Line 88"/>
            <p:cNvSpPr>
              <a:spLocks noChangeShapeType="1"/>
            </p:cNvSpPr>
            <p:nvPr/>
          </p:nvSpPr>
          <p:spPr bwMode="auto">
            <a:xfrm>
              <a:off x="4332" y="1928"/>
              <a:ext cx="0" cy="3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Freeform 90"/>
            <p:cNvSpPr>
              <a:spLocks/>
            </p:cNvSpPr>
            <p:nvPr/>
          </p:nvSpPr>
          <p:spPr bwMode="auto">
            <a:xfrm>
              <a:off x="2426" y="1480"/>
              <a:ext cx="46" cy="773"/>
            </a:xfrm>
            <a:custGeom>
              <a:avLst/>
              <a:gdLst>
                <a:gd name="T0" fmla="*/ 0 w 1"/>
                <a:gd name="T1" fmla="*/ 0 h 898"/>
                <a:gd name="T2" fmla="*/ 0 w 1"/>
                <a:gd name="T3" fmla="*/ 773 h 898"/>
                <a:gd name="T4" fmla="*/ 0 60000 65536"/>
                <a:gd name="T5" fmla="*/ 0 60000 65536"/>
                <a:gd name="T6" fmla="*/ 0 w 1"/>
                <a:gd name="T7" fmla="*/ 0 h 898"/>
                <a:gd name="T8" fmla="*/ 1 w 1"/>
                <a:gd name="T9" fmla="*/ 898 h 8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8">
                  <a:moveTo>
                    <a:pt x="0" y="0"/>
                  </a:moveTo>
                  <a:lnTo>
                    <a:pt x="0" y="898"/>
                  </a:lnTo>
                </a:path>
              </a:pathLst>
            </a:custGeom>
            <a:solidFill>
              <a:schemeClr val="bg2"/>
            </a:solidFill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510" name="Line 91"/>
            <p:cNvSpPr>
              <a:spLocks noChangeShapeType="1"/>
            </p:cNvSpPr>
            <p:nvPr/>
          </p:nvSpPr>
          <p:spPr bwMode="auto">
            <a:xfrm>
              <a:off x="3696" y="2387"/>
              <a:ext cx="0" cy="31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1" name="Line 92"/>
            <p:cNvSpPr>
              <a:spLocks noChangeShapeType="1"/>
            </p:cNvSpPr>
            <p:nvPr/>
          </p:nvSpPr>
          <p:spPr bwMode="auto">
            <a:xfrm>
              <a:off x="4332" y="2387"/>
              <a:ext cx="0" cy="40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Line 93"/>
            <p:cNvSpPr>
              <a:spLocks noChangeShapeType="1"/>
            </p:cNvSpPr>
            <p:nvPr/>
          </p:nvSpPr>
          <p:spPr bwMode="auto">
            <a:xfrm>
              <a:off x="4332" y="2976"/>
              <a:ext cx="0" cy="22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3" name="Line 94"/>
            <p:cNvSpPr>
              <a:spLocks noChangeShapeType="1"/>
            </p:cNvSpPr>
            <p:nvPr/>
          </p:nvSpPr>
          <p:spPr bwMode="auto">
            <a:xfrm flipV="1">
              <a:off x="4694" y="2976"/>
              <a:ext cx="0" cy="45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B85F41-B136-4711-8FD6-409CE371A5D4}" type="slidenum">
              <a:rPr lang="en-US" altLang="zh-CN" smtClean="0"/>
              <a:pPr/>
              <a:t>16</a:t>
            </a:fld>
            <a:endParaRPr lang="en-US" altLang="zh-CN" smtClean="0"/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符号链接文件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zh-CN" altLang="en-US" smtClean="0"/>
              <a:t>当符号连接文件的路径名小于</a:t>
            </a:r>
            <a:r>
              <a:rPr lang="en-US" altLang="zh-CN" smtClean="0"/>
              <a:t>60</a:t>
            </a:r>
            <a:r>
              <a:rPr lang="zh-CN" altLang="en-US" smtClean="0"/>
              <a:t>个字符时，就存放在</a:t>
            </a:r>
            <a:r>
              <a:rPr lang="en-US" altLang="zh-CN" smtClean="0">
                <a:solidFill>
                  <a:schemeClr val="accent2"/>
                </a:solidFill>
              </a:rPr>
              <a:t>i_block[ ]</a:t>
            </a:r>
            <a:r>
              <a:rPr lang="zh-CN" altLang="en-US" smtClean="0"/>
              <a:t>中；当大于</a:t>
            </a:r>
            <a:r>
              <a:rPr lang="en-US" altLang="zh-CN" smtClean="0"/>
              <a:t>60</a:t>
            </a:r>
            <a:r>
              <a:rPr lang="zh-CN" altLang="en-US" smtClean="0"/>
              <a:t>时，需要一个单独的数据块。可以跨文件系统。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mtClean="0"/>
              <a:t>设备文件、管道文件、套接字文件：</a:t>
            </a:r>
            <a:r>
              <a:rPr lang="zh-CN" altLang="en-US" smtClean="0">
                <a:solidFill>
                  <a:schemeClr val="accent2"/>
                </a:solidFill>
              </a:rPr>
              <a:t>信息存放在索引节点中，无需数据块。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B7D4EC-88FE-4AEF-9352-589173305EF5}" type="slidenum">
              <a:rPr lang="en-US" altLang="zh-CN" smtClean="0"/>
              <a:pPr/>
              <a:t>17</a:t>
            </a:fld>
            <a:endParaRPr lang="en-US" altLang="zh-CN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超级块：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000066"/>
                </a:solidFill>
              </a:rPr>
              <a:t>磁盘结构：</a:t>
            </a:r>
            <a:r>
              <a:rPr lang="en-US" altLang="zh-CN" dirty="0" smtClean="0">
                <a:solidFill>
                  <a:srgbClr val="000066"/>
                </a:solidFill>
              </a:rPr>
              <a:t>ext2_super_block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000066"/>
                </a:solidFill>
              </a:rPr>
              <a:t>内存结构：</a:t>
            </a:r>
            <a:r>
              <a:rPr lang="en-US" altLang="zh-CN" dirty="0" smtClean="0">
                <a:solidFill>
                  <a:srgbClr val="000066"/>
                </a:solidFill>
              </a:rPr>
              <a:t>ext2_sb_info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索引节点：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000066"/>
                </a:solidFill>
              </a:rPr>
              <a:t>磁盘结构：</a:t>
            </a:r>
            <a:r>
              <a:rPr lang="en-US" altLang="zh-CN" dirty="0" smtClean="0">
                <a:solidFill>
                  <a:srgbClr val="000066"/>
                </a:solidFill>
              </a:rPr>
              <a:t>ext2_inode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000066"/>
                </a:solidFill>
              </a:rPr>
              <a:t>内存结构：</a:t>
            </a:r>
            <a:r>
              <a:rPr lang="en-US" altLang="zh-CN" dirty="0" smtClean="0">
                <a:solidFill>
                  <a:srgbClr val="000066"/>
                </a:solidFill>
              </a:rPr>
              <a:t>ext2_inode_info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28662" y="28572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9.2  Ext2</a:t>
            </a:r>
            <a:r>
              <a:rPr kumimoji="0" lang="zh-CN" altLang="en-US" sz="4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的主存数据结构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1659EF-2961-449C-B181-A0EFFB07705A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ext2_inode_info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85938"/>
            <a:ext cx="7772400" cy="4373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 ext2_inode_info { </a:t>
            </a:r>
            <a:r>
              <a:rPr lang="en-US" altLang="zh-CN" dirty="0" smtClean="0">
                <a:solidFill>
                  <a:srgbClr val="00B050"/>
                </a:solidFill>
              </a:rPr>
              <a:t>/*</a:t>
            </a:r>
            <a:r>
              <a:rPr lang="zh-CN" altLang="en-US" dirty="0" smtClean="0">
                <a:solidFill>
                  <a:srgbClr val="00B050"/>
                </a:solidFill>
              </a:rPr>
              <a:t>内存索引节点</a:t>
            </a:r>
            <a:r>
              <a:rPr lang="en-US" altLang="zh-CN" dirty="0" smtClean="0">
                <a:solidFill>
                  <a:srgbClr val="00B050"/>
                </a:solidFill>
              </a:rPr>
              <a:t>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	……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>
                <a:solidFill>
                  <a:schemeClr val="accent2"/>
                </a:solidFill>
              </a:rPr>
              <a:t>struct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en-US" altLang="zh-CN" dirty="0" err="1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inode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en-US" altLang="zh-CN" dirty="0" err="1" smtClean="0">
                <a:solidFill>
                  <a:schemeClr val="accent2"/>
                </a:solidFill>
              </a:rPr>
              <a:t>vfs_inode</a:t>
            </a:r>
            <a:r>
              <a:rPr lang="en-US" altLang="zh-CN" dirty="0" smtClean="0">
                <a:solidFill>
                  <a:schemeClr val="accent2"/>
                </a:solidFill>
              </a:rPr>
              <a:t>; </a:t>
            </a:r>
            <a:r>
              <a:rPr lang="en-US" altLang="zh-CN" dirty="0" smtClean="0">
                <a:solidFill>
                  <a:srgbClr val="00B050"/>
                </a:solidFill>
              </a:rPr>
              <a:t>/*</a:t>
            </a:r>
            <a:r>
              <a:rPr lang="zh-CN" altLang="en-US" dirty="0" smtClean="0">
                <a:solidFill>
                  <a:srgbClr val="00B050"/>
                </a:solidFill>
              </a:rPr>
              <a:t>索引节点对象*</a:t>
            </a:r>
            <a:r>
              <a:rPr lang="en-US" altLang="zh-CN" dirty="0" smtClean="0">
                <a:solidFill>
                  <a:srgbClr val="00B050"/>
                </a:solidFill>
              </a:rPr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	……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 smtClean="0"/>
              <a:t>};  </a:t>
            </a:r>
            <a:r>
              <a:rPr lang="en-US" altLang="zh-CN" dirty="0" smtClean="0">
                <a:solidFill>
                  <a:srgbClr val="FF0000"/>
                </a:solidFill>
              </a:rPr>
              <a:t>P196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9E9BEA-654D-4F4D-9D7B-18DBC30CBD8E}" type="slidenum">
              <a:rPr lang="en-US" altLang="zh-CN" smtClean="0"/>
              <a:pPr/>
              <a:t>19</a:t>
            </a:fld>
            <a:endParaRPr lang="en-US" altLang="zh-CN" smtClean="0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9.3  </a:t>
            </a:r>
            <a:r>
              <a:rPr lang="zh-CN" altLang="en-US" smtClean="0"/>
              <a:t>磁盘空间管理</a:t>
            </a: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磁盘块和索引节点的分配和回收</a:t>
            </a:r>
          </a:p>
          <a:p>
            <a:pPr eaLnBrk="1" hangingPunct="1"/>
            <a:r>
              <a:rPr lang="zh-CN" altLang="en-US" smtClean="0"/>
              <a:t>文件的数据块和其索引节点尽量在同一个块组中。</a:t>
            </a:r>
          </a:p>
          <a:p>
            <a:pPr eaLnBrk="1" hangingPunct="1"/>
            <a:r>
              <a:rPr lang="zh-CN" altLang="en-US" smtClean="0"/>
              <a:t>文件和它的目录项尽量在同一个块组中。</a:t>
            </a:r>
          </a:p>
          <a:p>
            <a:pPr eaLnBrk="1" hangingPunct="1"/>
            <a:r>
              <a:rPr lang="zh-CN" altLang="en-US" smtClean="0"/>
              <a:t>父目录和子目录尽量在同一个块组中。</a:t>
            </a:r>
          </a:p>
          <a:p>
            <a:pPr eaLnBrk="1" hangingPunct="1"/>
            <a:r>
              <a:rPr lang="zh-CN" altLang="en-US" smtClean="0"/>
              <a:t>每个文件的数据块尽量连续存放。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3207</TotalTime>
  <Words>1123</Words>
  <Application>Microsoft Office PowerPoint</Application>
  <PresentationFormat>全屏显示(4:3)</PresentationFormat>
  <Paragraphs>239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Layers</vt:lpstr>
      <vt:lpstr>第九章  Linux文件系统</vt:lpstr>
      <vt:lpstr>9.1 Ext2磁盘涉及的数据结构</vt:lpstr>
      <vt:lpstr>9.1.1  Ext2文件卷的布局</vt:lpstr>
      <vt:lpstr>Ext2示意图  P189</vt:lpstr>
      <vt:lpstr> </vt:lpstr>
      <vt:lpstr> </vt:lpstr>
      <vt:lpstr>9.1.2  超级块</vt:lpstr>
      <vt:lpstr>9.1.3  块组描述符</vt:lpstr>
      <vt:lpstr>9.1.4 文件目录与索引节点结构</vt:lpstr>
      <vt:lpstr>目录项结构  P191</vt:lpstr>
      <vt:lpstr>文件类型</vt:lpstr>
      <vt:lpstr>目录项</vt:lpstr>
      <vt:lpstr>索引节点（128B）</vt:lpstr>
      <vt:lpstr>索引表</vt:lpstr>
      <vt:lpstr>幻灯片 15</vt:lpstr>
      <vt:lpstr>符号链接文件</vt:lpstr>
      <vt:lpstr>幻灯片 17</vt:lpstr>
      <vt:lpstr>ext2_inode_info</vt:lpstr>
      <vt:lpstr>9.3  磁盘空间管理</vt:lpstr>
    </vt:vector>
  </TitlesOfParts>
  <Company>bit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 EXT2 文件系统</dc:title>
  <dc:creator>lmh</dc:creator>
  <cp:lastModifiedBy>dell</cp:lastModifiedBy>
  <cp:revision>59</cp:revision>
  <dcterms:created xsi:type="dcterms:W3CDTF">2009-10-23T06:39:52Z</dcterms:created>
  <dcterms:modified xsi:type="dcterms:W3CDTF">2020-12-02T08:34:40Z</dcterms:modified>
</cp:coreProperties>
</file>