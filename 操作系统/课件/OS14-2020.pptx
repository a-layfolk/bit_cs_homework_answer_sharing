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345" r:id="rId5"/>
    <p:sldId id="353" r:id="rId6"/>
    <p:sldId id="348" r:id="rId7"/>
    <p:sldId id="349" r:id="rId8"/>
    <p:sldId id="347" r:id="rId9"/>
    <p:sldId id="339" r:id="rId10"/>
    <p:sldId id="263" r:id="rId11"/>
    <p:sldId id="267" r:id="rId12"/>
    <p:sldId id="303" r:id="rId13"/>
    <p:sldId id="270" r:id="rId14"/>
    <p:sldId id="283" r:id="rId15"/>
    <p:sldId id="306" r:id="rId16"/>
    <p:sldId id="343" r:id="rId17"/>
    <p:sldId id="305" r:id="rId18"/>
    <p:sldId id="344" r:id="rId19"/>
    <p:sldId id="291" r:id="rId20"/>
    <p:sldId id="289" r:id="rId21"/>
    <p:sldId id="309" r:id="rId22"/>
    <p:sldId id="310" r:id="rId23"/>
    <p:sldId id="340" r:id="rId24"/>
    <p:sldId id="287" r:id="rId25"/>
    <p:sldId id="341" r:id="rId26"/>
    <p:sldId id="352" r:id="rId27"/>
    <p:sldId id="293" r:id="rId28"/>
    <p:sldId id="323" r:id="rId29"/>
    <p:sldId id="296" r:id="rId30"/>
    <p:sldId id="350" r:id="rId31"/>
    <p:sldId id="299" r:id="rId32"/>
  </p:sldIdLst>
  <p:sldSz cx="9144000" cy="6858000" type="screen4x3"/>
  <p:notesSz cx="6858000" cy="9144000"/>
  <p:defaultTextStyle>
    <a:defPPr>
      <a:defRPr lang="zh-CN"/>
    </a:defPPr>
    <a:lvl1pPr algn="just" rtl="0" fontAlgn="base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150000"/>
      <a:buFont typeface="Wingdings" pitchFamily="2" charset="2"/>
      <a:buChar char="§"/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just" rtl="0" fontAlgn="base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150000"/>
      <a:buFont typeface="Wingdings" pitchFamily="2" charset="2"/>
      <a:buChar char="§"/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just" rtl="0" fontAlgn="base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150000"/>
      <a:buFont typeface="Wingdings" pitchFamily="2" charset="2"/>
      <a:buChar char="§"/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just" rtl="0" fontAlgn="base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150000"/>
      <a:buFont typeface="Wingdings" pitchFamily="2" charset="2"/>
      <a:buChar char="§"/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just" rtl="0" fontAlgn="base">
      <a:lnSpc>
        <a:spcPct val="90000"/>
      </a:lnSpc>
      <a:spcBef>
        <a:spcPct val="20000"/>
      </a:spcBef>
      <a:spcAft>
        <a:spcPct val="0"/>
      </a:spcAft>
      <a:buClr>
        <a:srgbClr val="FF0000"/>
      </a:buClr>
      <a:buSzPct val="150000"/>
      <a:buFont typeface="Wingdings" pitchFamily="2" charset="2"/>
      <a:buChar char="§"/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00FF"/>
    <a:srgbClr val="FF9933"/>
    <a:srgbClr val="CC6600"/>
    <a:srgbClr val="FF0066"/>
    <a:srgbClr val="00CC00"/>
    <a:srgbClr val="CCFFFF"/>
    <a:srgbClr val="FF0000"/>
    <a:srgbClr val="FFFF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29" autoAdjust="0"/>
    <p:restoredTop sz="94682" autoAdjust="0"/>
  </p:normalViewPr>
  <p:slideViewPr>
    <p:cSldViewPr>
      <p:cViewPr>
        <p:scale>
          <a:sx n="70" d="100"/>
          <a:sy n="70" d="100"/>
        </p:scale>
        <p:origin x="-858" y="-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3" d="100"/>
          <a:sy n="43" d="100"/>
        </p:scale>
        <p:origin x="-1476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7.xml"/><Relationship Id="rId3" Type="http://schemas.openxmlformats.org/officeDocument/2006/relationships/slide" Target="slides/slide10.xml"/><Relationship Id="rId7" Type="http://schemas.openxmlformats.org/officeDocument/2006/relationships/slide" Target="slides/slide24.xml"/><Relationship Id="rId2" Type="http://schemas.openxmlformats.org/officeDocument/2006/relationships/slide" Target="slides/slide5.xml"/><Relationship Id="rId1" Type="http://schemas.openxmlformats.org/officeDocument/2006/relationships/slide" Target="slides/slide2.xml"/><Relationship Id="rId6" Type="http://schemas.openxmlformats.org/officeDocument/2006/relationships/slide" Target="slides/slide20.xml"/><Relationship Id="rId5" Type="http://schemas.openxmlformats.org/officeDocument/2006/relationships/slide" Target="slides/slide19.xml"/><Relationship Id="rId10" Type="http://schemas.openxmlformats.org/officeDocument/2006/relationships/slide" Target="slides/slide31.xml"/><Relationship Id="rId4" Type="http://schemas.openxmlformats.org/officeDocument/2006/relationships/slide" Target="slides/slide11.xml"/><Relationship Id="rId9" Type="http://schemas.openxmlformats.org/officeDocument/2006/relationships/slide" Target="slides/slide2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/>
            </a:lvl1pPr>
          </a:lstStyle>
          <a:p>
            <a:pPr>
              <a:defRPr/>
            </a:pPr>
            <a:fld id="{30FFC7C3-E4C1-491C-A714-E8F40F2C16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3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994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CED17CDC-33BC-41AE-8D1B-3BFC29CA8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64F5FA-5DCE-4D6E-A0C2-92A75D881222}" type="slidenum">
              <a:rPr lang="en-US" altLang="zh-CN" smtClean="0"/>
              <a:pPr/>
              <a:t>24</a:t>
            </a:fld>
            <a:endParaRPr lang="en-US" altLang="zh-CN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mtClean="0"/>
              <a:t>在</a:t>
            </a:r>
            <a:r>
              <a:rPr lang="en-US" altLang="zh-CN" smtClean="0"/>
              <a:t>UNIX</a:t>
            </a:r>
            <a:r>
              <a:rPr lang="zh-CN" altLang="en-US" smtClean="0"/>
              <a:t>文件系统中，为了方便共享文件或目录的内容，提供了在不同层次目录结构的不同目录之间建立交叉连接的方法。这种方法叫符号链接。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1438E-34FA-44C0-B250-7674CFDDD0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E1D5B-DA30-4A6F-BDC7-46AD41C8AE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FA726-2B8C-4796-B12C-AD8C04DFB5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2E6B9-8A2E-4626-A5DC-F544C32E4B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F8CE4-6CF1-4C85-88D1-9BF3C78A0C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87EE3A-14BC-4F10-ABE2-E9910AEE4C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64347-24FA-421A-B572-0B75C996E7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517F7-A98C-4A73-B25C-5E9096C345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E4D4C2-F5B1-45EB-9873-3265B56097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DD647-F60C-4288-9326-08D2F4B957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E5A7E-B011-4283-999E-21C5C05EB5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 b="0"/>
            </a:lvl1pPr>
          </a:lstStyle>
          <a:p>
            <a:pPr>
              <a:defRPr/>
            </a:pPr>
            <a:fld id="{A62C9B63-9A2A-4760-8F00-A4973467BD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5F0BC66-AF4C-4281-86FB-89103C7E0C6F}" type="slidenum">
              <a:rPr lang="en-US" altLang="zh-CN" smtClean="0"/>
              <a:pPr/>
              <a:t>1</a:t>
            </a:fld>
            <a:endParaRPr lang="en-US" altLang="zh-CN" smtClean="0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0"/>
            <a:ext cx="7772400" cy="3733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6000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第三篇</a:t>
            </a:r>
            <a:r>
              <a:rPr lang="zh-CN" altLang="en-US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br>
              <a:rPr lang="zh-CN" altLang="en-US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CN" altLang="en-US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zh-CN" altLang="en-US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Windows </a:t>
            </a:r>
            <a:r>
              <a:rPr lang="zh-CN" altLang="en-US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操作系统研究</a:t>
            </a:r>
            <a:r>
              <a:rPr lang="zh-CN" altLang="en-US" smtClean="0">
                <a:solidFill>
                  <a:srgbClr val="000066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CCB648-D774-4218-9EFC-62DA5F29EF9A}" type="slidenum">
              <a:rPr lang="en-US" altLang="zh-CN" smtClean="0"/>
              <a:pPr/>
              <a:t>2</a:t>
            </a:fld>
            <a:endParaRPr lang="en-US" altLang="zh-CN" smtClean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6" y="1857364"/>
            <a:ext cx="7772400" cy="1981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14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章  </a:t>
            </a:r>
            <a: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Windows</a:t>
            </a:r>
            <a:b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操作系统模型</a:t>
            </a:r>
            <a:r>
              <a:rPr lang="zh-CN" altLang="en-US" sz="4800" dirty="0" smtClean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DAE690-3699-4A25-9BDF-58F35A0524EB}" type="slidenum">
              <a:rPr lang="en-US" altLang="zh-CN" smtClean="0"/>
              <a:pPr/>
              <a:t>3</a:t>
            </a:fld>
            <a:endParaRPr lang="en-US" altLang="zh-CN" smtClean="0"/>
          </a:p>
        </p:txBody>
      </p:sp>
      <p:sp>
        <p:nvSpPr>
          <p:cNvPr id="6187" name="AutoShape 43"/>
          <p:cNvSpPr>
            <a:spLocks noChangeArrowheads="1"/>
          </p:cNvSpPr>
          <p:nvPr/>
        </p:nvSpPr>
        <p:spPr bwMode="auto">
          <a:xfrm>
            <a:off x="457200" y="152400"/>
            <a:ext cx="8435975" cy="1447800"/>
          </a:xfrm>
          <a:prstGeom prst="horizontalScroll">
            <a:avLst>
              <a:gd name="adj" fmla="val 13986"/>
            </a:avLst>
          </a:prstGeom>
          <a:solidFill>
            <a:schemeClr val="bg1"/>
          </a:solidFill>
          <a:ln w="3810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zh-CN" sz="4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14.1  Windows </a:t>
            </a:r>
            <a:r>
              <a:rPr lang="zh-CN" alt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体系结构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427163" y="2132013"/>
            <a:ext cx="1800225" cy="974725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99"/>
                </a:solidFill>
              </a:rPr>
              <a:t>系统和服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99"/>
                </a:solidFill>
              </a:rPr>
              <a:t>务进程</a:t>
            </a:r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3659188" y="2060575"/>
            <a:ext cx="1800225" cy="547688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99"/>
                </a:solidFill>
              </a:rPr>
              <a:t>应用程序</a:t>
            </a:r>
          </a:p>
        </p:txBody>
      </p:sp>
      <p:sp>
        <p:nvSpPr>
          <p:cNvPr id="4102" name="Line 9"/>
          <p:cNvSpPr>
            <a:spLocks noChangeShapeType="1"/>
          </p:cNvSpPr>
          <p:nvPr/>
        </p:nvSpPr>
        <p:spPr bwMode="auto">
          <a:xfrm>
            <a:off x="323850" y="4365625"/>
            <a:ext cx="86868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3" name="Text Box 16"/>
          <p:cNvSpPr txBox="1">
            <a:spLocks noChangeArrowheads="1"/>
          </p:cNvSpPr>
          <p:nvPr/>
        </p:nvSpPr>
        <p:spPr bwMode="auto">
          <a:xfrm>
            <a:off x="7775575" y="3765550"/>
            <a:ext cx="1255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0000"/>
                </a:solidFill>
              </a:rPr>
              <a:t>用户态</a:t>
            </a:r>
          </a:p>
        </p:txBody>
      </p:sp>
      <p:sp>
        <p:nvSpPr>
          <p:cNvPr id="4104" name="Text Box 17"/>
          <p:cNvSpPr txBox="1">
            <a:spLocks noChangeArrowheads="1"/>
          </p:cNvSpPr>
          <p:nvPr/>
        </p:nvSpPr>
        <p:spPr bwMode="auto">
          <a:xfrm>
            <a:off x="7791450" y="4506913"/>
            <a:ext cx="12557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0000"/>
                </a:solidFill>
              </a:rPr>
              <a:t>核心态</a:t>
            </a:r>
          </a:p>
        </p:txBody>
      </p:sp>
      <p:sp>
        <p:nvSpPr>
          <p:cNvPr id="4105" name="Line 18"/>
          <p:cNvSpPr>
            <a:spLocks noChangeShapeType="1"/>
          </p:cNvSpPr>
          <p:nvPr/>
        </p:nvSpPr>
        <p:spPr bwMode="auto">
          <a:xfrm>
            <a:off x="1992313" y="3111500"/>
            <a:ext cx="11112" cy="1254125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06" name="Line 19"/>
          <p:cNvSpPr>
            <a:spLocks noChangeShapeType="1"/>
          </p:cNvSpPr>
          <p:nvPr/>
        </p:nvSpPr>
        <p:spPr bwMode="auto">
          <a:xfrm>
            <a:off x="3011488" y="3140075"/>
            <a:ext cx="0" cy="457200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07" name="Line 21"/>
          <p:cNvSpPr>
            <a:spLocks noChangeShapeType="1"/>
          </p:cNvSpPr>
          <p:nvPr/>
        </p:nvSpPr>
        <p:spPr bwMode="auto">
          <a:xfrm>
            <a:off x="7258050" y="3111500"/>
            <a:ext cx="1588" cy="1254125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08" name="Line 26"/>
          <p:cNvSpPr>
            <a:spLocks noChangeShapeType="1"/>
          </p:cNvSpPr>
          <p:nvPr/>
        </p:nvSpPr>
        <p:spPr bwMode="auto">
          <a:xfrm flipH="1">
            <a:off x="4524375" y="3140075"/>
            <a:ext cx="0" cy="428625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9" name="Text Box 27"/>
          <p:cNvSpPr txBox="1">
            <a:spLocks noChangeArrowheads="1"/>
          </p:cNvSpPr>
          <p:nvPr/>
        </p:nvSpPr>
        <p:spPr bwMode="auto">
          <a:xfrm>
            <a:off x="1427163" y="4652963"/>
            <a:ext cx="4175125" cy="480131"/>
          </a:xfrm>
          <a:prstGeom prst="rect">
            <a:avLst/>
          </a:prstGeom>
          <a:solidFill>
            <a:srgbClr val="FF9933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rgbClr val="000099"/>
                </a:solidFill>
              </a:rPr>
              <a:t>执行</a:t>
            </a:r>
            <a:r>
              <a:rPr lang="zh-CN" altLang="en-US" dirty="0" smtClean="0">
                <a:solidFill>
                  <a:srgbClr val="000099"/>
                </a:solidFill>
              </a:rPr>
              <a:t>体</a:t>
            </a:r>
            <a:r>
              <a:rPr lang="zh-CN" altLang="en-US" dirty="0" smtClean="0">
                <a:solidFill>
                  <a:srgbClr val="000066"/>
                </a:solidFill>
              </a:rPr>
              <a:t> </a:t>
            </a:r>
            <a:r>
              <a:rPr lang="en-US" altLang="zh-CN" dirty="0" smtClean="0">
                <a:solidFill>
                  <a:srgbClr val="000066"/>
                </a:solidFill>
              </a:rPr>
              <a:t>P267</a:t>
            </a:r>
            <a:endParaRPr lang="zh-CN" altLang="en-US" dirty="0">
              <a:solidFill>
                <a:srgbClr val="000066"/>
              </a:solidFill>
            </a:endParaRPr>
          </a:p>
        </p:txBody>
      </p:sp>
      <p:sp>
        <p:nvSpPr>
          <p:cNvPr id="4110" name="Text Box 29"/>
          <p:cNvSpPr txBox="1">
            <a:spLocks noChangeArrowheads="1"/>
          </p:cNvSpPr>
          <p:nvPr/>
        </p:nvSpPr>
        <p:spPr bwMode="auto">
          <a:xfrm>
            <a:off x="1427163" y="5157788"/>
            <a:ext cx="2808287" cy="480131"/>
          </a:xfrm>
          <a:prstGeom prst="rect">
            <a:avLst/>
          </a:prstGeom>
          <a:solidFill>
            <a:srgbClr val="FF9933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zh-CN" altLang="en-US" dirty="0">
                <a:solidFill>
                  <a:srgbClr val="000099"/>
                </a:solidFill>
              </a:rPr>
              <a:t>内核</a:t>
            </a:r>
          </a:p>
        </p:txBody>
      </p:sp>
      <p:sp>
        <p:nvSpPr>
          <p:cNvPr id="4111" name="Text Box 30"/>
          <p:cNvSpPr txBox="1">
            <a:spLocks noChangeArrowheads="1"/>
          </p:cNvSpPr>
          <p:nvPr/>
        </p:nvSpPr>
        <p:spPr bwMode="auto">
          <a:xfrm>
            <a:off x="1427163" y="5661025"/>
            <a:ext cx="2808287" cy="504825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99"/>
                </a:solidFill>
              </a:rPr>
              <a:t>硬件抽象层</a:t>
            </a:r>
          </a:p>
        </p:txBody>
      </p:sp>
      <p:sp>
        <p:nvSpPr>
          <p:cNvPr id="4112" name="Line 38"/>
          <p:cNvSpPr>
            <a:spLocks noChangeShapeType="1"/>
          </p:cNvSpPr>
          <p:nvPr/>
        </p:nvSpPr>
        <p:spPr bwMode="auto">
          <a:xfrm flipV="1">
            <a:off x="3443288" y="5229225"/>
            <a:ext cx="0" cy="503238"/>
          </a:xfrm>
          <a:prstGeom prst="line">
            <a:avLst/>
          </a:prstGeom>
          <a:noFill/>
          <a:ln w="76200">
            <a:noFill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3" name="Rectangle 42"/>
          <p:cNvSpPr>
            <a:spLocks noChangeArrowheads="1"/>
          </p:cNvSpPr>
          <p:nvPr/>
        </p:nvSpPr>
        <p:spPr bwMode="auto">
          <a:xfrm>
            <a:off x="5819775" y="4654551"/>
            <a:ext cx="2065338" cy="57465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algn="ctr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dirty="0" smtClean="0">
                <a:solidFill>
                  <a:srgbClr val="000066"/>
                </a:solidFill>
              </a:rPr>
              <a:t>win32k.sys</a:t>
            </a:r>
            <a:endParaRPr lang="en-US" altLang="zh-CN" dirty="0">
              <a:solidFill>
                <a:srgbClr val="000066"/>
              </a:solidFill>
            </a:endParaRPr>
          </a:p>
        </p:txBody>
      </p:sp>
      <p:sp>
        <p:nvSpPr>
          <p:cNvPr id="4114" name="Text Box 37"/>
          <p:cNvSpPr txBox="1">
            <a:spLocks noChangeArrowheads="1"/>
          </p:cNvSpPr>
          <p:nvPr/>
        </p:nvSpPr>
        <p:spPr bwMode="auto">
          <a:xfrm>
            <a:off x="4379913" y="5229225"/>
            <a:ext cx="1223962" cy="889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lIns="18000" tIns="46800" rIns="18000" bIns="46800">
            <a:spAutoFit/>
          </a:bodyPr>
          <a:lstStyle/>
          <a:p>
            <a:pPr marL="342900" indent="-342900" algn="ctr">
              <a:spcBef>
                <a:spcPct val="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99"/>
                </a:solidFill>
              </a:rPr>
              <a:t>设备驱</a:t>
            </a:r>
          </a:p>
          <a:p>
            <a:pPr marL="342900" indent="-342900" algn="ctr">
              <a:spcBef>
                <a:spcPct val="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99"/>
                </a:solidFill>
              </a:rPr>
              <a:t>动程序</a:t>
            </a:r>
          </a:p>
        </p:txBody>
      </p:sp>
      <p:sp>
        <p:nvSpPr>
          <p:cNvPr id="4115" name="Line 45"/>
          <p:cNvSpPr>
            <a:spLocks noChangeShapeType="1"/>
          </p:cNvSpPr>
          <p:nvPr/>
        </p:nvSpPr>
        <p:spPr bwMode="auto">
          <a:xfrm>
            <a:off x="4451350" y="4076700"/>
            <a:ext cx="0" cy="288925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6" name="Line 46"/>
          <p:cNvSpPr>
            <a:spLocks noChangeShapeType="1"/>
          </p:cNvSpPr>
          <p:nvPr/>
        </p:nvSpPr>
        <p:spPr bwMode="auto">
          <a:xfrm>
            <a:off x="6396038" y="3068638"/>
            <a:ext cx="0" cy="504825"/>
          </a:xfrm>
          <a:prstGeom prst="line">
            <a:avLst/>
          </a:prstGeom>
          <a:noFill/>
          <a:ln w="28575">
            <a:solidFill>
              <a:srgbClr val="00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7" name="Text Box 5"/>
          <p:cNvSpPr txBox="1">
            <a:spLocks noChangeArrowheads="1"/>
          </p:cNvSpPr>
          <p:nvPr/>
        </p:nvSpPr>
        <p:spPr bwMode="auto">
          <a:xfrm>
            <a:off x="3659188" y="2636838"/>
            <a:ext cx="1800225" cy="485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0099"/>
                </a:solidFill>
              </a:rPr>
              <a:t>子系统</a:t>
            </a:r>
            <a:r>
              <a:rPr lang="en-US" altLang="zh-CN" sz="2400">
                <a:solidFill>
                  <a:srgbClr val="000099"/>
                </a:solidFill>
              </a:rPr>
              <a:t>DLL</a:t>
            </a:r>
          </a:p>
        </p:txBody>
      </p:sp>
      <p:sp>
        <p:nvSpPr>
          <p:cNvPr id="4118" name="Text Box 7"/>
          <p:cNvSpPr txBox="1">
            <a:spLocks noChangeArrowheads="1"/>
          </p:cNvSpPr>
          <p:nvPr/>
        </p:nvSpPr>
        <p:spPr bwMode="auto">
          <a:xfrm>
            <a:off x="5891213" y="2132013"/>
            <a:ext cx="2160587" cy="974725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99"/>
                </a:solidFill>
              </a:rPr>
              <a:t>Windows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99"/>
                </a:solidFill>
              </a:rPr>
              <a:t>子系统进程</a:t>
            </a:r>
          </a:p>
        </p:txBody>
      </p:sp>
      <p:sp>
        <p:nvSpPr>
          <p:cNvPr id="4119" name="Text Box 8"/>
          <p:cNvSpPr txBox="1">
            <a:spLocks noChangeArrowheads="1"/>
          </p:cNvSpPr>
          <p:nvPr/>
        </p:nvSpPr>
        <p:spPr bwMode="auto">
          <a:xfrm>
            <a:off x="2722563" y="3568700"/>
            <a:ext cx="3816350" cy="547688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99"/>
                </a:solidFill>
              </a:rPr>
              <a:t>Ntdll.dll</a:t>
            </a:r>
          </a:p>
        </p:txBody>
      </p:sp>
      <p:sp>
        <p:nvSpPr>
          <p:cNvPr id="24" name="Rectangle 42"/>
          <p:cNvSpPr>
            <a:spLocks noChangeArrowheads="1"/>
          </p:cNvSpPr>
          <p:nvPr/>
        </p:nvSpPr>
        <p:spPr bwMode="auto">
          <a:xfrm>
            <a:off x="5819030" y="5373216"/>
            <a:ext cx="2065338" cy="574650"/>
          </a:xfrm>
          <a:prstGeom prst="rect">
            <a:avLst/>
          </a:prstGeom>
          <a:solidFill>
            <a:schemeClr val="bg1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342900" indent="-342900" algn="ctr">
              <a:spcBef>
                <a:spcPct val="0"/>
              </a:spcBef>
              <a:buNone/>
            </a:pPr>
            <a:r>
              <a:rPr lang="en-US" altLang="zh-CN" dirty="0" smtClean="0">
                <a:solidFill>
                  <a:srgbClr val="000066"/>
                </a:solidFill>
              </a:rPr>
              <a:t>NTFS.sys</a:t>
            </a:r>
            <a:endParaRPr lang="en-US" altLang="zh-CN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A213E9-243C-4C2A-A7E0-DBB1D16F6052}" type="slidenum">
              <a:rPr lang="en-US" altLang="zh-CN" smtClean="0"/>
              <a:pPr/>
              <a:t>4</a:t>
            </a:fld>
            <a:endParaRPr lang="en-US" altLang="zh-CN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813"/>
            <a:ext cx="7772400" cy="1008062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FF0000"/>
                </a:solidFill>
              </a:rPr>
              <a:t>Windows </a:t>
            </a:r>
            <a:r>
              <a:rPr lang="zh-CN" altLang="en-US" sz="4000" b="1" smtClean="0">
                <a:solidFill>
                  <a:srgbClr val="FF0000"/>
                </a:solidFill>
              </a:rPr>
              <a:t>系统文件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628775"/>
            <a:ext cx="7992888" cy="4679950"/>
          </a:xfrm>
        </p:spPr>
        <p:txBody>
          <a:bodyPr/>
          <a:lstStyle/>
          <a:p>
            <a:pPr marL="648000" indent="-609600" eaLnBrk="1" hangingPunct="1">
              <a:spcBef>
                <a:spcPts val="6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en-US" altLang="zh-CN" sz="3000" b="1" dirty="0" smtClean="0">
                <a:solidFill>
                  <a:srgbClr val="FF0066"/>
                </a:solidFill>
              </a:rPr>
              <a:t>Ntoskrnl.exe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：执行体和内核</a:t>
            </a:r>
          </a:p>
          <a:p>
            <a:pPr marL="648000" indent="-609600" eaLnBrk="1" hangingPunct="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en-US" altLang="zh-CN" sz="3000" b="1" dirty="0" smtClean="0">
                <a:solidFill>
                  <a:srgbClr val="FF0066"/>
                </a:solidFill>
              </a:rPr>
              <a:t>csrss.exe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：</a:t>
            </a:r>
            <a:r>
              <a:rPr lang="en-US" altLang="zh-CN" sz="3000" b="1" dirty="0" smtClean="0">
                <a:solidFill>
                  <a:srgbClr val="000066"/>
                </a:solidFill>
              </a:rPr>
              <a:t>Windows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子系统进程，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为用户提供一个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图形界面。</a:t>
            </a:r>
          </a:p>
          <a:p>
            <a:pPr marL="648000" indent="-609600" eaLnBrk="1" hangingPunct="1">
              <a:spcBef>
                <a:spcPts val="6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en-US" altLang="zh-CN" sz="3000" b="1" dirty="0" smtClean="0">
                <a:solidFill>
                  <a:srgbClr val="FF0066"/>
                </a:solidFill>
              </a:rPr>
              <a:t>win32k.sys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：</a:t>
            </a:r>
            <a:r>
              <a:rPr lang="en-US" altLang="zh-CN" sz="3000" b="1" dirty="0" smtClean="0">
                <a:solidFill>
                  <a:srgbClr val="000066"/>
                </a:solidFill>
              </a:rPr>
              <a:t>Windows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子系统内核部分</a:t>
            </a:r>
          </a:p>
          <a:p>
            <a:pPr marL="648000" indent="-609600" eaLnBrk="1" hangingPunct="1">
              <a:spcBef>
                <a:spcPts val="6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kumimoji="0" lang="en-US" altLang="zh-CN" sz="3000" b="1" dirty="0" smtClean="0">
                <a:solidFill>
                  <a:srgbClr val="FF0066"/>
                </a:solidFill>
              </a:rPr>
              <a:t>NTFS.sys</a:t>
            </a:r>
            <a:r>
              <a:rPr kumimoji="0" lang="zh-CN" altLang="en-US" sz="3000" b="1" dirty="0" smtClean="0">
                <a:solidFill>
                  <a:srgbClr val="000066"/>
                </a:solidFill>
              </a:rPr>
              <a:t>：</a:t>
            </a:r>
            <a:r>
              <a:rPr kumimoji="0" lang="en-US" altLang="zh-CN" sz="3000" b="1" dirty="0" smtClean="0">
                <a:solidFill>
                  <a:srgbClr val="000066"/>
                </a:solidFill>
              </a:rPr>
              <a:t>NTFS</a:t>
            </a:r>
            <a:r>
              <a:rPr kumimoji="0" lang="zh-CN" altLang="en-US" sz="3000" b="1" dirty="0" smtClean="0">
                <a:solidFill>
                  <a:srgbClr val="000066"/>
                </a:solidFill>
              </a:rPr>
              <a:t>驱动程序</a:t>
            </a:r>
            <a:endParaRPr kumimoji="0" lang="en-US" altLang="zh-CN" sz="3000" b="1" dirty="0" smtClean="0">
              <a:solidFill>
                <a:srgbClr val="000066"/>
              </a:solidFill>
            </a:endParaRPr>
          </a:p>
          <a:p>
            <a:pPr marL="648000" indent="-609600" eaLnBrk="1" hangingPunct="1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en-US" altLang="zh-CN" sz="3000" b="1" dirty="0" smtClean="0">
                <a:solidFill>
                  <a:srgbClr val="FF0066"/>
                </a:solidFill>
              </a:rPr>
              <a:t>Explorer.exe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：</a:t>
            </a:r>
            <a:r>
              <a:rPr lang="en-US" altLang="zh-CN" sz="3000" b="1" dirty="0" smtClean="0">
                <a:solidFill>
                  <a:srgbClr val="000066"/>
                </a:solidFill>
              </a:rPr>
              <a:t>shell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进程，操作接口。</a:t>
            </a:r>
            <a:endParaRPr lang="en-US" altLang="zh-CN" sz="3000" b="1" dirty="0" smtClean="0">
              <a:solidFill>
                <a:srgbClr val="000066"/>
              </a:solidFill>
            </a:endParaRPr>
          </a:p>
          <a:p>
            <a:pPr marL="514350" indent="-514350" eaLnBrk="1" hangingPunct="1">
              <a:lnSpc>
                <a:spcPct val="110000"/>
              </a:lnSpc>
              <a:spcBef>
                <a:spcPct val="35000"/>
              </a:spcBef>
              <a:buClr>
                <a:srgbClr val="FF0000"/>
              </a:buClr>
              <a:buSzPct val="95000"/>
              <a:buFont typeface="+mj-lt"/>
              <a:buAutoNum type="arabicPeriod"/>
            </a:pPr>
            <a:r>
              <a:rPr lang="en-US" altLang="zh-CN" sz="3000" b="1" dirty="0" smtClean="0">
                <a:solidFill>
                  <a:srgbClr val="FF0066"/>
                </a:solidFill>
              </a:rPr>
              <a:t>Hal.dll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：硬件抽象层，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直接操纵硬件。隐藏各种与硬件有关的细节，使上层免受特殊硬件平台的影响， 系统可移植性好。</a:t>
            </a:r>
          </a:p>
          <a:p>
            <a:pPr marL="648000" indent="-609600" eaLnBrk="1" hangingPunct="1">
              <a:spcBef>
                <a:spcPts val="6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endParaRPr lang="en-US" altLang="zh-CN" sz="3000" b="1" dirty="0" smtClean="0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917976-D565-41BD-962E-1F348E10D7BF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3375"/>
            <a:ext cx="7918450" cy="12239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Windows</a:t>
            </a:r>
            <a:r>
              <a:rPr lang="zh-CN" altLang="en-US" b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子系统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57375"/>
            <a:ext cx="8229600" cy="4451350"/>
          </a:xfrm>
        </p:spPr>
        <p:txBody>
          <a:bodyPr/>
          <a:lstStyle/>
          <a:p>
            <a:pPr marL="609600" indent="-609600" algn="just" eaLnBrk="1" hangingPunct="1"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en-US" altLang="zh-CN" sz="2800" b="1" dirty="0" smtClean="0">
                <a:solidFill>
                  <a:srgbClr val="000066"/>
                </a:solidFill>
              </a:rPr>
              <a:t>Windows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子系统引入了</a:t>
            </a:r>
            <a:r>
              <a:rPr lang="zh-CN" altLang="en-US" sz="2800" b="1" dirty="0" smtClean="0">
                <a:solidFill>
                  <a:srgbClr val="FF00FF"/>
                </a:solidFill>
              </a:rPr>
              <a:t>窗口类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的概念，为窗口定义类型。</a:t>
            </a:r>
            <a:r>
              <a:rPr lang="zh-CN" altLang="en-US" sz="2800" b="1" dirty="0" smtClean="0">
                <a:solidFill>
                  <a:srgbClr val="FF00FF"/>
                </a:solidFill>
              </a:rPr>
              <a:t>窗口类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定义了窗口属性和窗口过程。</a:t>
            </a:r>
            <a:r>
              <a:rPr lang="zh-CN" altLang="en-US" sz="2800" b="1" dirty="0" smtClean="0">
                <a:solidFill>
                  <a:srgbClr val="FF00FF"/>
                </a:solidFill>
              </a:rPr>
              <a:t>窗口过程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用于处理该窗口的所有</a:t>
            </a:r>
            <a:r>
              <a:rPr lang="zh-CN" altLang="en-US" sz="2800" b="1" dirty="0" smtClean="0">
                <a:solidFill>
                  <a:srgbClr val="FF00FF"/>
                </a:solidFill>
              </a:rPr>
              <a:t>消息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。</a:t>
            </a:r>
            <a:endParaRPr lang="en-US" altLang="zh-CN" sz="2800" b="1" dirty="0" smtClean="0">
              <a:solidFill>
                <a:srgbClr val="000066"/>
              </a:solidFill>
            </a:endParaRPr>
          </a:p>
          <a:p>
            <a:pPr marL="609600" indent="-609600" algn="just" eaLnBrk="1" hangingPunct="1"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endParaRPr lang="en-US" altLang="zh-CN" sz="2800" b="1" dirty="0" smtClean="0">
              <a:solidFill>
                <a:srgbClr val="000066"/>
              </a:solidFill>
            </a:endParaRPr>
          </a:p>
          <a:p>
            <a:pPr marL="609600" indent="-609600" algn="just" eaLnBrk="1" hangingPunct="1"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en-US" altLang="zh-CN" sz="2800" b="1" dirty="0" smtClean="0">
                <a:solidFill>
                  <a:srgbClr val="000066"/>
                </a:solidFill>
              </a:rPr>
              <a:t>Windows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子系统内置了</a:t>
            </a:r>
            <a:r>
              <a:rPr lang="en-US" altLang="zh-CN" sz="2800" b="1" dirty="0" smtClean="0">
                <a:solidFill>
                  <a:srgbClr val="FF00FF"/>
                </a:solidFill>
              </a:rPr>
              <a:t>7</a:t>
            </a:r>
            <a:r>
              <a:rPr lang="zh-CN" altLang="en-US" sz="2800" b="1" dirty="0" smtClean="0">
                <a:solidFill>
                  <a:srgbClr val="FF00FF"/>
                </a:solidFill>
              </a:rPr>
              <a:t>个窗口类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：按钮、组合框、编辑框、列表框、多文档界面中的子窗口、滚动条、静态文本。</a:t>
            </a:r>
            <a:endParaRPr lang="en-US" altLang="zh-CN" sz="2800" b="1" dirty="0" smtClean="0">
              <a:solidFill>
                <a:srgbClr val="00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E758F6C-34D5-4143-ABFA-4904D6E05BED}" type="slidenum">
              <a:rPr lang="en-US" altLang="zh-CN" smtClean="0"/>
              <a:pPr/>
              <a:t>6</a:t>
            </a:fld>
            <a:endParaRPr lang="en-US" altLang="zh-CN" smtClean="0"/>
          </a:p>
        </p:txBody>
      </p:sp>
      <p:sp>
        <p:nvSpPr>
          <p:cNvPr id="9219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solidFill>
                  <a:srgbClr val="000066"/>
                </a:solidFill>
              </a:rPr>
              <a:t>窗口、消息</a:t>
            </a:r>
          </a:p>
        </p:txBody>
      </p:sp>
      <p:sp>
        <p:nvSpPr>
          <p:cNvPr id="922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844675"/>
            <a:ext cx="7772400" cy="4251325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Clr>
                <a:srgbClr val="CC0000"/>
              </a:buClr>
              <a:buFont typeface="Wingdings" pitchFamily="2" charset="2"/>
              <a:buChar char="l"/>
            </a:pPr>
            <a:r>
              <a:rPr lang="zh-CN" altLang="en-US" sz="2800" b="1" dirty="0" smtClean="0">
                <a:solidFill>
                  <a:srgbClr val="000066"/>
                </a:solidFill>
              </a:rPr>
              <a:t>对于每一个线程，一旦调用了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win32k.sys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里的系统服务，就变成一个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GUI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线程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，被纳入到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Windows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子系统管理范畴。</a:t>
            </a:r>
          </a:p>
          <a:p>
            <a:pPr eaLnBrk="1" hangingPunct="1">
              <a:lnSpc>
                <a:spcPct val="105000"/>
              </a:lnSpc>
              <a:buClr>
                <a:srgbClr val="CC0000"/>
              </a:buClr>
              <a:buFont typeface="Wingdings" pitchFamily="2" charset="2"/>
              <a:buChar char="l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csrss.exe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会创建一个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RIT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(raw input thread)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线程负责从设备获取原始输入，然后寄送到系统消息队列。</a:t>
            </a:r>
          </a:p>
          <a:p>
            <a:pPr eaLnBrk="1" hangingPunct="1">
              <a:lnSpc>
                <a:spcPct val="105000"/>
              </a:lnSpc>
              <a:buClr>
                <a:srgbClr val="CC0000"/>
              </a:buClr>
              <a:buFont typeface="Wingdings" pitchFamily="2" charset="2"/>
              <a:buChar char="l"/>
            </a:pPr>
            <a:r>
              <a:rPr kumimoji="0" lang="en-US" altLang="zh-CN" sz="2800" b="1" dirty="0" smtClean="0">
                <a:solidFill>
                  <a:srgbClr val="FF0000"/>
                </a:solidFill>
              </a:rPr>
              <a:t>GUI</a:t>
            </a:r>
            <a:r>
              <a:rPr kumimoji="0" lang="zh-CN" altLang="en-US" sz="2800" b="1" dirty="0" smtClean="0">
                <a:solidFill>
                  <a:srgbClr val="FF0000"/>
                </a:solidFill>
              </a:rPr>
              <a:t>线程</a:t>
            </a:r>
            <a:r>
              <a:rPr kumimoji="0" lang="zh-CN" altLang="en-US" sz="2800" b="1" dirty="0" smtClean="0">
                <a:solidFill>
                  <a:srgbClr val="000066"/>
                </a:solidFill>
              </a:rPr>
              <a:t>通过</a:t>
            </a:r>
            <a:r>
              <a:rPr kumimoji="0" lang="en-US" altLang="zh-CN" sz="2800" b="1" dirty="0" err="1" smtClean="0">
                <a:solidFill>
                  <a:srgbClr val="000066"/>
                </a:solidFill>
              </a:rPr>
              <a:t>NtUserGetMessage</a:t>
            </a:r>
            <a:r>
              <a:rPr kumimoji="0" lang="zh-CN" altLang="en-US" sz="2800" b="1" dirty="0" smtClean="0">
                <a:solidFill>
                  <a:srgbClr val="000066"/>
                </a:solidFill>
              </a:rPr>
              <a:t>获取消息并交给</a:t>
            </a:r>
            <a:r>
              <a:rPr kumimoji="0" lang="zh-CN" altLang="en-US" sz="2800" b="1" dirty="0" smtClean="0">
                <a:solidFill>
                  <a:srgbClr val="FF00FF"/>
                </a:solidFill>
              </a:rPr>
              <a:t>窗口过程</a:t>
            </a:r>
            <a:r>
              <a:rPr kumimoji="0" lang="zh-CN" altLang="en-US" sz="2800" b="1" dirty="0" smtClean="0">
                <a:solidFill>
                  <a:srgbClr val="000066"/>
                </a:solidFill>
              </a:rPr>
              <a:t>来处理。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FACC64-CAE7-4472-996F-9F88AC567883}" type="slidenum">
              <a:rPr lang="en-US" altLang="zh-CN" smtClean="0"/>
              <a:pPr/>
              <a:t>7</a:t>
            </a:fld>
            <a:endParaRPr lang="en-US" altLang="zh-CN" smtClean="0"/>
          </a:p>
        </p:txBody>
      </p:sp>
      <p:grpSp>
        <p:nvGrpSpPr>
          <p:cNvPr id="32" name="组合 31"/>
          <p:cNvGrpSpPr/>
          <p:nvPr/>
        </p:nvGrpSpPr>
        <p:grpSpPr>
          <a:xfrm>
            <a:off x="684213" y="1196975"/>
            <a:ext cx="8208962" cy="5183188"/>
            <a:chOff x="684213" y="1196975"/>
            <a:chExt cx="8208962" cy="5183188"/>
          </a:xfrm>
        </p:grpSpPr>
        <p:sp>
          <p:nvSpPr>
            <p:cNvPr id="10243" name="Rectangle 4"/>
            <p:cNvSpPr>
              <a:spLocks noChangeArrowheads="1"/>
            </p:cNvSpPr>
            <p:nvPr/>
          </p:nvSpPr>
          <p:spPr bwMode="auto">
            <a:xfrm>
              <a:off x="684213" y="2420938"/>
              <a:ext cx="792162" cy="208756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44" name="Text Box 5"/>
            <p:cNvSpPr txBox="1">
              <a:spLocks noChangeArrowheads="1"/>
            </p:cNvSpPr>
            <p:nvPr/>
          </p:nvSpPr>
          <p:spPr bwMode="auto">
            <a:xfrm>
              <a:off x="684213" y="1341438"/>
              <a:ext cx="1223962" cy="830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en-US" altLang="zh-CN" sz="2400">
                  <a:solidFill>
                    <a:srgbClr val="000066"/>
                  </a:solidFill>
                </a:rPr>
                <a:t>GUI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线程</a:t>
              </a:r>
            </a:p>
          </p:txBody>
        </p:sp>
        <p:sp>
          <p:nvSpPr>
            <p:cNvPr id="10245" name="Rectangle 6"/>
            <p:cNvSpPr>
              <a:spLocks noChangeArrowheads="1"/>
            </p:cNvSpPr>
            <p:nvPr/>
          </p:nvSpPr>
          <p:spPr bwMode="auto">
            <a:xfrm>
              <a:off x="3779838" y="2276475"/>
              <a:ext cx="792162" cy="165735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46" name="Text Box 7"/>
            <p:cNvSpPr txBox="1">
              <a:spLocks noChangeArrowheads="1"/>
            </p:cNvSpPr>
            <p:nvPr/>
          </p:nvSpPr>
          <p:spPr bwMode="auto">
            <a:xfrm>
              <a:off x="3779838" y="1196975"/>
              <a:ext cx="1223962" cy="830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en-US" altLang="zh-CN" sz="2400">
                  <a:solidFill>
                    <a:srgbClr val="000066"/>
                  </a:solidFill>
                </a:rPr>
                <a:t>RIT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线程</a:t>
              </a:r>
            </a:p>
          </p:txBody>
        </p:sp>
        <p:sp>
          <p:nvSpPr>
            <p:cNvPr id="10247" name="Rectangle 8"/>
            <p:cNvSpPr>
              <a:spLocks noChangeArrowheads="1"/>
            </p:cNvSpPr>
            <p:nvPr/>
          </p:nvSpPr>
          <p:spPr bwMode="auto">
            <a:xfrm>
              <a:off x="6443663" y="2349500"/>
              <a:ext cx="792162" cy="1584325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48" name="Text Box 9"/>
            <p:cNvSpPr txBox="1">
              <a:spLocks noChangeArrowheads="1"/>
            </p:cNvSpPr>
            <p:nvPr/>
          </p:nvSpPr>
          <p:spPr bwMode="auto">
            <a:xfrm>
              <a:off x="6443663" y="1268413"/>
              <a:ext cx="122396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桌面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线程</a:t>
              </a:r>
            </a:p>
          </p:txBody>
        </p:sp>
        <p:sp>
          <p:nvSpPr>
            <p:cNvPr id="10249" name="Rectangle 10"/>
            <p:cNvSpPr>
              <a:spLocks noChangeArrowheads="1"/>
            </p:cNvSpPr>
            <p:nvPr/>
          </p:nvSpPr>
          <p:spPr bwMode="auto">
            <a:xfrm>
              <a:off x="2195513" y="2852738"/>
              <a:ext cx="792162" cy="43180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50" name="Text Box 11"/>
            <p:cNvSpPr txBox="1">
              <a:spLocks noChangeArrowheads="1"/>
            </p:cNvSpPr>
            <p:nvPr/>
          </p:nvSpPr>
          <p:spPr bwMode="auto">
            <a:xfrm>
              <a:off x="2195513" y="1773238"/>
              <a:ext cx="1081087" cy="8302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消息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队列</a:t>
              </a:r>
            </a:p>
          </p:txBody>
        </p:sp>
        <p:sp>
          <p:nvSpPr>
            <p:cNvPr id="10251" name="Text Box 12"/>
            <p:cNvSpPr txBox="1">
              <a:spLocks noChangeArrowheads="1"/>
            </p:cNvSpPr>
            <p:nvPr/>
          </p:nvSpPr>
          <p:spPr bwMode="auto">
            <a:xfrm>
              <a:off x="5076825" y="2852738"/>
              <a:ext cx="1081088" cy="757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 dirty="0">
                  <a:solidFill>
                    <a:srgbClr val="000066"/>
                  </a:solidFill>
                </a:rPr>
                <a:t>鼠标</a:t>
              </a:r>
            </a:p>
            <a:p>
              <a:pPr marL="342900" indent="-342900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 dirty="0">
                  <a:solidFill>
                    <a:srgbClr val="000066"/>
                  </a:solidFill>
                </a:rPr>
                <a:t>事件</a:t>
              </a:r>
            </a:p>
          </p:txBody>
        </p:sp>
        <p:sp>
          <p:nvSpPr>
            <p:cNvPr id="10252" name="Text Box 13"/>
            <p:cNvSpPr txBox="1">
              <a:spLocks noChangeArrowheads="1"/>
            </p:cNvSpPr>
            <p:nvPr/>
          </p:nvSpPr>
          <p:spPr bwMode="auto">
            <a:xfrm>
              <a:off x="5076825" y="2205038"/>
              <a:ext cx="1081088" cy="420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键盘</a:t>
              </a:r>
            </a:p>
          </p:txBody>
        </p:sp>
        <p:sp>
          <p:nvSpPr>
            <p:cNvPr id="10253" name="Text Box 14"/>
            <p:cNvSpPr txBox="1">
              <a:spLocks noChangeArrowheads="1"/>
            </p:cNvSpPr>
            <p:nvPr/>
          </p:nvSpPr>
          <p:spPr bwMode="auto">
            <a:xfrm>
              <a:off x="5076825" y="3860800"/>
              <a:ext cx="1081088" cy="757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其他</a:t>
              </a:r>
            </a:p>
            <a:p>
              <a:pPr marL="342900" indent="-342900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设备</a:t>
              </a:r>
            </a:p>
          </p:txBody>
        </p:sp>
        <p:sp>
          <p:nvSpPr>
            <p:cNvPr id="10254" name="Text Box 15"/>
            <p:cNvSpPr txBox="1">
              <a:spLocks noChangeArrowheads="1"/>
            </p:cNvSpPr>
            <p:nvPr/>
          </p:nvSpPr>
          <p:spPr bwMode="auto">
            <a:xfrm>
              <a:off x="7812088" y="2420938"/>
              <a:ext cx="1081087" cy="4206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鼠标</a:t>
              </a:r>
            </a:p>
          </p:txBody>
        </p:sp>
        <p:pic>
          <p:nvPicPr>
            <p:cNvPr id="10255" name="Picture 17" descr="E元素 DS-241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812088" y="2997200"/>
              <a:ext cx="762000" cy="571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56" name="Rectangle 18"/>
            <p:cNvSpPr>
              <a:spLocks noChangeArrowheads="1"/>
            </p:cNvSpPr>
            <p:nvPr/>
          </p:nvSpPr>
          <p:spPr bwMode="auto">
            <a:xfrm>
              <a:off x="3635375" y="5372100"/>
              <a:ext cx="792163" cy="1008063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57" name="Text Box 19"/>
            <p:cNvSpPr txBox="1">
              <a:spLocks noChangeArrowheads="1"/>
            </p:cNvSpPr>
            <p:nvPr/>
          </p:nvSpPr>
          <p:spPr bwMode="auto">
            <a:xfrm>
              <a:off x="3563938" y="4437063"/>
              <a:ext cx="1223962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 dirty="0">
                  <a:solidFill>
                    <a:srgbClr val="000066"/>
                  </a:solidFill>
                </a:rPr>
                <a:t>其他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 dirty="0">
                  <a:solidFill>
                    <a:srgbClr val="000066"/>
                  </a:solidFill>
                </a:rPr>
                <a:t>线程</a:t>
              </a:r>
            </a:p>
          </p:txBody>
        </p:sp>
        <p:sp>
          <p:nvSpPr>
            <p:cNvPr id="10258" name="Rectangle 20"/>
            <p:cNvSpPr>
              <a:spLocks noChangeArrowheads="1"/>
            </p:cNvSpPr>
            <p:nvPr/>
          </p:nvSpPr>
          <p:spPr bwMode="auto">
            <a:xfrm>
              <a:off x="2124075" y="5445125"/>
              <a:ext cx="792163" cy="43180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59" name="Text Box 21"/>
            <p:cNvSpPr txBox="1">
              <a:spLocks noChangeArrowheads="1"/>
            </p:cNvSpPr>
            <p:nvPr/>
          </p:nvSpPr>
          <p:spPr bwMode="auto">
            <a:xfrm>
              <a:off x="2124075" y="4365625"/>
              <a:ext cx="1081088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消息</a:t>
              </a:r>
            </a:p>
            <a:p>
              <a:pPr marL="342900" indent="-342900">
                <a:lnSpc>
                  <a:spcPct val="100000"/>
                </a:lnSpc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 sz="2400">
                  <a:solidFill>
                    <a:srgbClr val="000066"/>
                  </a:solidFill>
                </a:rPr>
                <a:t>队列</a:t>
              </a:r>
            </a:p>
          </p:txBody>
        </p:sp>
        <p:sp>
          <p:nvSpPr>
            <p:cNvPr id="10260" name="Line 22"/>
            <p:cNvSpPr>
              <a:spLocks noChangeShapeType="1"/>
            </p:cNvSpPr>
            <p:nvPr/>
          </p:nvSpPr>
          <p:spPr bwMode="auto">
            <a:xfrm flipH="1">
              <a:off x="7235825" y="3213100"/>
              <a:ext cx="649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1" name="Line 23"/>
            <p:cNvSpPr>
              <a:spLocks noChangeShapeType="1"/>
            </p:cNvSpPr>
            <p:nvPr/>
          </p:nvSpPr>
          <p:spPr bwMode="auto">
            <a:xfrm flipH="1" flipV="1">
              <a:off x="1547813" y="4149725"/>
              <a:ext cx="504825" cy="14398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2" name="Line 24"/>
            <p:cNvSpPr>
              <a:spLocks noChangeShapeType="1"/>
            </p:cNvSpPr>
            <p:nvPr/>
          </p:nvSpPr>
          <p:spPr bwMode="auto">
            <a:xfrm flipH="1">
              <a:off x="1476375" y="3068638"/>
              <a:ext cx="649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3" name="Line 25"/>
            <p:cNvSpPr>
              <a:spLocks noChangeShapeType="1"/>
            </p:cNvSpPr>
            <p:nvPr/>
          </p:nvSpPr>
          <p:spPr bwMode="auto">
            <a:xfrm flipH="1">
              <a:off x="2987675" y="5661025"/>
              <a:ext cx="5762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4" name="Line 26"/>
            <p:cNvSpPr>
              <a:spLocks noChangeShapeType="1"/>
            </p:cNvSpPr>
            <p:nvPr/>
          </p:nvSpPr>
          <p:spPr bwMode="auto">
            <a:xfrm flipH="1" flipV="1">
              <a:off x="4643438" y="3789363"/>
              <a:ext cx="506412" cy="360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5" name="Line 27"/>
            <p:cNvSpPr>
              <a:spLocks noChangeShapeType="1"/>
            </p:cNvSpPr>
            <p:nvPr/>
          </p:nvSpPr>
          <p:spPr bwMode="auto">
            <a:xfrm flipH="1">
              <a:off x="4572000" y="3284538"/>
              <a:ext cx="504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6" name="Line 28"/>
            <p:cNvSpPr>
              <a:spLocks noChangeShapeType="1"/>
            </p:cNvSpPr>
            <p:nvPr/>
          </p:nvSpPr>
          <p:spPr bwMode="auto">
            <a:xfrm flipH="1">
              <a:off x="4641850" y="2492375"/>
              <a:ext cx="506413" cy="2889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7" name="Line 29"/>
            <p:cNvSpPr>
              <a:spLocks noChangeShapeType="1"/>
            </p:cNvSpPr>
            <p:nvPr/>
          </p:nvSpPr>
          <p:spPr bwMode="auto">
            <a:xfrm flipH="1">
              <a:off x="3059113" y="3068638"/>
              <a:ext cx="649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8" name="Line 30"/>
            <p:cNvSpPr>
              <a:spLocks noChangeShapeType="1"/>
            </p:cNvSpPr>
            <p:nvPr/>
          </p:nvSpPr>
          <p:spPr bwMode="auto">
            <a:xfrm flipH="1">
              <a:off x="5867400" y="3284538"/>
              <a:ext cx="5048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69" name="Arc 31"/>
            <p:cNvSpPr>
              <a:spLocks/>
            </p:cNvSpPr>
            <p:nvPr/>
          </p:nvSpPr>
          <p:spPr bwMode="auto">
            <a:xfrm>
              <a:off x="3851275" y="2636838"/>
              <a:ext cx="609600" cy="1079500"/>
            </a:xfrm>
            <a:custGeom>
              <a:avLst/>
              <a:gdLst>
                <a:gd name="T0" fmla="*/ 2147483647 w 30526"/>
                <a:gd name="T1" fmla="*/ 2147483647 h 43200"/>
                <a:gd name="T2" fmla="*/ 2147483647 w 30526"/>
                <a:gd name="T3" fmla="*/ 2147483647 h 43200"/>
                <a:gd name="T4" fmla="*/ 2147483647 w 30526"/>
                <a:gd name="T5" fmla="*/ 2147483647 h 43200"/>
                <a:gd name="T6" fmla="*/ 0 60000 65536"/>
                <a:gd name="T7" fmla="*/ 0 60000 65536"/>
                <a:gd name="T8" fmla="*/ 0 60000 65536"/>
                <a:gd name="T9" fmla="*/ 0 w 30526"/>
                <a:gd name="T10" fmla="*/ 0 h 43200"/>
                <a:gd name="T11" fmla="*/ 30526 w 305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526" h="43200" fill="none" extrusionOk="0">
                  <a:moveTo>
                    <a:pt x="30526" y="41269"/>
                  </a:moveTo>
                  <a:cubicBezTo>
                    <a:pt x="27722" y="42541"/>
                    <a:pt x="2467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4381" y="-1"/>
                    <a:pt x="27136" y="537"/>
                    <a:pt x="29714" y="1581"/>
                  </a:cubicBezTo>
                </a:path>
                <a:path w="30526" h="43200" stroke="0" extrusionOk="0">
                  <a:moveTo>
                    <a:pt x="30526" y="41269"/>
                  </a:moveTo>
                  <a:cubicBezTo>
                    <a:pt x="27722" y="42541"/>
                    <a:pt x="2467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4381" y="-1"/>
                    <a:pt x="27136" y="537"/>
                    <a:pt x="29714" y="158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70" name="Arc 32"/>
            <p:cNvSpPr>
              <a:spLocks/>
            </p:cNvSpPr>
            <p:nvPr/>
          </p:nvSpPr>
          <p:spPr bwMode="auto">
            <a:xfrm>
              <a:off x="6516688" y="2636838"/>
              <a:ext cx="609600" cy="1079500"/>
            </a:xfrm>
            <a:custGeom>
              <a:avLst/>
              <a:gdLst>
                <a:gd name="T0" fmla="*/ 2147483647 w 30526"/>
                <a:gd name="T1" fmla="*/ 2147483647 h 43200"/>
                <a:gd name="T2" fmla="*/ 2147483647 w 30526"/>
                <a:gd name="T3" fmla="*/ 2147483647 h 43200"/>
                <a:gd name="T4" fmla="*/ 2147483647 w 30526"/>
                <a:gd name="T5" fmla="*/ 2147483647 h 43200"/>
                <a:gd name="T6" fmla="*/ 0 60000 65536"/>
                <a:gd name="T7" fmla="*/ 0 60000 65536"/>
                <a:gd name="T8" fmla="*/ 0 60000 65536"/>
                <a:gd name="T9" fmla="*/ 0 w 30526"/>
                <a:gd name="T10" fmla="*/ 0 h 43200"/>
                <a:gd name="T11" fmla="*/ 30526 w 305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526" h="43200" fill="none" extrusionOk="0">
                  <a:moveTo>
                    <a:pt x="30526" y="41269"/>
                  </a:moveTo>
                  <a:cubicBezTo>
                    <a:pt x="27722" y="42541"/>
                    <a:pt x="2467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4381" y="-1"/>
                    <a:pt x="27136" y="537"/>
                    <a:pt x="29714" y="1581"/>
                  </a:cubicBezTo>
                </a:path>
                <a:path w="30526" h="43200" stroke="0" extrusionOk="0">
                  <a:moveTo>
                    <a:pt x="30526" y="41269"/>
                  </a:moveTo>
                  <a:cubicBezTo>
                    <a:pt x="27722" y="42541"/>
                    <a:pt x="2467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4381" y="-1"/>
                    <a:pt x="27136" y="537"/>
                    <a:pt x="29714" y="158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  <p:sp>
          <p:nvSpPr>
            <p:cNvPr id="10271" name="Arc 33"/>
            <p:cNvSpPr>
              <a:spLocks/>
            </p:cNvSpPr>
            <p:nvPr/>
          </p:nvSpPr>
          <p:spPr bwMode="auto">
            <a:xfrm>
              <a:off x="755650" y="2781300"/>
              <a:ext cx="609600" cy="1079500"/>
            </a:xfrm>
            <a:custGeom>
              <a:avLst/>
              <a:gdLst>
                <a:gd name="T0" fmla="*/ 2147483647 w 30526"/>
                <a:gd name="T1" fmla="*/ 2147483647 h 43200"/>
                <a:gd name="T2" fmla="*/ 2147483647 w 30526"/>
                <a:gd name="T3" fmla="*/ 2147483647 h 43200"/>
                <a:gd name="T4" fmla="*/ 2147483647 w 30526"/>
                <a:gd name="T5" fmla="*/ 2147483647 h 43200"/>
                <a:gd name="T6" fmla="*/ 0 60000 65536"/>
                <a:gd name="T7" fmla="*/ 0 60000 65536"/>
                <a:gd name="T8" fmla="*/ 0 60000 65536"/>
                <a:gd name="T9" fmla="*/ 0 w 30526"/>
                <a:gd name="T10" fmla="*/ 0 h 43200"/>
                <a:gd name="T11" fmla="*/ 30526 w 305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526" h="43200" fill="none" extrusionOk="0">
                  <a:moveTo>
                    <a:pt x="30526" y="41269"/>
                  </a:moveTo>
                  <a:cubicBezTo>
                    <a:pt x="27722" y="42541"/>
                    <a:pt x="2467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4381" y="-1"/>
                    <a:pt x="27136" y="537"/>
                    <a:pt x="29714" y="1581"/>
                  </a:cubicBezTo>
                </a:path>
                <a:path w="30526" h="43200" stroke="0" extrusionOk="0">
                  <a:moveTo>
                    <a:pt x="30526" y="41269"/>
                  </a:moveTo>
                  <a:cubicBezTo>
                    <a:pt x="27722" y="42541"/>
                    <a:pt x="2467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4381" y="-1"/>
                    <a:pt x="27136" y="537"/>
                    <a:pt x="29714" y="158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000066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34FC4B0-C6DC-45CD-AE8E-36C0182AB802}" type="slidenum">
              <a:rPr lang="en-US" altLang="zh-CN" smtClean="0"/>
              <a:pPr/>
              <a:t>8</a:t>
            </a:fld>
            <a:endParaRPr lang="en-US" altLang="zh-CN" smtClean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420888"/>
            <a:ext cx="7772400" cy="3816424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内核功能</a:t>
            </a:r>
            <a:r>
              <a:rPr lang="zh-CN" altLang="en-US" sz="2800" b="1" dirty="0" smtClean="0">
                <a:solidFill>
                  <a:srgbClr val="00B050"/>
                </a:solidFill>
              </a:rPr>
              <a:t>：线程调度，</a:t>
            </a:r>
            <a:r>
              <a:rPr lang="zh-CN" altLang="en-US" sz="2800" b="1" dirty="0" smtClean="0">
                <a:solidFill>
                  <a:srgbClr val="00B050"/>
                </a:solidFill>
              </a:rPr>
              <a:t>中断和异常</a:t>
            </a:r>
            <a:r>
              <a:rPr lang="zh-CN" altLang="en-US" sz="2800" b="1" dirty="0" smtClean="0">
                <a:solidFill>
                  <a:srgbClr val="00B050"/>
                </a:solidFill>
              </a:rPr>
              <a:t>调度，多处理机同步，提供执行体使用的一组例程和基本对象。</a:t>
            </a:r>
            <a:endParaRPr lang="en-US" altLang="zh-CN" sz="2800" b="1" dirty="0" smtClean="0">
              <a:solidFill>
                <a:srgbClr val="00B050"/>
              </a:solidFill>
            </a:endParaRPr>
          </a:p>
          <a:p>
            <a:pPr eaLnBrk="1" hangingPunct="1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FF0066"/>
                </a:solidFill>
              </a:rPr>
              <a:t>内核对象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是由内核实现的一个初级对象集，对用户态代码不可见，仅供执行体使用。</a:t>
            </a:r>
            <a:r>
              <a:rPr lang="zh-CN" altLang="en-US" sz="2800" b="1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endParaRPr lang="en-US" altLang="zh-CN" sz="2800" b="1" dirty="0" smtClean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eaLnBrk="1" hangingPunct="1">
              <a:buClr>
                <a:srgbClr val="FF0000"/>
              </a:buClr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FF0000"/>
                </a:solidFill>
              </a:rPr>
              <a:t>执行体</a:t>
            </a:r>
            <a:r>
              <a:rPr lang="zh-CN" altLang="en-US" sz="2800" b="1" dirty="0" smtClean="0">
                <a:solidFill>
                  <a:srgbClr val="FF0066"/>
                </a:solidFill>
              </a:rPr>
              <a:t>对象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绝大多数封装了一个或多个内核对象。</a:t>
            </a:r>
            <a:endParaRPr lang="en-US" altLang="zh-CN" sz="2800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Box 27"/>
          <p:cNvSpPr txBox="1">
            <a:spLocks noChangeArrowheads="1"/>
          </p:cNvSpPr>
          <p:nvPr/>
        </p:nvSpPr>
        <p:spPr bwMode="auto">
          <a:xfrm>
            <a:off x="2915816" y="1004653"/>
            <a:ext cx="3456383" cy="480131"/>
          </a:xfrm>
          <a:prstGeom prst="rect">
            <a:avLst/>
          </a:prstGeom>
          <a:solidFill>
            <a:srgbClr val="FF9933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zh-CN" altLang="en-US" dirty="0">
                <a:solidFill>
                  <a:srgbClr val="000099"/>
                </a:solidFill>
              </a:rPr>
              <a:t>执行</a:t>
            </a:r>
            <a:r>
              <a:rPr lang="zh-CN" altLang="en-US" dirty="0" smtClean="0">
                <a:solidFill>
                  <a:srgbClr val="000099"/>
                </a:solidFill>
              </a:rPr>
              <a:t>体 </a:t>
            </a:r>
            <a:r>
              <a:rPr lang="en-US" altLang="zh-CN" dirty="0" smtClean="0">
                <a:solidFill>
                  <a:srgbClr val="000099"/>
                </a:solidFill>
              </a:rPr>
              <a:t>P267</a:t>
            </a:r>
            <a:r>
              <a:rPr lang="zh-CN" altLang="en-US" dirty="0" smtClean="0">
                <a:solidFill>
                  <a:srgbClr val="000099"/>
                </a:solidFill>
              </a:rPr>
              <a:t> 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6" name="Text Box 29"/>
          <p:cNvSpPr txBox="1">
            <a:spLocks noChangeArrowheads="1"/>
          </p:cNvSpPr>
          <p:nvPr/>
        </p:nvSpPr>
        <p:spPr bwMode="auto">
          <a:xfrm>
            <a:off x="3205187" y="1508709"/>
            <a:ext cx="2808287" cy="480131"/>
          </a:xfrm>
          <a:prstGeom prst="rect">
            <a:avLst/>
          </a:prstGeom>
          <a:solidFill>
            <a:srgbClr val="FF9933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内核</a:t>
            </a:r>
            <a:endParaRPr lang="zh-CN" altLang="en-US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E7A6073-AD32-4FF3-A91D-9FC95AB6C22F}" type="slidenum">
              <a:rPr lang="en-US" altLang="zh-CN" smtClean="0"/>
              <a:pPr/>
              <a:t>9</a:t>
            </a:fld>
            <a:endParaRPr lang="en-US" altLang="zh-CN" smtClean="0"/>
          </a:p>
        </p:txBody>
      </p:sp>
      <p:sp>
        <p:nvSpPr>
          <p:cNvPr id="12291" name="Oval 4"/>
          <p:cNvSpPr>
            <a:spLocks noChangeArrowheads="1"/>
          </p:cNvSpPr>
          <p:nvPr/>
        </p:nvSpPr>
        <p:spPr bwMode="auto">
          <a:xfrm>
            <a:off x="1187450" y="1412875"/>
            <a:ext cx="3168650" cy="1511300"/>
          </a:xfrm>
          <a:prstGeom prst="ellips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2" name="Oval 5"/>
          <p:cNvSpPr>
            <a:spLocks noChangeArrowheads="1"/>
          </p:cNvSpPr>
          <p:nvPr/>
        </p:nvSpPr>
        <p:spPr bwMode="auto">
          <a:xfrm>
            <a:off x="1835150" y="1628775"/>
            <a:ext cx="2089150" cy="10080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marL="342900" indent="-342900" algn="ctr"/>
            <a:endParaRPr lang="zh-CN" altLang="zh-CN">
              <a:solidFill>
                <a:srgbClr val="CC6600"/>
              </a:solidFill>
            </a:endParaRPr>
          </a:p>
        </p:txBody>
      </p:sp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2047875" y="1665288"/>
            <a:ext cx="1803400" cy="8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FF0000"/>
                </a:solidFill>
              </a:rPr>
              <a:t>内核</a:t>
            </a:r>
          </a:p>
          <a:p>
            <a:pPr marL="342900" indent="-342900" algn="ctr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FF0000"/>
                </a:solidFill>
              </a:rPr>
              <a:t>进程对象</a:t>
            </a:r>
          </a:p>
        </p:txBody>
      </p:sp>
      <p:sp>
        <p:nvSpPr>
          <p:cNvPr id="12294" name="Text Box 7"/>
          <p:cNvSpPr txBox="1">
            <a:spLocks noChangeArrowheads="1"/>
          </p:cNvSpPr>
          <p:nvPr/>
        </p:nvSpPr>
        <p:spPr bwMode="auto">
          <a:xfrm>
            <a:off x="1258888" y="765175"/>
            <a:ext cx="338455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200" dirty="0" smtClean="0">
                <a:solidFill>
                  <a:srgbClr val="3333FF"/>
                </a:solidFill>
              </a:rPr>
              <a:t>执行体进程</a:t>
            </a:r>
            <a:r>
              <a:rPr lang="zh-CN" altLang="en-US" sz="3200" dirty="0">
                <a:solidFill>
                  <a:srgbClr val="3333FF"/>
                </a:solidFill>
              </a:rPr>
              <a:t>对象</a:t>
            </a:r>
          </a:p>
        </p:txBody>
      </p:sp>
      <p:sp>
        <p:nvSpPr>
          <p:cNvPr id="12295" name="Oval 8"/>
          <p:cNvSpPr>
            <a:spLocks noChangeArrowheads="1"/>
          </p:cNvSpPr>
          <p:nvPr/>
        </p:nvSpPr>
        <p:spPr bwMode="auto">
          <a:xfrm>
            <a:off x="5005388" y="2492375"/>
            <a:ext cx="3168650" cy="1511300"/>
          </a:xfrm>
          <a:prstGeom prst="ellips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6" name="Oval 9"/>
          <p:cNvSpPr>
            <a:spLocks noChangeArrowheads="1"/>
          </p:cNvSpPr>
          <p:nvPr/>
        </p:nvSpPr>
        <p:spPr bwMode="auto">
          <a:xfrm>
            <a:off x="5653088" y="2708275"/>
            <a:ext cx="2089150" cy="10080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Text Box 10"/>
          <p:cNvSpPr txBox="1">
            <a:spLocks noChangeArrowheads="1"/>
          </p:cNvSpPr>
          <p:nvPr/>
        </p:nvSpPr>
        <p:spPr bwMode="auto">
          <a:xfrm>
            <a:off x="5867400" y="2744788"/>
            <a:ext cx="1728788" cy="86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FF0000"/>
                </a:solidFill>
              </a:rPr>
              <a:t>内核</a:t>
            </a:r>
          </a:p>
          <a:p>
            <a:pPr marL="342900" indent="-342900" algn="ctr">
              <a:lnSpc>
                <a:spcPct val="80000"/>
              </a:lnSpc>
              <a:buFont typeface="Wingdings" pitchFamily="2" charset="2"/>
              <a:buNone/>
            </a:pPr>
            <a:r>
              <a:rPr kumimoji="0" lang="zh-CN" altLang="en-US">
                <a:solidFill>
                  <a:srgbClr val="FF0000"/>
                </a:solidFill>
              </a:rPr>
              <a:t>线程对</a:t>
            </a:r>
            <a:r>
              <a:rPr lang="zh-CN" altLang="en-US">
                <a:solidFill>
                  <a:srgbClr val="FF0000"/>
                </a:solidFill>
              </a:rPr>
              <a:t>象</a:t>
            </a:r>
          </a:p>
        </p:txBody>
      </p:sp>
      <p:sp>
        <p:nvSpPr>
          <p:cNvPr id="12298" name="Text Box 11"/>
          <p:cNvSpPr txBox="1">
            <a:spLocks noChangeArrowheads="1"/>
          </p:cNvSpPr>
          <p:nvPr/>
        </p:nvSpPr>
        <p:spPr bwMode="auto">
          <a:xfrm>
            <a:off x="5076824" y="1844675"/>
            <a:ext cx="342426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200" dirty="0" smtClean="0">
                <a:solidFill>
                  <a:srgbClr val="3333FF"/>
                </a:solidFill>
              </a:rPr>
              <a:t>执行体线程</a:t>
            </a:r>
            <a:r>
              <a:rPr lang="zh-CN" altLang="en-US" sz="3200" dirty="0">
                <a:solidFill>
                  <a:srgbClr val="3333FF"/>
                </a:solidFill>
              </a:rPr>
              <a:t>对象</a:t>
            </a:r>
          </a:p>
        </p:txBody>
      </p:sp>
      <p:sp>
        <p:nvSpPr>
          <p:cNvPr id="12299" name="Oval 12"/>
          <p:cNvSpPr>
            <a:spLocks noChangeArrowheads="1"/>
          </p:cNvSpPr>
          <p:nvPr/>
        </p:nvSpPr>
        <p:spPr bwMode="auto">
          <a:xfrm>
            <a:off x="4643438" y="4471988"/>
            <a:ext cx="3168650" cy="1511300"/>
          </a:xfrm>
          <a:prstGeom prst="ellips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0" name="Oval 13"/>
          <p:cNvSpPr>
            <a:spLocks noChangeArrowheads="1"/>
          </p:cNvSpPr>
          <p:nvPr/>
        </p:nvSpPr>
        <p:spPr bwMode="auto">
          <a:xfrm>
            <a:off x="5291138" y="4687888"/>
            <a:ext cx="2089150" cy="1008062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marL="342900" indent="-342900" algn="ctr">
              <a:buFont typeface="Wingdings" pitchFamily="2" charset="2"/>
              <a:buNone/>
            </a:pPr>
            <a:endParaRPr lang="zh-CN" altLang="zh-CN"/>
          </a:p>
        </p:txBody>
      </p:sp>
      <p:sp>
        <p:nvSpPr>
          <p:cNvPr id="12301" name="Text Box 14"/>
          <p:cNvSpPr txBox="1">
            <a:spLocks noChangeArrowheads="1"/>
          </p:cNvSpPr>
          <p:nvPr/>
        </p:nvSpPr>
        <p:spPr bwMode="auto">
          <a:xfrm>
            <a:off x="5505450" y="4724400"/>
            <a:ext cx="1803400" cy="8604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>
                <a:solidFill>
                  <a:srgbClr val="FF0000"/>
                </a:solidFill>
              </a:rPr>
              <a:t>内核</a:t>
            </a:r>
          </a:p>
          <a:p>
            <a:pPr marL="342900" indent="-342900" algn="ctr">
              <a:lnSpc>
                <a:spcPct val="80000"/>
              </a:lnSpc>
              <a:buFont typeface="Wingdings" pitchFamily="2" charset="2"/>
              <a:buNone/>
            </a:pPr>
            <a:r>
              <a:rPr kumimoji="0" lang="zh-CN" altLang="en-US">
                <a:solidFill>
                  <a:srgbClr val="FF0000"/>
                </a:solidFill>
              </a:rPr>
              <a:t>线程对</a:t>
            </a:r>
            <a:r>
              <a:rPr lang="zh-CN" altLang="en-US">
                <a:solidFill>
                  <a:srgbClr val="FF0000"/>
                </a:solidFill>
              </a:rPr>
              <a:t>象</a:t>
            </a:r>
          </a:p>
        </p:txBody>
      </p:sp>
      <p:sp>
        <p:nvSpPr>
          <p:cNvPr id="12302" name="Line 15"/>
          <p:cNvSpPr>
            <a:spLocks noChangeShapeType="1"/>
          </p:cNvSpPr>
          <p:nvPr/>
        </p:nvSpPr>
        <p:spPr bwMode="auto">
          <a:xfrm>
            <a:off x="3851275" y="2349500"/>
            <a:ext cx="1800225" cy="792163"/>
          </a:xfrm>
          <a:prstGeom prst="line">
            <a:avLst/>
          </a:pr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03" name="Freeform 16"/>
          <p:cNvSpPr>
            <a:spLocks/>
          </p:cNvSpPr>
          <p:nvPr/>
        </p:nvSpPr>
        <p:spPr bwMode="auto">
          <a:xfrm>
            <a:off x="7380288" y="3357563"/>
            <a:ext cx="1031875" cy="1655762"/>
          </a:xfrm>
          <a:custGeom>
            <a:avLst/>
            <a:gdLst>
              <a:gd name="T0" fmla="*/ 2147483647 w 650"/>
              <a:gd name="T1" fmla="*/ 0 h 1043"/>
              <a:gd name="T2" fmla="*/ 2147483647 w 650"/>
              <a:gd name="T3" fmla="*/ 2147483647 h 1043"/>
              <a:gd name="T4" fmla="*/ 2147483647 w 650"/>
              <a:gd name="T5" fmla="*/ 2147483647 h 1043"/>
              <a:gd name="T6" fmla="*/ 2147483647 w 650"/>
              <a:gd name="T7" fmla="*/ 2147483647 h 1043"/>
              <a:gd name="T8" fmla="*/ 2147483647 w 650"/>
              <a:gd name="T9" fmla="*/ 2147483647 h 1043"/>
              <a:gd name="T10" fmla="*/ 2147483647 w 650"/>
              <a:gd name="T11" fmla="*/ 2147483647 h 1043"/>
              <a:gd name="T12" fmla="*/ 0 w 650"/>
              <a:gd name="T13" fmla="*/ 2147483647 h 104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50"/>
              <a:gd name="T22" fmla="*/ 0 h 1043"/>
              <a:gd name="T23" fmla="*/ 650 w 650"/>
              <a:gd name="T24" fmla="*/ 1043 h 104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50" h="1043">
                <a:moveTo>
                  <a:pt x="181" y="0"/>
                </a:moveTo>
                <a:cubicBezTo>
                  <a:pt x="260" y="22"/>
                  <a:pt x="340" y="45"/>
                  <a:pt x="408" y="90"/>
                </a:cubicBezTo>
                <a:cubicBezTo>
                  <a:pt x="476" y="135"/>
                  <a:pt x="552" y="197"/>
                  <a:pt x="590" y="272"/>
                </a:cubicBezTo>
                <a:cubicBezTo>
                  <a:pt x="628" y="347"/>
                  <a:pt x="650" y="469"/>
                  <a:pt x="635" y="544"/>
                </a:cubicBezTo>
                <a:cubicBezTo>
                  <a:pt x="620" y="619"/>
                  <a:pt x="559" y="665"/>
                  <a:pt x="499" y="725"/>
                </a:cubicBezTo>
                <a:cubicBezTo>
                  <a:pt x="439" y="785"/>
                  <a:pt x="355" y="854"/>
                  <a:pt x="272" y="907"/>
                </a:cubicBezTo>
                <a:cubicBezTo>
                  <a:pt x="189" y="960"/>
                  <a:pt x="45" y="1020"/>
                  <a:pt x="0" y="1043"/>
                </a:cubicBez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AEDF0AE-8129-4C96-82BE-7A0E4A9834D6}" type="slidenum">
              <a:rPr lang="en-US" altLang="zh-CN" smtClean="0"/>
              <a:pPr/>
              <a:t>10</a:t>
            </a:fld>
            <a:endParaRPr lang="en-US" altLang="zh-CN" dirty="0" smtClean="0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7772400" cy="9080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内核对象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808"/>
            <a:ext cx="8208714" cy="4623792"/>
          </a:xfrm>
        </p:spPr>
        <p:txBody>
          <a:bodyPr/>
          <a:lstStyle/>
          <a:p>
            <a:pPr eaLnBrk="1" hangingPunct="1">
              <a:spcBef>
                <a:spcPts val="12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FF0066"/>
                </a:solidFill>
              </a:rPr>
              <a:t>控制对象</a:t>
            </a:r>
            <a:r>
              <a:rPr lang="zh-CN" altLang="en-US" sz="2800" b="1" dirty="0" smtClean="0">
                <a:solidFill>
                  <a:srgbClr val="FF0066"/>
                </a:solidFill>
              </a:rPr>
              <a:t>：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APC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、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DPC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、中断对象等。用于控制内核操作，但不影响线程调度。</a:t>
            </a:r>
            <a:endParaRPr lang="en-US" altLang="zh-CN" sz="2800" b="1" dirty="0" smtClean="0">
              <a:solidFill>
                <a:srgbClr val="000066"/>
              </a:solidFill>
            </a:endParaRP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SzPct val="90000"/>
              <a:buFont typeface="Wingdings" pitchFamily="2" charset="2"/>
              <a:buChar char="n"/>
            </a:pPr>
            <a:r>
              <a:rPr lang="zh-CN" altLang="en-US" sz="2800" b="1" dirty="0" smtClean="0">
                <a:solidFill>
                  <a:srgbClr val="FF0066"/>
                </a:solidFill>
              </a:rPr>
              <a:t>调度程序对象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（分发器对象 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dispatcher object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）：内核进程、内核线程、事件对象、互斥体、信号量、定时器等。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</a:rPr>
              <a:t>每个数据结构头部为</a:t>
            </a:r>
            <a:r>
              <a:rPr lang="en-US" altLang="zh-CN" sz="2800" b="1" dirty="0" smtClean="0">
                <a:solidFill>
                  <a:schemeClr val="accent1">
                    <a:lumMod val="75000"/>
                  </a:schemeClr>
                </a:solidFill>
              </a:rPr>
              <a:t>DISPATCHER_HEADER</a:t>
            </a:r>
            <a:r>
              <a:rPr lang="zh-CN" altLang="en-US" sz="2800" b="1" dirty="0" smtClean="0">
                <a:solidFill>
                  <a:schemeClr val="accent1">
                    <a:lumMod val="75000"/>
                  </a:schemeClr>
                </a:solidFill>
              </a:rPr>
              <a:t>结构。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用来同步进程和线程操作，并影响线程调度。</a:t>
            </a:r>
            <a:endParaRPr lang="zh-CN" altLang="en-US" sz="2800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52E168-9426-4097-B135-6992EDC5455E}" type="slidenum">
              <a:rPr lang="en-US" altLang="zh-CN" smtClean="0"/>
              <a:pPr/>
              <a:t>11</a:t>
            </a:fld>
            <a:endParaRPr lang="en-US" altLang="zh-CN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214553"/>
            <a:ext cx="8075612" cy="3890971"/>
          </a:xfrm>
        </p:spPr>
        <p:txBody>
          <a:bodyPr/>
          <a:lstStyle/>
          <a:p>
            <a:pPr marL="609600" indent="-609600" eaLnBrk="1" hangingPunct="1">
              <a:spcBef>
                <a:spcPct val="150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zh-CN" altLang="en-US" b="1" dirty="0" smtClean="0">
                <a:solidFill>
                  <a:srgbClr val="000066"/>
                </a:solidFill>
              </a:rPr>
              <a:t> 融合了</a:t>
            </a:r>
            <a:r>
              <a:rPr lang="zh-CN" altLang="en-US" b="1" dirty="0" smtClean="0">
                <a:solidFill>
                  <a:srgbClr val="FF00FF"/>
                </a:solidFill>
              </a:rPr>
              <a:t>分层</a:t>
            </a:r>
            <a:r>
              <a:rPr lang="zh-CN" altLang="en-US" b="1" dirty="0" smtClean="0">
                <a:solidFill>
                  <a:srgbClr val="000066"/>
                </a:solidFill>
              </a:rPr>
              <a:t>模型和</a:t>
            </a:r>
            <a:r>
              <a:rPr lang="zh-CN" altLang="en-US" b="1" dirty="0" smtClean="0">
                <a:solidFill>
                  <a:srgbClr val="FF00FF"/>
                </a:solidFill>
              </a:rPr>
              <a:t>客户</a:t>
            </a:r>
            <a:r>
              <a:rPr lang="en-US" altLang="zh-CN" b="1" dirty="0" smtClean="0">
                <a:solidFill>
                  <a:srgbClr val="FF00FF"/>
                </a:solidFill>
              </a:rPr>
              <a:t>/</a:t>
            </a:r>
            <a:r>
              <a:rPr lang="zh-CN" altLang="en-US" b="1" dirty="0" smtClean="0">
                <a:solidFill>
                  <a:srgbClr val="FF00FF"/>
                </a:solidFill>
              </a:rPr>
              <a:t>服务器</a:t>
            </a:r>
            <a:r>
              <a:rPr lang="zh-CN" altLang="en-US" b="1" dirty="0" smtClean="0">
                <a:solidFill>
                  <a:srgbClr val="000066"/>
                </a:solidFill>
              </a:rPr>
              <a:t>模型。客户进程和服务器进程通过执行体中的</a:t>
            </a:r>
            <a:r>
              <a:rPr lang="zh-CN" altLang="en-US" b="1" dirty="0" smtClean="0">
                <a:solidFill>
                  <a:srgbClr val="FF00FF"/>
                </a:solidFill>
              </a:rPr>
              <a:t>消息传递</a:t>
            </a:r>
            <a:r>
              <a:rPr lang="zh-CN" altLang="en-US" b="1" dirty="0" smtClean="0">
                <a:solidFill>
                  <a:srgbClr val="000066"/>
                </a:solidFill>
              </a:rPr>
              <a:t>工具进行通信。</a:t>
            </a:r>
            <a:endParaRPr lang="en-US" altLang="zh-CN" b="1" dirty="0" smtClean="0">
              <a:solidFill>
                <a:srgbClr val="000066"/>
              </a:solidFill>
            </a:endParaRPr>
          </a:p>
          <a:p>
            <a:pPr marL="609600" indent="-609600" eaLnBrk="1" hangingPunct="1">
              <a:spcBef>
                <a:spcPct val="150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zh-CN" altLang="en-US" b="1" dirty="0" smtClean="0">
                <a:solidFill>
                  <a:srgbClr val="000066"/>
                </a:solidFill>
              </a:rPr>
              <a:t>核心态组件使用了面向对象的设计原则，但</a:t>
            </a:r>
            <a:r>
              <a:rPr lang="zh-CN" altLang="en-US" b="1" dirty="0" smtClean="0">
                <a:solidFill>
                  <a:srgbClr val="FF00FF"/>
                </a:solidFill>
              </a:rPr>
              <a:t>不是一个面向对象的操作系统。</a:t>
            </a:r>
          </a:p>
          <a:p>
            <a:pPr marL="609600" indent="-609600" eaLnBrk="1" hangingPunct="1">
              <a:spcBef>
                <a:spcPct val="15000"/>
              </a:spcBef>
              <a:buClr>
                <a:srgbClr val="FF0000"/>
              </a:buClr>
              <a:buFont typeface="Wingdings" pitchFamily="2" charset="2"/>
              <a:buAutoNum type="arabicPeriod"/>
            </a:pPr>
            <a:endParaRPr lang="zh-CN" altLang="en-US" b="1" dirty="0" smtClean="0">
              <a:solidFill>
                <a:srgbClr val="000066"/>
              </a:solidFill>
            </a:endParaRPr>
          </a:p>
        </p:txBody>
      </p:sp>
      <p:sp>
        <p:nvSpPr>
          <p:cNvPr id="15364" name="AutoShape 4"/>
          <p:cNvSpPr>
            <a:spLocks noChangeArrowheads="1"/>
          </p:cNvSpPr>
          <p:nvPr/>
        </p:nvSpPr>
        <p:spPr bwMode="auto">
          <a:xfrm>
            <a:off x="468313" y="260350"/>
            <a:ext cx="8435975" cy="1447800"/>
          </a:xfrm>
          <a:prstGeom prst="horizontalScroll">
            <a:avLst>
              <a:gd name="adj" fmla="val 13986"/>
            </a:avLst>
          </a:prstGeom>
          <a:solidFill>
            <a:schemeClr val="bg1"/>
          </a:solidFill>
          <a:ln w="3810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zh-CN" sz="4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14.2   Windows </a:t>
            </a:r>
            <a:r>
              <a:rPr lang="zh-CN" alt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特点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B9E8F0D-FACE-4F5B-AEEE-D23DFC446E86}" type="slidenum">
              <a:rPr lang="en-US" altLang="zh-CN" smtClean="0"/>
              <a:pPr/>
              <a:t>12</a:t>
            </a:fld>
            <a:endParaRPr lang="en-US" altLang="zh-CN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349500"/>
            <a:ext cx="7918450" cy="395982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Clr>
                <a:srgbClr val="FF0000"/>
              </a:buClr>
              <a:buSzPct val="90000"/>
              <a:buFont typeface="Wingdings" pitchFamily="2" charset="2"/>
              <a:buAutoNum type="circleNumDbPlain"/>
            </a:pPr>
            <a:r>
              <a:rPr lang="zh-CN" altLang="en-US" b="1" dirty="0" smtClean="0">
                <a:solidFill>
                  <a:srgbClr val="FF0066"/>
                </a:solidFill>
              </a:rPr>
              <a:t>陷阱调度</a:t>
            </a:r>
            <a:r>
              <a:rPr lang="zh-CN" altLang="en-US" b="1" dirty="0" smtClean="0">
                <a:solidFill>
                  <a:srgbClr val="000066"/>
                </a:solidFill>
              </a:rPr>
              <a:t>。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属于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内核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的功能。包括中断、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DPC 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、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APC 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、异常调度、系统服务调度。</a:t>
            </a:r>
          </a:p>
          <a:p>
            <a:pPr marL="609600" indent="-609600" eaLnBrk="1" hangingPunct="1">
              <a:lnSpc>
                <a:spcPct val="90000"/>
              </a:lnSpc>
              <a:buClr>
                <a:srgbClr val="FF0000"/>
              </a:buClr>
              <a:buSzPct val="90000"/>
              <a:buFont typeface="Wingdings" pitchFamily="2" charset="2"/>
              <a:buAutoNum type="circleNumDbPlain"/>
            </a:pPr>
            <a:r>
              <a:rPr lang="zh-CN" altLang="en-US" b="1" dirty="0" smtClean="0">
                <a:solidFill>
                  <a:srgbClr val="FF0066"/>
                </a:solidFill>
              </a:rPr>
              <a:t>执行体对象管理器</a:t>
            </a:r>
            <a:r>
              <a:rPr lang="zh-CN" altLang="en-US" b="1" dirty="0" smtClean="0">
                <a:solidFill>
                  <a:srgbClr val="000066"/>
                </a:solidFill>
              </a:rPr>
              <a:t>。</a:t>
            </a:r>
          </a:p>
          <a:p>
            <a:pPr marL="609600" indent="-609600" eaLnBrk="1" hangingPunct="1">
              <a:lnSpc>
                <a:spcPct val="90000"/>
              </a:lnSpc>
              <a:buClr>
                <a:srgbClr val="FF0000"/>
              </a:buClr>
              <a:buSzPct val="90000"/>
              <a:buFont typeface="Wingdings" pitchFamily="2" charset="2"/>
              <a:buAutoNum type="circleNumDbPlain"/>
            </a:pPr>
            <a:r>
              <a:rPr lang="zh-CN" altLang="en-US" b="1" dirty="0" smtClean="0">
                <a:solidFill>
                  <a:srgbClr val="FF0066"/>
                </a:solidFill>
              </a:rPr>
              <a:t>同步</a:t>
            </a:r>
            <a:r>
              <a:rPr lang="zh-CN" altLang="en-US" b="1" dirty="0" smtClean="0">
                <a:solidFill>
                  <a:srgbClr val="000066"/>
                </a:solidFill>
              </a:rPr>
              <a:t>。自旋锁、内核调度程序对象。</a:t>
            </a:r>
          </a:p>
          <a:p>
            <a:pPr marL="609600" indent="-609600" eaLnBrk="1" hangingPunct="1">
              <a:lnSpc>
                <a:spcPct val="90000"/>
              </a:lnSpc>
              <a:buClr>
                <a:srgbClr val="FF0000"/>
              </a:buClr>
              <a:buSzPct val="90000"/>
              <a:buFont typeface="Wingdings" pitchFamily="2" charset="2"/>
              <a:buAutoNum type="circleNumDbPlain"/>
            </a:pPr>
            <a:r>
              <a:rPr lang="zh-CN" altLang="en-US" b="1" dirty="0" smtClean="0">
                <a:solidFill>
                  <a:srgbClr val="FF0066"/>
                </a:solidFill>
              </a:rPr>
              <a:t>本地过程调用</a:t>
            </a:r>
            <a:r>
              <a:rPr lang="en-US" altLang="zh-CN" b="1" dirty="0" smtClean="0">
                <a:solidFill>
                  <a:srgbClr val="FF0066"/>
                </a:solidFill>
              </a:rPr>
              <a:t>LPC</a:t>
            </a:r>
            <a:r>
              <a:rPr lang="zh-CN" altLang="en-US" b="1" dirty="0" smtClean="0">
                <a:solidFill>
                  <a:srgbClr val="000066"/>
                </a:solidFill>
              </a:rPr>
              <a:t>。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在同一台计算机上实现客户进程和服务器进程之间的消息传递。服务器创建一个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LPC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连接端口对象，然后在该端口上监听客户连接请求。类似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sochet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编程。</a:t>
            </a:r>
          </a:p>
        </p:txBody>
      </p:sp>
      <p:sp>
        <p:nvSpPr>
          <p:cNvPr id="55300" name="AutoShape 4"/>
          <p:cNvSpPr>
            <a:spLocks noChangeArrowheads="1"/>
          </p:cNvSpPr>
          <p:nvPr/>
        </p:nvSpPr>
        <p:spPr bwMode="auto">
          <a:xfrm>
            <a:off x="323850" y="260350"/>
            <a:ext cx="8515350" cy="1760538"/>
          </a:xfrm>
          <a:prstGeom prst="horizontalScroll">
            <a:avLst>
              <a:gd name="adj" fmla="val 13986"/>
            </a:avLst>
          </a:prstGeom>
          <a:solidFill>
            <a:schemeClr val="bg1"/>
          </a:solidFill>
          <a:ln w="3810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zh-CN" sz="4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14.3  Windows</a:t>
            </a:r>
            <a:r>
              <a:rPr lang="zh-CN" alt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的系统机制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B7503F6-C91F-4BED-BD7C-FBEFCF02E13C}" type="slidenum">
              <a:rPr lang="en-US" altLang="zh-CN" smtClean="0"/>
              <a:pPr/>
              <a:t>13</a:t>
            </a:fld>
            <a:endParaRPr lang="en-US" altLang="zh-CN" smtClean="0"/>
          </a:p>
        </p:txBody>
      </p:sp>
      <p:grpSp>
        <p:nvGrpSpPr>
          <p:cNvPr id="19459" name="Group 44"/>
          <p:cNvGrpSpPr>
            <a:grpSpLocks/>
          </p:cNvGrpSpPr>
          <p:nvPr/>
        </p:nvGrpSpPr>
        <p:grpSpPr bwMode="auto">
          <a:xfrm>
            <a:off x="179388" y="381000"/>
            <a:ext cx="8915400" cy="5608638"/>
            <a:chOff x="144" y="240"/>
            <a:chExt cx="5616" cy="3533"/>
          </a:xfrm>
        </p:grpSpPr>
        <p:sp>
          <p:nvSpPr>
            <p:cNvPr id="19460" name="Rectangle 6"/>
            <p:cNvSpPr>
              <a:spLocks noChangeArrowheads="1"/>
            </p:cNvSpPr>
            <p:nvPr/>
          </p:nvSpPr>
          <p:spPr bwMode="auto">
            <a:xfrm>
              <a:off x="4413" y="2471"/>
              <a:ext cx="1014" cy="44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zh-CN" sz="2000"/>
            </a:p>
          </p:txBody>
        </p:sp>
        <p:sp>
          <p:nvSpPr>
            <p:cNvPr id="19461" name="Rectangle 7"/>
            <p:cNvSpPr>
              <a:spLocks noChangeArrowheads="1"/>
            </p:cNvSpPr>
            <p:nvPr/>
          </p:nvSpPr>
          <p:spPr bwMode="auto">
            <a:xfrm>
              <a:off x="4485" y="2583"/>
              <a:ext cx="1014" cy="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zh-CN" sz="2000"/>
            </a:p>
          </p:txBody>
        </p:sp>
        <p:sp>
          <p:nvSpPr>
            <p:cNvPr id="19462" name="Rectangle 8"/>
            <p:cNvSpPr>
              <a:spLocks noChangeArrowheads="1"/>
            </p:cNvSpPr>
            <p:nvPr/>
          </p:nvSpPr>
          <p:spPr bwMode="auto">
            <a:xfrm>
              <a:off x="4558" y="2696"/>
              <a:ext cx="1202" cy="44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>
                  <a:solidFill>
                    <a:srgbClr val="000066"/>
                  </a:solidFill>
                </a:rPr>
                <a:t>异常处理程序</a:t>
              </a:r>
            </a:p>
          </p:txBody>
        </p:sp>
        <p:sp>
          <p:nvSpPr>
            <p:cNvPr id="19463" name="Rectangle 10"/>
            <p:cNvSpPr>
              <a:spLocks noChangeArrowheads="1"/>
            </p:cNvSpPr>
            <p:nvPr/>
          </p:nvSpPr>
          <p:spPr bwMode="auto">
            <a:xfrm>
              <a:off x="768" y="240"/>
              <a:ext cx="1872" cy="35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3600">
                  <a:solidFill>
                    <a:srgbClr val="FF0066"/>
                  </a:solidFill>
                </a:rPr>
                <a:t>陷阱处理程序</a:t>
              </a:r>
            </a:p>
          </p:txBody>
        </p:sp>
        <p:sp>
          <p:nvSpPr>
            <p:cNvPr id="19464" name="Rectangle 11"/>
            <p:cNvSpPr>
              <a:spLocks noChangeArrowheads="1"/>
            </p:cNvSpPr>
            <p:nvPr/>
          </p:nvSpPr>
          <p:spPr bwMode="auto">
            <a:xfrm>
              <a:off x="192" y="2976"/>
              <a:ext cx="768" cy="5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虚地址异常</a:t>
              </a:r>
            </a:p>
          </p:txBody>
        </p:sp>
        <p:sp>
          <p:nvSpPr>
            <p:cNvPr id="19465" name="Rectangle 12"/>
            <p:cNvSpPr>
              <a:spLocks noChangeArrowheads="1"/>
            </p:cNvSpPr>
            <p:nvPr/>
          </p:nvSpPr>
          <p:spPr bwMode="auto">
            <a:xfrm>
              <a:off x="144" y="2256"/>
              <a:ext cx="960" cy="52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硬件异常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软件异常</a:t>
              </a:r>
            </a:p>
          </p:txBody>
        </p:sp>
        <p:sp>
          <p:nvSpPr>
            <p:cNvPr id="19466" name="Rectangle 13"/>
            <p:cNvSpPr>
              <a:spLocks noChangeArrowheads="1"/>
            </p:cNvSpPr>
            <p:nvPr/>
          </p:nvSpPr>
          <p:spPr bwMode="auto">
            <a:xfrm>
              <a:off x="192" y="1504"/>
              <a:ext cx="816" cy="5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系统服务调用</a:t>
              </a:r>
            </a:p>
          </p:txBody>
        </p:sp>
        <p:sp>
          <p:nvSpPr>
            <p:cNvPr id="19467" name="Rectangle 14"/>
            <p:cNvSpPr>
              <a:spLocks noChangeArrowheads="1"/>
            </p:cNvSpPr>
            <p:nvPr/>
          </p:nvSpPr>
          <p:spPr bwMode="auto">
            <a:xfrm>
              <a:off x="1104" y="671"/>
              <a:ext cx="1248" cy="29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Rectangle 16"/>
            <p:cNvSpPr>
              <a:spLocks noChangeArrowheads="1"/>
            </p:cNvSpPr>
            <p:nvPr/>
          </p:nvSpPr>
          <p:spPr bwMode="auto">
            <a:xfrm>
              <a:off x="2536" y="677"/>
              <a:ext cx="1316" cy="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zh-CN" sz="2000"/>
            </a:p>
          </p:txBody>
        </p:sp>
        <p:sp>
          <p:nvSpPr>
            <p:cNvPr id="19469" name="Rectangle 17"/>
            <p:cNvSpPr>
              <a:spLocks noChangeArrowheads="1"/>
            </p:cNvSpPr>
            <p:nvPr/>
          </p:nvSpPr>
          <p:spPr bwMode="auto">
            <a:xfrm>
              <a:off x="2660" y="768"/>
              <a:ext cx="1316" cy="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zh-CN" sz="2000"/>
            </a:p>
          </p:txBody>
        </p:sp>
        <p:sp>
          <p:nvSpPr>
            <p:cNvPr id="19470" name="Rectangle 18"/>
            <p:cNvSpPr>
              <a:spLocks noChangeArrowheads="1"/>
            </p:cNvSpPr>
            <p:nvPr/>
          </p:nvSpPr>
          <p:spPr bwMode="auto">
            <a:xfrm>
              <a:off x="2784" y="880"/>
              <a:ext cx="1457" cy="38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中断服务例程</a:t>
              </a:r>
            </a:p>
          </p:txBody>
        </p:sp>
        <p:grpSp>
          <p:nvGrpSpPr>
            <p:cNvPr id="19471" name="Group 19"/>
            <p:cNvGrpSpPr>
              <a:grpSpLocks/>
            </p:cNvGrpSpPr>
            <p:nvPr/>
          </p:nvGrpSpPr>
          <p:grpSpPr bwMode="auto">
            <a:xfrm>
              <a:off x="2768" y="1571"/>
              <a:ext cx="1312" cy="675"/>
              <a:chOff x="4422" y="8616"/>
              <a:chExt cx="1785" cy="936"/>
            </a:xfrm>
          </p:grpSpPr>
          <p:sp>
            <p:nvSpPr>
              <p:cNvPr id="19491" name="Rectangle 20"/>
              <p:cNvSpPr>
                <a:spLocks noChangeArrowheads="1"/>
              </p:cNvSpPr>
              <p:nvPr/>
            </p:nvSpPr>
            <p:spPr bwMode="auto">
              <a:xfrm>
                <a:off x="4422" y="8616"/>
                <a:ext cx="1470" cy="62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zh-CN">
                  <a:solidFill>
                    <a:srgbClr val="000066"/>
                  </a:solidFill>
                </a:endParaRPr>
              </a:p>
            </p:txBody>
          </p:sp>
          <p:sp>
            <p:nvSpPr>
              <p:cNvPr id="19492" name="Rectangle 21"/>
              <p:cNvSpPr>
                <a:spLocks noChangeArrowheads="1"/>
              </p:cNvSpPr>
              <p:nvPr/>
            </p:nvSpPr>
            <p:spPr bwMode="auto">
              <a:xfrm>
                <a:off x="4527" y="8772"/>
                <a:ext cx="1470" cy="62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zh-CN">
                  <a:solidFill>
                    <a:srgbClr val="000066"/>
                  </a:solidFill>
                </a:endParaRPr>
              </a:p>
            </p:txBody>
          </p:sp>
          <p:sp>
            <p:nvSpPr>
              <p:cNvPr id="19493" name="Rectangle 22"/>
              <p:cNvSpPr>
                <a:spLocks noChangeArrowheads="1"/>
              </p:cNvSpPr>
              <p:nvPr/>
            </p:nvSpPr>
            <p:spPr bwMode="auto">
              <a:xfrm>
                <a:off x="4632" y="8928"/>
                <a:ext cx="1575" cy="624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>
                    <a:solidFill>
                      <a:srgbClr val="000066"/>
                    </a:solidFill>
                  </a:rPr>
                  <a:t>系统服务</a:t>
                </a:r>
              </a:p>
            </p:txBody>
          </p:sp>
        </p:grpSp>
        <p:sp>
          <p:nvSpPr>
            <p:cNvPr id="19472" name="Rectangle 23"/>
            <p:cNvSpPr>
              <a:spLocks noChangeArrowheads="1"/>
            </p:cNvSpPr>
            <p:nvPr/>
          </p:nvSpPr>
          <p:spPr bwMode="auto">
            <a:xfrm>
              <a:off x="3024" y="2656"/>
              <a:ext cx="1182" cy="351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>
                  <a:solidFill>
                    <a:srgbClr val="000066"/>
                  </a:solidFill>
                </a:rPr>
                <a:t>异常调度程序</a:t>
              </a:r>
            </a:p>
          </p:txBody>
        </p:sp>
        <p:sp>
          <p:nvSpPr>
            <p:cNvPr id="19473" name="Rectangle 24"/>
            <p:cNvSpPr>
              <a:spLocks noChangeArrowheads="1"/>
            </p:cNvSpPr>
            <p:nvPr/>
          </p:nvSpPr>
          <p:spPr bwMode="auto">
            <a:xfrm>
              <a:off x="2882" y="3210"/>
              <a:ext cx="1486" cy="56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虚拟存储器页面调度程序</a:t>
              </a:r>
            </a:p>
          </p:txBody>
        </p:sp>
        <p:sp>
          <p:nvSpPr>
            <p:cNvPr id="19474" name="Rectangle 25"/>
            <p:cNvSpPr>
              <a:spLocks noChangeArrowheads="1"/>
            </p:cNvSpPr>
            <p:nvPr/>
          </p:nvSpPr>
          <p:spPr bwMode="auto">
            <a:xfrm>
              <a:off x="432" y="816"/>
              <a:ext cx="533" cy="33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中断</a:t>
              </a:r>
            </a:p>
          </p:txBody>
        </p:sp>
        <p:sp>
          <p:nvSpPr>
            <p:cNvPr id="19475" name="Line 26"/>
            <p:cNvSpPr>
              <a:spLocks noChangeShapeType="1"/>
            </p:cNvSpPr>
            <p:nvPr/>
          </p:nvSpPr>
          <p:spPr bwMode="auto">
            <a:xfrm>
              <a:off x="4206" y="2808"/>
              <a:ext cx="36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6" name="Line 27"/>
            <p:cNvSpPr>
              <a:spLocks noChangeShapeType="1"/>
            </p:cNvSpPr>
            <p:nvPr/>
          </p:nvSpPr>
          <p:spPr bwMode="auto">
            <a:xfrm>
              <a:off x="771" y="2021"/>
              <a:ext cx="373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7" name="Rectangle 28"/>
            <p:cNvSpPr>
              <a:spLocks noChangeArrowheads="1"/>
            </p:cNvSpPr>
            <p:nvPr/>
          </p:nvSpPr>
          <p:spPr bwMode="auto">
            <a:xfrm>
              <a:off x="1104" y="864"/>
              <a:ext cx="1248" cy="36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dirty="0">
                  <a:solidFill>
                    <a:srgbClr val="FF00FF"/>
                  </a:solidFill>
                </a:rPr>
                <a:t>中断调度器</a:t>
              </a:r>
            </a:p>
          </p:txBody>
        </p:sp>
        <p:sp>
          <p:nvSpPr>
            <p:cNvPr id="19478" name="Line 29"/>
            <p:cNvSpPr>
              <a:spLocks noChangeShapeType="1"/>
            </p:cNvSpPr>
            <p:nvPr/>
          </p:nvSpPr>
          <p:spPr bwMode="auto">
            <a:xfrm flipV="1">
              <a:off x="2208" y="1024"/>
              <a:ext cx="576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Rectangle 30"/>
            <p:cNvSpPr>
              <a:spLocks noChangeArrowheads="1"/>
            </p:cNvSpPr>
            <p:nvPr/>
          </p:nvSpPr>
          <p:spPr bwMode="auto">
            <a:xfrm>
              <a:off x="1248" y="1696"/>
              <a:ext cx="960" cy="56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系统服务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solidFill>
                    <a:srgbClr val="000066"/>
                  </a:solidFill>
                </a:rPr>
                <a:t>调度器</a:t>
              </a:r>
            </a:p>
          </p:txBody>
        </p:sp>
        <p:sp>
          <p:nvSpPr>
            <p:cNvPr id="19480" name="Line 31"/>
            <p:cNvSpPr>
              <a:spLocks noChangeShapeType="1"/>
            </p:cNvSpPr>
            <p:nvPr/>
          </p:nvSpPr>
          <p:spPr bwMode="auto">
            <a:xfrm flipV="1">
              <a:off x="2160" y="2032"/>
              <a:ext cx="768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1" name="Line 32"/>
            <p:cNvSpPr>
              <a:spLocks noChangeShapeType="1"/>
            </p:cNvSpPr>
            <p:nvPr/>
          </p:nvSpPr>
          <p:spPr bwMode="auto">
            <a:xfrm>
              <a:off x="771" y="1121"/>
              <a:ext cx="373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2" name="Line 33"/>
            <p:cNvSpPr>
              <a:spLocks noChangeShapeType="1"/>
            </p:cNvSpPr>
            <p:nvPr/>
          </p:nvSpPr>
          <p:spPr bwMode="auto">
            <a:xfrm>
              <a:off x="771" y="2808"/>
              <a:ext cx="373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3" name="Line 34"/>
            <p:cNvSpPr>
              <a:spLocks noChangeShapeType="1"/>
            </p:cNvSpPr>
            <p:nvPr/>
          </p:nvSpPr>
          <p:spPr bwMode="auto">
            <a:xfrm>
              <a:off x="771" y="3414"/>
              <a:ext cx="373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4" name="Line 35"/>
            <p:cNvSpPr>
              <a:spLocks noChangeShapeType="1"/>
            </p:cNvSpPr>
            <p:nvPr/>
          </p:nvSpPr>
          <p:spPr bwMode="auto">
            <a:xfrm>
              <a:off x="1144" y="1121"/>
              <a:ext cx="1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5" name="Line 36"/>
            <p:cNvSpPr>
              <a:spLocks noChangeShapeType="1"/>
            </p:cNvSpPr>
            <p:nvPr/>
          </p:nvSpPr>
          <p:spPr bwMode="auto">
            <a:xfrm>
              <a:off x="1144" y="2021"/>
              <a:ext cx="2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6" name="Line 37"/>
            <p:cNvSpPr>
              <a:spLocks noChangeShapeType="1"/>
            </p:cNvSpPr>
            <p:nvPr/>
          </p:nvSpPr>
          <p:spPr bwMode="auto">
            <a:xfrm>
              <a:off x="1144" y="2808"/>
              <a:ext cx="111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Line 38"/>
            <p:cNvSpPr>
              <a:spLocks noChangeShapeType="1"/>
            </p:cNvSpPr>
            <p:nvPr/>
          </p:nvSpPr>
          <p:spPr bwMode="auto">
            <a:xfrm>
              <a:off x="1152" y="3408"/>
              <a:ext cx="110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Line 39"/>
            <p:cNvSpPr>
              <a:spLocks noChangeShapeType="1"/>
            </p:cNvSpPr>
            <p:nvPr/>
          </p:nvSpPr>
          <p:spPr bwMode="auto">
            <a:xfrm flipV="1">
              <a:off x="2261" y="2800"/>
              <a:ext cx="763" cy="8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Rectangle 40"/>
            <p:cNvSpPr>
              <a:spLocks noChangeArrowheads="1"/>
            </p:cNvSpPr>
            <p:nvPr/>
          </p:nvSpPr>
          <p:spPr bwMode="auto">
            <a:xfrm>
              <a:off x="2496" y="2400"/>
              <a:ext cx="303" cy="737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>
                  <a:solidFill>
                    <a:srgbClr val="000066"/>
                  </a:solidFill>
                </a:rPr>
                <a:t>异常帧</a:t>
              </a:r>
            </a:p>
          </p:txBody>
        </p:sp>
        <p:sp>
          <p:nvSpPr>
            <p:cNvPr id="19490" name="Line 41"/>
            <p:cNvSpPr>
              <a:spLocks noChangeShapeType="1"/>
            </p:cNvSpPr>
            <p:nvPr/>
          </p:nvSpPr>
          <p:spPr bwMode="auto">
            <a:xfrm>
              <a:off x="2256" y="3408"/>
              <a:ext cx="621" cy="0"/>
            </a:xfrm>
            <a:prstGeom prst="line">
              <a:avLst/>
            </a:prstGeom>
            <a:noFill/>
            <a:ln w="28575">
              <a:solidFill>
                <a:srgbClr val="3333FF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19597B-481C-42D7-8652-3632A6DDC1FB}" type="slidenum">
              <a:rPr lang="en-US" altLang="zh-CN" smtClean="0"/>
              <a:pPr/>
              <a:t>14</a:t>
            </a:fld>
            <a:endParaRPr lang="en-US" altLang="zh-CN" smtClean="0"/>
          </a:p>
        </p:txBody>
      </p:sp>
      <p:grpSp>
        <p:nvGrpSpPr>
          <p:cNvPr id="21508" name="Group 25"/>
          <p:cNvGrpSpPr>
            <a:grpSpLocks/>
          </p:cNvGrpSpPr>
          <p:nvPr/>
        </p:nvGrpSpPr>
        <p:grpSpPr bwMode="auto">
          <a:xfrm>
            <a:off x="1081110" y="1824055"/>
            <a:ext cx="6804025" cy="4176713"/>
            <a:chOff x="432" y="1008"/>
            <a:chExt cx="4286" cy="2391"/>
          </a:xfrm>
        </p:grpSpPr>
        <p:sp>
          <p:nvSpPr>
            <p:cNvPr id="21510" name="Text Box 5"/>
            <p:cNvSpPr txBox="1">
              <a:spLocks noChangeArrowheads="1"/>
            </p:cNvSpPr>
            <p:nvPr/>
          </p:nvSpPr>
          <p:spPr bwMode="auto">
            <a:xfrm>
              <a:off x="1536" y="100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电源故障</a:t>
              </a:r>
            </a:p>
          </p:txBody>
        </p:sp>
        <p:sp>
          <p:nvSpPr>
            <p:cNvPr id="21511" name="Text Box 6"/>
            <p:cNvSpPr txBox="1">
              <a:spLocks noChangeArrowheads="1"/>
            </p:cNvSpPr>
            <p:nvPr/>
          </p:nvSpPr>
          <p:spPr bwMode="auto">
            <a:xfrm>
              <a:off x="1536" y="124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dirty="0">
                  <a:solidFill>
                    <a:srgbClr val="000099"/>
                  </a:solidFill>
                </a:rPr>
                <a:t>处理机内部故障</a:t>
              </a:r>
            </a:p>
          </p:txBody>
        </p:sp>
        <p:sp>
          <p:nvSpPr>
            <p:cNvPr id="21512" name="Text Box 7"/>
            <p:cNvSpPr txBox="1">
              <a:spLocks noChangeArrowheads="1"/>
            </p:cNvSpPr>
            <p:nvPr/>
          </p:nvSpPr>
          <p:spPr bwMode="auto">
            <a:xfrm>
              <a:off x="1536" y="148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时钟中断</a:t>
              </a:r>
            </a:p>
          </p:txBody>
        </p:sp>
        <p:sp>
          <p:nvSpPr>
            <p:cNvPr id="21513" name="Text Box 8"/>
            <p:cNvSpPr txBox="1">
              <a:spLocks noChangeArrowheads="1"/>
            </p:cNvSpPr>
            <p:nvPr/>
          </p:nvSpPr>
          <p:spPr bwMode="auto">
            <a:xfrm>
              <a:off x="1536" y="172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配置文件</a:t>
              </a:r>
            </a:p>
          </p:txBody>
        </p:sp>
        <p:sp>
          <p:nvSpPr>
            <p:cNvPr id="21514" name="Text Box 9"/>
            <p:cNvSpPr txBox="1">
              <a:spLocks noChangeArrowheads="1"/>
            </p:cNvSpPr>
            <p:nvPr/>
          </p:nvSpPr>
          <p:spPr bwMode="auto">
            <a:xfrm>
              <a:off x="1536" y="196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设备</a:t>
              </a:r>
              <a:r>
                <a:rPr lang="en-US" altLang="zh-CN">
                  <a:solidFill>
                    <a:srgbClr val="000099"/>
                  </a:solidFill>
                </a:rPr>
                <a:t>n</a:t>
              </a:r>
            </a:p>
          </p:txBody>
        </p:sp>
        <p:sp>
          <p:nvSpPr>
            <p:cNvPr id="21515" name="Text Box 10"/>
            <p:cNvSpPr txBox="1">
              <a:spLocks noChangeArrowheads="1"/>
            </p:cNvSpPr>
            <p:nvPr/>
          </p:nvSpPr>
          <p:spPr bwMode="auto">
            <a:xfrm>
              <a:off x="1536" y="2208"/>
              <a:ext cx="1680" cy="2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>
                  <a:solidFill>
                    <a:srgbClr val="000099"/>
                  </a:solidFill>
                </a:rPr>
                <a:t>…</a:t>
              </a:r>
            </a:p>
          </p:txBody>
        </p:sp>
        <p:sp>
          <p:nvSpPr>
            <p:cNvPr id="21516" name="Text Box 11"/>
            <p:cNvSpPr txBox="1">
              <a:spLocks noChangeArrowheads="1"/>
            </p:cNvSpPr>
            <p:nvPr/>
          </p:nvSpPr>
          <p:spPr bwMode="auto">
            <a:xfrm>
              <a:off x="1536" y="244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设备</a:t>
              </a:r>
              <a:r>
                <a:rPr lang="en-US" altLang="zh-CN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21517" name="Text Box 12"/>
            <p:cNvSpPr txBox="1">
              <a:spLocks noChangeArrowheads="1"/>
            </p:cNvSpPr>
            <p:nvPr/>
          </p:nvSpPr>
          <p:spPr bwMode="auto">
            <a:xfrm>
              <a:off x="1536" y="268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>
                  <a:solidFill>
                    <a:srgbClr val="FF0066"/>
                  </a:solidFill>
                </a:rPr>
                <a:t>Dispatcher/DPC</a:t>
              </a:r>
            </a:p>
          </p:txBody>
        </p:sp>
        <p:sp>
          <p:nvSpPr>
            <p:cNvPr id="21518" name="Text Box 13"/>
            <p:cNvSpPr txBox="1">
              <a:spLocks noChangeArrowheads="1"/>
            </p:cNvSpPr>
            <p:nvPr/>
          </p:nvSpPr>
          <p:spPr bwMode="auto">
            <a:xfrm>
              <a:off x="1536" y="292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>
                  <a:solidFill>
                    <a:srgbClr val="FF0066"/>
                  </a:solidFill>
                </a:rPr>
                <a:t>APC</a:t>
              </a:r>
            </a:p>
          </p:txBody>
        </p:sp>
        <p:sp>
          <p:nvSpPr>
            <p:cNvPr id="21519" name="Text Box 14"/>
            <p:cNvSpPr txBox="1">
              <a:spLocks noChangeArrowheads="1"/>
            </p:cNvSpPr>
            <p:nvPr/>
          </p:nvSpPr>
          <p:spPr bwMode="auto">
            <a:xfrm>
              <a:off x="1536" y="3168"/>
              <a:ext cx="1680" cy="2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用户线程</a:t>
              </a:r>
            </a:p>
          </p:txBody>
        </p:sp>
        <p:sp>
          <p:nvSpPr>
            <p:cNvPr id="21520" name="Text Box 15"/>
            <p:cNvSpPr txBox="1">
              <a:spLocks noChangeArrowheads="1"/>
            </p:cNvSpPr>
            <p:nvPr/>
          </p:nvSpPr>
          <p:spPr bwMode="auto">
            <a:xfrm>
              <a:off x="3648" y="1776"/>
              <a:ext cx="1008" cy="2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3333FF"/>
                  </a:solidFill>
                </a:rPr>
                <a:t>硬件中断</a:t>
              </a:r>
            </a:p>
          </p:txBody>
        </p:sp>
        <p:sp>
          <p:nvSpPr>
            <p:cNvPr id="21521" name="Text Box 16"/>
            <p:cNvSpPr txBox="1">
              <a:spLocks noChangeArrowheads="1"/>
            </p:cNvSpPr>
            <p:nvPr/>
          </p:nvSpPr>
          <p:spPr bwMode="auto">
            <a:xfrm>
              <a:off x="3504" y="2832"/>
              <a:ext cx="1214" cy="2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</p:spPr>
          <p:txBody>
            <a:bodyPr wrap="square"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dirty="0">
                  <a:solidFill>
                    <a:srgbClr val="3333FF"/>
                  </a:solidFill>
                </a:rPr>
                <a:t>软件中断</a:t>
              </a:r>
            </a:p>
          </p:txBody>
        </p:sp>
        <p:sp>
          <p:nvSpPr>
            <p:cNvPr id="21522" name="AutoShape 17"/>
            <p:cNvSpPr>
              <a:spLocks/>
            </p:cNvSpPr>
            <p:nvPr/>
          </p:nvSpPr>
          <p:spPr bwMode="auto">
            <a:xfrm>
              <a:off x="3312" y="1104"/>
              <a:ext cx="240" cy="1536"/>
            </a:xfrm>
            <a:prstGeom prst="rightBrace">
              <a:avLst>
                <a:gd name="adj1" fmla="val 53333"/>
                <a:gd name="adj2" fmla="val 50000"/>
              </a:avLst>
            </a:prstGeom>
            <a:solidFill>
              <a:schemeClr val="bg1"/>
            </a:solidFill>
            <a:ln w="19050">
              <a:solidFill>
                <a:srgbClr val="3333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AutoShape 18"/>
            <p:cNvSpPr>
              <a:spLocks/>
            </p:cNvSpPr>
            <p:nvPr/>
          </p:nvSpPr>
          <p:spPr bwMode="auto">
            <a:xfrm>
              <a:off x="3312" y="2736"/>
              <a:ext cx="192" cy="432"/>
            </a:xfrm>
            <a:prstGeom prst="rightBrace">
              <a:avLst>
                <a:gd name="adj1" fmla="val 18750"/>
                <a:gd name="adj2" fmla="val 50000"/>
              </a:avLst>
            </a:prstGeom>
            <a:solidFill>
              <a:schemeClr val="bg1"/>
            </a:solidFill>
            <a:ln w="19050">
              <a:solidFill>
                <a:srgbClr val="3333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4" name="Text Box 20"/>
            <p:cNvSpPr txBox="1">
              <a:spLocks noChangeArrowheads="1"/>
            </p:cNvSpPr>
            <p:nvPr/>
          </p:nvSpPr>
          <p:spPr bwMode="auto">
            <a:xfrm>
              <a:off x="432" y="1008"/>
              <a:ext cx="1056" cy="2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</p:spPr>
          <p:txBody>
            <a:bodyPr lIns="18000" tIns="0" rIns="1800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3333FF"/>
                  </a:solidFill>
                </a:rPr>
                <a:t>高级   </a:t>
              </a:r>
              <a:r>
                <a:rPr lang="en-US" altLang="zh-CN">
                  <a:solidFill>
                    <a:srgbClr val="3333FF"/>
                  </a:solidFill>
                </a:rPr>
                <a:t>31</a:t>
              </a:r>
            </a:p>
          </p:txBody>
        </p:sp>
        <p:sp>
          <p:nvSpPr>
            <p:cNvPr id="21525" name="Text Box 21"/>
            <p:cNvSpPr txBox="1">
              <a:spLocks noChangeArrowheads="1"/>
            </p:cNvSpPr>
            <p:nvPr/>
          </p:nvSpPr>
          <p:spPr bwMode="auto">
            <a:xfrm>
              <a:off x="528" y="3168"/>
              <a:ext cx="960" cy="2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3333FF"/>
                  </a:solidFill>
                </a:rPr>
                <a:t>低级   </a:t>
              </a:r>
              <a:r>
                <a:rPr lang="en-US" altLang="zh-CN">
                  <a:solidFill>
                    <a:srgbClr val="3333FF"/>
                  </a:solidFill>
                </a:rPr>
                <a:t>0</a:t>
              </a:r>
            </a:p>
          </p:txBody>
        </p:sp>
        <p:sp>
          <p:nvSpPr>
            <p:cNvPr id="21526" name="Text Box 23"/>
            <p:cNvSpPr txBox="1">
              <a:spLocks noChangeArrowheads="1"/>
            </p:cNvSpPr>
            <p:nvPr/>
          </p:nvSpPr>
          <p:spPr bwMode="auto">
            <a:xfrm>
              <a:off x="1200" y="2640"/>
              <a:ext cx="288" cy="27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None/>
              </a:pPr>
              <a:r>
                <a:rPr lang="en-US" altLang="zh-CN">
                  <a:solidFill>
                    <a:srgbClr val="3333FF"/>
                  </a:solidFill>
                </a:rPr>
                <a:t>2</a:t>
              </a:r>
            </a:p>
          </p:txBody>
        </p:sp>
        <p:sp>
          <p:nvSpPr>
            <p:cNvPr id="21527" name="Text Box 24"/>
            <p:cNvSpPr txBox="1">
              <a:spLocks noChangeArrowheads="1"/>
            </p:cNvSpPr>
            <p:nvPr/>
          </p:nvSpPr>
          <p:spPr bwMode="auto">
            <a:xfrm>
              <a:off x="1200" y="2880"/>
              <a:ext cx="228" cy="27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 typeface="Wingdings" pitchFamily="2" charset="2"/>
                <a:buNone/>
              </a:pPr>
              <a:r>
                <a:rPr lang="en-US" altLang="zh-CN">
                  <a:solidFill>
                    <a:srgbClr val="3333FF"/>
                  </a:solidFill>
                </a:rPr>
                <a:t>1</a:t>
              </a:r>
            </a:p>
          </p:txBody>
        </p:sp>
      </p:grp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571472" y="428604"/>
            <a:ext cx="8062913" cy="1000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800"/>
              </a:spcAft>
              <a:buClr>
                <a:srgbClr val="FF0066"/>
              </a:buClr>
              <a:buSzPct val="80000"/>
              <a:buNone/>
              <a:tabLst/>
              <a:defRPr/>
            </a:pP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Windows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个中断请求级别</a:t>
            </a:r>
            <a:r>
              <a:rPr kumimoji="1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IRQL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，又叫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中断优先级</a:t>
            </a:r>
            <a:r>
              <a:rPr kumimoji="1" lang="zh-CN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5540B6-CBB0-4E52-B3D4-A91CF9AC673E}" type="slidenum">
              <a:rPr lang="en-US" altLang="zh-CN" smtClean="0"/>
              <a:pPr/>
              <a:t>15</a:t>
            </a:fld>
            <a:endParaRPr lang="en-US" altLang="zh-CN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72400" cy="10795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FF0000"/>
                </a:solidFill>
              </a:rPr>
              <a:t>延迟过程调用 </a:t>
            </a:r>
            <a:r>
              <a:rPr lang="en-US" altLang="zh-CN" b="1" smtClean="0">
                <a:solidFill>
                  <a:srgbClr val="FF0000"/>
                </a:solidFill>
              </a:rPr>
              <a:t>DPC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85926"/>
            <a:ext cx="7989888" cy="4522799"/>
          </a:xfrm>
        </p:spPr>
        <p:txBody>
          <a:bodyPr/>
          <a:lstStyle/>
          <a:p>
            <a:pPr eaLnBrk="1" hangingPunct="1">
              <a:spcBef>
                <a:spcPts val="1200"/>
              </a:spcBef>
              <a:buClr>
                <a:srgbClr val="FF0000"/>
              </a:buClr>
              <a:buSzPct val="95000"/>
              <a:buFontTx/>
              <a:buNone/>
            </a:pPr>
            <a:r>
              <a:rPr lang="en-US" altLang="zh-CN" b="1" dirty="0" smtClean="0">
                <a:solidFill>
                  <a:srgbClr val="000066"/>
                </a:solidFill>
              </a:rPr>
              <a:t>	</a:t>
            </a: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</a:rPr>
              <a:t>DPC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</a:rPr>
              <a:t>被内核用来执行一些相对于当前高优先级的任务来说</a:t>
            </a:r>
            <a:r>
              <a:rPr lang="zh-CN" altLang="en-US" b="1" dirty="0" smtClean="0">
                <a:solidFill>
                  <a:srgbClr val="FF00FF"/>
                </a:solidFill>
              </a:rPr>
              <a:t>不那么紧急的任务</a:t>
            </a:r>
            <a:r>
              <a:rPr lang="zh-CN" altLang="en-US" b="1" dirty="0" smtClean="0">
                <a:solidFill>
                  <a:srgbClr val="000066"/>
                </a:solidFill>
              </a:rPr>
              <a:t>。</a:t>
            </a: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000066"/>
                </a:solidFill>
              </a:rPr>
              <a:t>有时内核在进行系统嵌套调用时，检测到应该进行</a:t>
            </a:r>
            <a:r>
              <a:rPr lang="zh-CN" altLang="en-US" b="1" dirty="0" smtClean="0">
                <a:solidFill>
                  <a:srgbClr val="FF0066"/>
                </a:solidFill>
              </a:rPr>
              <a:t>线程调度</a:t>
            </a:r>
            <a:r>
              <a:rPr lang="zh-CN" altLang="en-US" b="1" dirty="0" smtClean="0">
                <a:solidFill>
                  <a:srgbClr val="000066"/>
                </a:solidFill>
              </a:rPr>
              <a:t>，为了保证调度的正确性，内核用</a:t>
            </a:r>
            <a:r>
              <a:rPr lang="en-US" altLang="zh-CN" b="1" dirty="0" smtClean="0">
                <a:solidFill>
                  <a:srgbClr val="000066"/>
                </a:solidFill>
              </a:rPr>
              <a:t>DPC</a:t>
            </a:r>
            <a:r>
              <a:rPr lang="zh-CN" altLang="en-US" b="1" dirty="0" smtClean="0">
                <a:solidFill>
                  <a:srgbClr val="000066"/>
                </a:solidFill>
              </a:rPr>
              <a:t>来延迟调度的产生。</a:t>
            </a: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FF0066"/>
                </a:solidFill>
              </a:rPr>
              <a:t>在硬件中断服务例程中，</a:t>
            </a:r>
            <a:r>
              <a:rPr lang="zh-CN" altLang="en-US" b="1" dirty="0" smtClean="0">
                <a:solidFill>
                  <a:srgbClr val="000066"/>
                </a:solidFill>
              </a:rPr>
              <a:t>可以把一些相对不紧急的事情放到一个</a:t>
            </a:r>
            <a:r>
              <a:rPr lang="en-US" altLang="zh-CN" b="1" dirty="0" smtClean="0">
                <a:solidFill>
                  <a:srgbClr val="FF0066"/>
                </a:solidFill>
              </a:rPr>
              <a:t>DPC</a:t>
            </a:r>
            <a:r>
              <a:rPr lang="zh-CN" altLang="en-US" b="1" dirty="0" smtClean="0">
                <a:solidFill>
                  <a:srgbClr val="FF0066"/>
                </a:solidFill>
              </a:rPr>
              <a:t>对象</a:t>
            </a:r>
            <a:r>
              <a:rPr lang="zh-CN" altLang="en-US" b="1" dirty="0" smtClean="0">
                <a:solidFill>
                  <a:srgbClr val="000066"/>
                </a:solidFill>
              </a:rPr>
              <a:t>中，从而缩短处理机停留在高</a:t>
            </a:r>
            <a:r>
              <a:rPr lang="en-US" altLang="zh-CN" b="1" dirty="0" smtClean="0">
                <a:solidFill>
                  <a:srgbClr val="000066"/>
                </a:solidFill>
              </a:rPr>
              <a:t>IRQL</a:t>
            </a:r>
            <a:r>
              <a:rPr lang="zh-CN" altLang="en-US" b="1" dirty="0" smtClean="0">
                <a:solidFill>
                  <a:srgbClr val="000066"/>
                </a:solidFill>
              </a:rPr>
              <a:t>的时间。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0B9B68-9581-41D7-A8B6-60EC12AEC56D}" type="slidenum">
              <a:rPr lang="en-US" altLang="zh-CN" smtClean="0"/>
              <a:pPr/>
              <a:t>16</a:t>
            </a:fld>
            <a:endParaRPr lang="en-US" altLang="zh-CN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785"/>
            <a:ext cx="7772400" cy="4611216"/>
          </a:xfrm>
        </p:spPr>
        <p:txBody>
          <a:bodyPr/>
          <a:lstStyle/>
          <a:p>
            <a:pPr eaLnBrk="1" hangingPunct="1"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en-US" altLang="zh-CN" b="1" dirty="0" smtClean="0">
                <a:solidFill>
                  <a:srgbClr val="FF0066"/>
                </a:solidFill>
              </a:rPr>
              <a:t>DPC</a:t>
            </a:r>
            <a:r>
              <a:rPr lang="zh-CN" altLang="en-US" b="1" dirty="0" smtClean="0">
                <a:solidFill>
                  <a:srgbClr val="FF0066"/>
                </a:solidFill>
              </a:rPr>
              <a:t>对象</a:t>
            </a:r>
            <a:r>
              <a:rPr lang="zh-CN" altLang="en-US" b="1" dirty="0" smtClean="0">
                <a:solidFill>
                  <a:srgbClr val="000066"/>
                </a:solidFill>
              </a:rPr>
              <a:t>主要包含需调用的</a:t>
            </a:r>
            <a:r>
              <a:rPr lang="zh-CN" altLang="en-US" b="1" u="sng" dirty="0" smtClean="0">
                <a:solidFill>
                  <a:srgbClr val="000066"/>
                </a:solidFill>
              </a:rPr>
              <a:t>系统函数地址</a:t>
            </a:r>
            <a:endParaRPr lang="en-US" altLang="zh-CN" b="1" u="sng" dirty="0" smtClean="0">
              <a:solidFill>
                <a:srgbClr val="FF0066"/>
              </a:solidFill>
            </a:endParaRPr>
          </a:p>
          <a:p>
            <a:pPr eaLnBrk="1" hangingPunct="1"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en-US" altLang="zh-CN" b="1" dirty="0" smtClean="0">
                <a:solidFill>
                  <a:srgbClr val="FF0066"/>
                </a:solidFill>
              </a:rPr>
              <a:t>DPC</a:t>
            </a:r>
            <a:r>
              <a:rPr lang="zh-CN" altLang="en-US" b="1" dirty="0" smtClean="0">
                <a:solidFill>
                  <a:srgbClr val="FF0066"/>
                </a:solidFill>
              </a:rPr>
              <a:t>队列</a:t>
            </a:r>
            <a:r>
              <a:rPr lang="zh-CN" altLang="en-US" b="1" dirty="0" smtClean="0">
                <a:solidFill>
                  <a:srgbClr val="000066"/>
                </a:solidFill>
              </a:rPr>
              <a:t>是系统范围的，能记住有哪些工作尚未处理。</a:t>
            </a:r>
            <a:endParaRPr lang="zh-CN" altLang="en-US" b="1" dirty="0" smtClean="0">
              <a:solidFill>
                <a:srgbClr val="0000CC"/>
              </a:solidFill>
            </a:endParaRPr>
          </a:p>
          <a:p>
            <a:pPr eaLnBrk="1" hangingPunct="1"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000066"/>
                </a:solidFill>
              </a:rPr>
              <a:t>当</a:t>
            </a:r>
            <a:r>
              <a:rPr lang="en-US" altLang="zh-CN" b="1" dirty="0" smtClean="0">
                <a:solidFill>
                  <a:srgbClr val="FF00FF"/>
                </a:solidFill>
              </a:rPr>
              <a:t>IRQL</a:t>
            </a:r>
            <a:r>
              <a:rPr lang="zh-CN" altLang="en-US" b="1" dirty="0" smtClean="0">
                <a:solidFill>
                  <a:srgbClr val="000066"/>
                </a:solidFill>
              </a:rPr>
              <a:t>降低到</a:t>
            </a:r>
            <a:r>
              <a:rPr lang="en-US" altLang="zh-CN" b="1" dirty="0" smtClean="0">
                <a:solidFill>
                  <a:srgbClr val="FF0066"/>
                </a:solidFill>
              </a:rPr>
              <a:t>DPC/Dispatcher</a:t>
            </a:r>
            <a:r>
              <a:rPr lang="zh-CN" altLang="en-US" b="1" dirty="0" smtClean="0">
                <a:solidFill>
                  <a:srgbClr val="000066"/>
                </a:solidFill>
              </a:rPr>
              <a:t>级别以下时，</a:t>
            </a:r>
            <a:r>
              <a:rPr lang="en-US" altLang="zh-CN" b="1" dirty="0" smtClean="0">
                <a:solidFill>
                  <a:srgbClr val="000066"/>
                </a:solidFill>
              </a:rPr>
              <a:t>DPC</a:t>
            </a:r>
            <a:r>
              <a:rPr lang="zh-CN" altLang="en-US" b="1" dirty="0" smtClean="0">
                <a:solidFill>
                  <a:srgbClr val="000066"/>
                </a:solidFill>
              </a:rPr>
              <a:t>中断就产生。依次执行</a:t>
            </a:r>
            <a:r>
              <a:rPr lang="en-US" altLang="zh-CN" b="1" dirty="0" smtClean="0">
                <a:solidFill>
                  <a:srgbClr val="000066"/>
                </a:solidFill>
              </a:rPr>
              <a:t>DPC</a:t>
            </a:r>
            <a:r>
              <a:rPr lang="zh-CN" altLang="en-US" b="1" dirty="0" smtClean="0">
                <a:solidFill>
                  <a:srgbClr val="000066"/>
                </a:solidFill>
              </a:rPr>
              <a:t>队列中的各个例程，直至</a:t>
            </a:r>
            <a:r>
              <a:rPr lang="en-US" altLang="zh-CN" b="1" dirty="0" smtClean="0">
                <a:solidFill>
                  <a:srgbClr val="000066"/>
                </a:solidFill>
              </a:rPr>
              <a:t>DPC</a:t>
            </a:r>
            <a:r>
              <a:rPr lang="zh-CN" altLang="en-US" b="1" dirty="0" smtClean="0">
                <a:solidFill>
                  <a:srgbClr val="000066"/>
                </a:solidFill>
              </a:rPr>
              <a:t>队列为空。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D675FA-4CE0-4CF8-9CBF-15C721BF5DA8}" type="slidenum">
              <a:rPr lang="en-US" altLang="zh-CN" smtClean="0"/>
              <a:pPr/>
              <a:t>17</a:t>
            </a:fld>
            <a:endParaRPr lang="en-US" altLang="zh-CN" smtClean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47738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FF0000"/>
                </a:solidFill>
              </a:rPr>
              <a:t>异步过程调用 </a:t>
            </a:r>
            <a:r>
              <a:rPr lang="en-US" altLang="zh-CN" b="1" smtClean="0">
                <a:solidFill>
                  <a:srgbClr val="FF0000"/>
                </a:solidFill>
              </a:rPr>
              <a:t>APC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1" y="1857363"/>
            <a:ext cx="8208912" cy="4524387"/>
          </a:xfrm>
        </p:spPr>
        <p:txBody>
          <a:bodyPr/>
          <a:lstStyle/>
          <a:p>
            <a:pPr eaLnBrk="1" hangingPunct="1">
              <a:spcBef>
                <a:spcPts val="1200"/>
              </a:spcBef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000066"/>
                </a:solidFill>
              </a:rPr>
              <a:t>每个线程都有自己的</a:t>
            </a:r>
            <a:r>
              <a:rPr lang="en-US" altLang="zh-CN" b="1" dirty="0" smtClean="0">
                <a:solidFill>
                  <a:srgbClr val="FF00FF"/>
                </a:solidFill>
              </a:rPr>
              <a:t>APC</a:t>
            </a:r>
            <a:r>
              <a:rPr lang="zh-CN" altLang="en-US" b="1" dirty="0" smtClean="0">
                <a:solidFill>
                  <a:srgbClr val="FF00FF"/>
                </a:solidFill>
              </a:rPr>
              <a:t>队列</a:t>
            </a:r>
            <a:r>
              <a:rPr lang="zh-CN" altLang="en-US" b="1" dirty="0" smtClean="0">
                <a:solidFill>
                  <a:srgbClr val="000066"/>
                </a:solidFill>
              </a:rPr>
              <a:t>。 当一个线程被调度时，它的</a:t>
            </a:r>
            <a:r>
              <a:rPr lang="en-US" altLang="zh-CN" b="1" dirty="0" smtClean="0">
                <a:solidFill>
                  <a:srgbClr val="000066"/>
                </a:solidFill>
              </a:rPr>
              <a:t>APC</a:t>
            </a:r>
            <a:r>
              <a:rPr lang="zh-CN" altLang="en-US" b="1" dirty="0" smtClean="0">
                <a:solidFill>
                  <a:srgbClr val="000066"/>
                </a:solidFill>
              </a:rPr>
              <a:t>过程会立刻被执行。</a:t>
            </a:r>
            <a:endParaRPr lang="en-US" altLang="zh-CN" b="1" dirty="0" smtClean="0">
              <a:solidFill>
                <a:srgbClr val="000066"/>
              </a:solidFill>
            </a:endParaRPr>
          </a:p>
          <a:p>
            <a:pPr eaLnBrk="1" hangingPunct="1">
              <a:spcBef>
                <a:spcPts val="1200"/>
              </a:spcBef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zh-CN" altLang="en-US" b="1" dirty="0" smtClean="0">
                <a:solidFill>
                  <a:srgbClr val="000066"/>
                </a:solidFill>
              </a:rPr>
              <a:t>有两种</a:t>
            </a:r>
            <a:r>
              <a:rPr lang="en-US" altLang="zh-CN" b="1" dirty="0" smtClean="0">
                <a:solidFill>
                  <a:srgbClr val="000066"/>
                </a:solidFill>
              </a:rPr>
              <a:t>APC</a:t>
            </a:r>
            <a:r>
              <a:rPr lang="zh-CN" altLang="en-US" b="1" dirty="0" smtClean="0">
                <a:solidFill>
                  <a:srgbClr val="000066"/>
                </a:solidFill>
              </a:rPr>
              <a:t>：</a:t>
            </a:r>
            <a:endParaRPr lang="en-US" altLang="zh-CN" b="1" dirty="0" smtClean="0">
              <a:solidFill>
                <a:srgbClr val="000066"/>
              </a:solidFill>
            </a:endParaRPr>
          </a:p>
          <a:p>
            <a:pPr lvl="1" eaLnBrk="1" hangingPunct="1">
              <a:spcBef>
                <a:spcPts val="1200"/>
              </a:spcBef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zh-CN" altLang="en-US" b="1" u="sng" dirty="0" smtClean="0">
                <a:solidFill>
                  <a:srgbClr val="000066"/>
                </a:solidFill>
              </a:rPr>
              <a:t>核心态</a:t>
            </a:r>
            <a:r>
              <a:rPr lang="en-US" altLang="zh-CN" b="1" u="sng" dirty="0" smtClean="0">
                <a:solidFill>
                  <a:srgbClr val="000066"/>
                </a:solidFill>
              </a:rPr>
              <a:t>APC</a:t>
            </a:r>
            <a:r>
              <a:rPr lang="zh-CN" altLang="en-US" b="1" dirty="0" smtClean="0">
                <a:solidFill>
                  <a:srgbClr val="000066"/>
                </a:solidFill>
              </a:rPr>
              <a:t>可以中断线程，在线程被调度时立即执行，不需要得到线程的“允许”；</a:t>
            </a:r>
            <a:endParaRPr lang="en-US" altLang="zh-CN" b="1" dirty="0" smtClean="0">
              <a:solidFill>
                <a:srgbClr val="000066"/>
              </a:solidFill>
            </a:endParaRPr>
          </a:p>
          <a:p>
            <a:pPr lvl="1" eaLnBrk="1" hangingPunct="1">
              <a:spcBef>
                <a:spcPts val="1200"/>
              </a:spcBef>
              <a:buClr>
                <a:srgbClr val="FF0000"/>
              </a:buClr>
              <a:buSzPct val="95000"/>
              <a:buFont typeface="Wingdings" pitchFamily="2" charset="2"/>
              <a:buChar char="n"/>
            </a:pPr>
            <a:r>
              <a:rPr lang="zh-CN" altLang="en-US" b="1" u="sng" dirty="0" smtClean="0">
                <a:solidFill>
                  <a:srgbClr val="000066"/>
                </a:solidFill>
              </a:rPr>
              <a:t>用户态</a:t>
            </a:r>
            <a:r>
              <a:rPr lang="en-US" altLang="zh-CN" b="1" u="sng" dirty="0" smtClean="0">
                <a:solidFill>
                  <a:srgbClr val="000066"/>
                </a:solidFill>
              </a:rPr>
              <a:t>APC</a:t>
            </a:r>
            <a:r>
              <a:rPr lang="zh-CN" altLang="en-US" b="1" dirty="0" smtClean="0">
                <a:solidFill>
                  <a:srgbClr val="000066"/>
                </a:solidFill>
              </a:rPr>
              <a:t>需要得到线程的“允许”才能执行，如</a:t>
            </a:r>
            <a:r>
              <a:rPr lang="zh-CN" altLang="en-US" b="1" dirty="0" smtClean="0">
                <a:solidFill>
                  <a:srgbClr val="FF00FF"/>
                </a:solidFill>
              </a:rPr>
              <a:t>异步</a:t>
            </a:r>
            <a:r>
              <a:rPr lang="en-US" altLang="zh-CN" b="1" dirty="0" smtClean="0">
                <a:solidFill>
                  <a:srgbClr val="FF00FF"/>
                </a:solidFill>
              </a:rPr>
              <a:t>I/O</a:t>
            </a:r>
            <a:r>
              <a:rPr lang="zh-CN" altLang="en-US" b="1" dirty="0" smtClean="0">
                <a:solidFill>
                  <a:srgbClr val="000066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155B05B-67EA-44BF-9E86-0F494947590D}" type="slidenum">
              <a:rPr lang="en-US" altLang="zh-CN" smtClean="0"/>
              <a:pPr/>
              <a:t>18</a:t>
            </a:fld>
            <a:endParaRPr lang="en-US" altLang="zh-CN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404664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</a:rPr>
              <a:t>I/O</a:t>
            </a:r>
            <a:r>
              <a:rPr lang="zh-CN" altLang="en-US" b="1" dirty="0" smtClean="0">
                <a:solidFill>
                  <a:srgbClr val="FF0000"/>
                </a:solidFill>
              </a:rPr>
              <a:t>请求中断处理过程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84784"/>
            <a:ext cx="7991475" cy="4873155"/>
          </a:xfrm>
        </p:spPr>
        <p:txBody>
          <a:bodyPr/>
          <a:lstStyle/>
          <a:p>
            <a:pPr marL="609600" indent="-609600" eaLnBrk="1" hangingPunct="1"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</a:rPr>
              <a:t>当设备中断产生时，中断处理例程</a:t>
            </a:r>
            <a:r>
              <a:rPr lang="en-US" altLang="zh-CN" sz="2800" b="1" dirty="0" smtClean="0">
                <a:solidFill>
                  <a:srgbClr val="FF00FF"/>
                </a:solidFill>
              </a:rPr>
              <a:t>ISR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被调用，它停留在设备上的时间只够捕获住该</a:t>
            </a:r>
            <a:r>
              <a:rPr lang="zh-CN" altLang="en-US" sz="2800" b="1" dirty="0" smtClean="0">
                <a:solidFill>
                  <a:srgbClr val="FF00FF"/>
                </a:solidFill>
              </a:rPr>
              <a:t>设备状态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并停止设备中断，之后产生一个</a:t>
            </a:r>
            <a:r>
              <a:rPr lang="en-US" altLang="zh-CN" sz="2800" b="1" dirty="0" smtClean="0">
                <a:solidFill>
                  <a:srgbClr val="FF00FF"/>
                </a:solidFill>
              </a:rPr>
              <a:t>DPC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。</a:t>
            </a:r>
          </a:p>
          <a:p>
            <a:pPr marL="609600" indent="-609600" eaLnBrk="1" hangingPunct="1"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</a:rPr>
              <a:t>当</a:t>
            </a:r>
            <a:r>
              <a:rPr lang="en-US" altLang="zh-CN" sz="2800" b="1" dirty="0" smtClean="0">
                <a:solidFill>
                  <a:srgbClr val="FF00FF"/>
                </a:solidFill>
              </a:rPr>
              <a:t>IRQL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降低到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DPC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级别以下时，</a:t>
            </a:r>
            <a:r>
              <a:rPr lang="en-US" altLang="zh-CN" sz="2800" b="1" dirty="0" smtClean="0">
                <a:solidFill>
                  <a:srgbClr val="FF00FF"/>
                </a:solidFill>
              </a:rPr>
              <a:t>DPC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中断产生，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DPC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例程被调度，完成中断处理（将操作状态码写入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I/O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请求包），启动下一个请求。</a:t>
            </a:r>
          </a:p>
          <a:p>
            <a:pPr marL="609600" indent="-609600" eaLnBrk="1" hangingPunct="1"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en-US" altLang="zh-CN" sz="2800" b="1" dirty="0" smtClean="0">
                <a:solidFill>
                  <a:srgbClr val="000066"/>
                </a:solidFill>
              </a:rPr>
              <a:t>I/O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管理器调用驱动程序的</a:t>
            </a:r>
            <a:r>
              <a:rPr lang="en-US" altLang="zh-CN" sz="2800" b="1" dirty="0" smtClean="0">
                <a:solidFill>
                  <a:srgbClr val="FF00FF"/>
                </a:solidFill>
              </a:rPr>
              <a:t>I/O</a:t>
            </a:r>
            <a:r>
              <a:rPr lang="zh-CN" altLang="en-US" sz="2800" b="1" dirty="0" smtClean="0">
                <a:solidFill>
                  <a:srgbClr val="FF00FF"/>
                </a:solidFill>
              </a:rPr>
              <a:t>完成例程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，将一个</a:t>
            </a:r>
            <a:r>
              <a:rPr lang="zh-CN" altLang="en-US" sz="2800" b="1" dirty="0" smtClean="0">
                <a:solidFill>
                  <a:srgbClr val="FF00FF"/>
                </a:solidFill>
              </a:rPr>
              <a:t>核心态</a:t>
            </a:r>
            <a:r>
              <a:rPr lang="en-US" altLang="zh-CN" sz="2800" b="1" dirty="0" smtClean="0">
                <a:solidFill>
                  <a:srgbClr val="FF00FF"/>
                </a:solidFill>
              </a:rPr>
              <a:t>APC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排到线程中。</a:t>
            </a:r>
            <a:endParaRPr lang="en-US" altLang="zh-CN" sz="2800" b="1" dirty="0" smtClean="0">
              <a:solidFill>
                <a:srgbClr val="000066"/>
              </a:solidFill>
            </a:endParaRPr>
          </a:p>
          <a:p>
            <a:pPr marL="609600" indent="-609600" eaLnBrk="1" hangingPunct="1">
              <a:buClr>
                <a:srgbClr val="FF0000"/>
              </a:buClr>
              <a:buFont typeface="Wingdings" pitchFamily="2" charset="2"/>
              <a:buAutoNum type="arabicPeriod"/>
            </a:pPr>
            <a:r>
              <a:rPr lang="zh-CN" altLang="en-US" sz="2800" b="1" dirty="0" smtClean="0">
                <a:solidFill>
                  <a:srgbClr val="000066"/>
                </a:solidFill>
              </a:rPr>
              <a:t>线程被调度，</a:t>
            </a:r>
            <a:r>
              <a:rPr lang="en-US" altLang="zh-CN" sz="2800" b="1" dirty="0" smtClean="0">
                <a:solidFill>
                  <a:srgbClr val="FF00FF"/>
                </a:solidFill>
              </a:rPr>
              <a:t> APC</a:t>
            </a:r>
            <a:r>
              <a:rPr lang="zh-CN" altLang="en-US" sz="2800" b="1" dirty="0" smtClean="0">
                <a:solidFill>
                  <a:srgbClr val="000066"/>
                </a:solidFill>
              </a:rPr>
              <a:t>中断产生，将缓存数据复制到进程地址空间。</a:t>
            </a:r>
            <a:endParaRPr lang="zh-CN" altLang="en-US" sz="2800" b="1" dirty="0" smtClean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06A9AF-BAA0-42C5-A84C-4CA0B3C1A322}" type="slidenum">
              <a:rPr lang="en-US" altLang="zh-CN" smtClean="0"/>
              <a:pPr/>
              <a:t>19</a:t>
            </a:fld>
            <a:endParaRPr lang="en-US" altLang="zh-CN" smtClean="0"/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2349500"/>
            <a:ext cx="8001000" cy="3746500"/>
          </a:xfrm>
        </p:spPr>
        <p:txBody>
          <a:bodyPr/>
          <a:lstStyle/>
          <a:p>
            <a:pPr marL="609600" indent="-609600" eaLnBrk="1" hangingPunct="1">
              <a:spcBef>
                <a:spcPct val="10000"/>
              </a:spcBef>
              <a:buClr>
                <a:srgbClr val="FF0066"/>
              </a:buClr>
              <a:buSzPct val="80000"/>
              <a:buFont typeface="Wingdings" pitchFamily="2" charset="2"/>
              <a:buChar char="u"/>
            </a:pPr>
            <a:r>
              <a:rPr lang="zh-CN" altLang="en-US" b="1" dirty="0" smtClean="0">
                <a:solidFill>
                  <a:srgbClr val="000066"/>
                </a:solidFill>
                <a:latin typeface="宋体" charset="-122"/>
              </a:rPr>
              <a:t>管理操作系统内的所有对象。</a:t>
            </a:r>
            <a:endParaRPr lang="en-US" altLang="zh-CN" b="1" dirty="0" smtClean="0">
              <a:solidFill>
                <a:srgbClr val="000066"/>
              </a:solidFill>
              <a:latin typeface="宋体" charset="-122"/>
            </a:endParaRPr>
          </a:p>
          <a:p>
            <a:pPr eaLnBrk="1" hangingPunct="1">
              <a:spcBef>
                <a:spcPct val="10000"/>
              </a:spcBef>
              <a:buClr>
                <a:srgbClr val="FF0066"/>
              </a:buClr>
              <a:buSzPct val="80000"/>
              <a:buFont typeface="Wingdings" pitchFamily="2" charset="2"/>
              <a:buChar char="u"/>
            </a:pPr>
            <a:r>
              <a:rPr kumimoji="0" lang="zh-CN" altLang="en-US" b="1" dirty="0" smtClean="0">
                <a:solidFill>
                  <a:srgbClr val="FF0066"/>
                </a:solidFill>
              </a:rPr>
              <a:t>   对象是一种内核数据结构。</a:t>
            </a:r>
            <a:r>
              <a:rPr kumimoji="0" lang="zh-CN" altLang="en-US" b="1" dirty="0" smtClean="0">
                <a:solidFill>
                  <a:srgbClr val="000066"/>
                </a:solidFill>
              </a:rPr>
              <a:t>当</a:t>
            </a:r>
            <a:r>
              <a:rPr lang="zh-CN" altLang="en-US" b="1" dirty="0" smtClean="0">
                <a:solidFill>
                  <a:srgbClr val="000066"/>
                </a:solidFill>
              </a:rPr>
              <a:t>系统刚启动时，并没有任何对象，对象是后来创建的</a:t>
            </a:r>
            <a:r>
              <a:rPr lang="zh-CN" altLang="en-US" b="1" dirty="0" smtClean="0">
                <a:solidFill>
                  <a:srgbClr val="006600"/>
                </a:solidFill>
              </a:rPr>
              <a:t>。</a:t>
            </a:r>
          </a:p>
        </p:txBody>
      </p:sp>
      <p:sp>
        <p:nvSpPr>
          <p:cNvPr id="41994" name="AutoShape 10"/>
          <p:cNvSpPr>
            <a:spLocks noChangeArrowheads="1"/>
          </p:cNvSpPr>
          <p:nvPr/>
        </p:nvSpPr>
        <p:spPr bwMode="auto">
          <a:xfrm>
            <a:off x="533400" y="381000"/>
            <a:ext cx="8305800" cy="1447800"/>
          </a:xfrm>
          <a:prstGeom prst="horizontalScroll">
            <a:avLst>
              <a:gd name="adj" fmla="val 13986"/>
            </a:avLst>
          </a:prstGeom>
          <a:solidFill>
            <a:schemeClr val="bg1"/>
          </a:solidFill>
          <a:ln w="3810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zh-CN" sz="4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14.4    </a:t>
            </a:r>
            <a:r>
              <a:rPr lang="zh-CN" altLang="en-US" sz="4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对象管理器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C20E7C-734D-4A5B-BD58-79E80859E2F5}" type="slidenum">
              <a:rPr lang="en-US" altLang="zh-CN" smtClean="0"/>
              <a:pPr/>
              <a:t>20</a:t>
            </a:fld>
            <a:endParaRPr lang="en-US" altLang="zh-CN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81075"/>
            <a:ext cx="7772400" cy="1076325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solidFill>
                  <a:srgbClr val="FF0000"/>
                </a:solidFill>
              </a:rPr>
              <a:t>14.4.1    </a:t>
            </a:r>
            <a:r>
              <a:rPr lang="zh-CN" altLang="en-US" b="1" smtClean="0">
                <a:solidFill>
                  <a:srgbClr val="FF0000"/>
                </a:solidFill>
              </a:rPr>
              <a:t>对象结构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2492375"/>
            <a:ext cx="7772400" cy="3451225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30000"/>
              </a:spcBef>
              <a:buClr>
                <a:srgbClr val="FF0066"/>
              </a:buClr>
              <a:buSzPct val="80000"/>
              <a:buFont typeface="Wingdings" pitchFamily="2" charset="2"/>
              <a:buChar char="u"/>
            </a:pPr>
            <a:r>
              <a:rPr lang="zh-CN" altLang="en-US" b="1" smtClean="0">
                <a:solidFill>
                  <a:srgbClr val="000066"/>
                </a:solidFill>
              </a:rPr>
              <a:t>对象：对象头、对象体</a:t>
            </a: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Clr>
                <a:srgbClr val="FF0066"/>
              </a:buClr>
              <a:buSzPct val="80000"/>
              <a:buFont typeface="Wingdings" pitchFamily="2" charset="2"/>
              <a:buChar char="u"/>
            </a:pPr>
            <a:r>
              <a:rPr lang="zh-CN" altLang="en-US" b="1" smtClean="0">
                <a:solidFill>
                  <a:srgbClr val="000066"/>
                </a:solidFill>
              </a:rPr>
              <a:t>对象管理器控制</a:t>
            </a:r>
            <a:r>
              <a:rPr lang="zh-CN" altLang="en-US" b="1" smtClean="0">
                <a:solidFill>
                  <a:srgbClr val="FF0066"/>
                </a:solidFill>
              </a:rPr>
              <a:t>对象头</a:t>
            </a:r>
            <a:r>
              <a:rPr lang="zh-CN" altLang="en-US" b="1" smtClean="0">
                <a:solidFill>
                  <a:srgbClr val="000066"/>
                </a:solidFill>
              </a:rPr>
              <a:t>，使用对象头中的数据管理对象。</a:t>
            </a:r>
          </a:p>
          <a:p>
            <a:pPr algn="just" eaLnBrk="1" hangingPunct="1">
              <a:lnSpc>
                <a:spcPct val="110000"/>
              </a:lnSpc>
              <a:spcBef>
                <a:spcPct val="30000"/>
              </a:spcBef>
              <a:buClr>
                <a:srgbClr val="FF0066"/>
              </a:buClr>
              <a:buSzPct val="80000"/>
              <a:buFont typeface="Wingdings" pitchFamily="2" charset="2"/>
              <a:buChar char="u"/>
            </a:pPr>
            <a:r>
              <a:rPr lang="zh-CN" altLang="en-US" b="1" smtClean="0">
                <a:solidFill>
                  <a:srgbClr val="000066"/>
                </a:solidFill>
              </a:rPr>
              <a:t>各执行体组件控制其创建对象的</a:t>
            </a:r>
            <a:r>
              <a:rPr lang="zh-CN" altLang="en-US" b="1" smtClean="0">
                <a:solidFill>
                  <a:srgbClr val="FF0066"/>
                </a:solidFill>
              </a:rPr>
              <a:t>对象体</a:t>
            </a:r>
            <a:r>
              <a:rPr lang="zh-CN" altLang="en-US" b="1" smtClean="0">
                <a:solidFill>
                  <a:srgbClr val="000066"/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81E5A5-A2C3-438F-BBC2-BAEE5E4C94D6}" type="slidenum">
              <a:rPr lang="en-US" altLang="zh-CN" smtClean="0"/>
              <a:pPr/>
              <a:t>21</a:t>
            </a:fld>
            <a:endParaRPr lang="en-US" altLang="zh-CN" smtClean="0"/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2051050" y="765175"/>
            <a:ext cx="3457575" cy="446246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2051050" y="765175"/>
            <a:ext cx="3457575" cy="357188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对象名称</a:t>
            </a:r>
          </a:p>
        </p:txBody>
      </p:sp>
      <p:sp>
        <p:nvSpPr>
          <p:cNvPr id="31749" name="Text Box 6"/>
          <p:cNvSpPr txBox="1">
            <a:spLocks noChangeArrowheads="1"/>
          </p:cNvSpPr>
          <p:nvPr/>
        </p:nvSpPr>
        <p:spPr bwMode="auto">
          <a:xfrm>
            <a:off x="2051050" y="1125538"/>
            <a:ext cx="3457575" cy="357187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对象目录</a:t>
            </a:r>
          </a:p>
        </p:txBody>
      </p:sp>
      <p:sp>
        <p:nvSpPr>
          <p:cNvPr id="31750" name="Text Box 7"/>
          <p:cNvSpPr txBox="1">
            <a:spLocks noChangeArrowheads="1"/>
          </p:cNvSpPr>
          <p:nvPr/>
        </p:nvSpPr>
        <p:spPr bwMode="auto">
          <a:xfrm>
            <a:off x="2051050" y="1485900"/>
            <a:ext cx="3457575" cy="357188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安全描述体</a:t>
            </a:r>
          </a:p>
        </p:txBody>
      </p:sp>
      <p:sp>
        <p:nvSpPr>
          <p:cNvPr id="31751" name="Text Box 8"/>
          <p:cNvSpPr txBox="1">
            <a:spLocks noChangeArrowheads="1"/>
          </p:cNvSpPr>
          <p:nvPr/>
        </p:nvSpPr>
        <p:spPr bwMode="auto">
          <a:xfrm>
            <a:off x="2051050" y="1846263"/>
            <a:ext cx="3457575" cy="34925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资源配额</a:t>
            </a:r>
          </a:p>
        </p:txBody>
      </p:sp>
      <p:sp>
        <p:nvSpPr>
          <p:cNvPr id="31752" name="Text Box 9"/>
          <p:cNvSpPr txBox="1">
            <a:spLocks noChangeArrowheads="1"/>
          </p:cNvSpPr>
          <p:nvPr/>
        </p:nvSpPr>
        <p:spPr bwMode="auto">
          <a:xfrm>
            <a:off x="2051050" y="2206625"/>
            <a:ext cx="3457575" cy="357188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打开对象句柄计数</a:t>
            </a:r>
          </a:p>
        </p:txBody>
      </p:sp>
      <p:sp>
        <p:nvSpPr>
          <p:cNvPr id="31753" name="Text Box 10"/>
          <p:cNvSpPr txBox="1">
            <a:spLocks noChangeArrowheads="1"/>
          </p:cNvSpPr>
          <p:nvPr/>
        </p:nvSpPr>
        <p:spPr bwMode="auto">
          <a:xfrm>
            <a:off x="2051050" y="2565400"/>
            <a:ext cx="3457575" cy="357188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引用计数</a:t>
            </a:r>
          </a:p>
        </p:txBody>
      </p:sp>
      <p:sp>
        <p:nvSpPr>
          <p:cNvPr id="31754" name="Text Box 11"/>
          <p:cNvSpPr txBox="1">
            <a:spLocks noChangeArrowheads="1"/>
          </p:cNvSpPr>
          <p:nvPr/>
        </p:nvSpPr>
        <p:spPr bwMode="auto">
          <a:xfrm>
            <a:off x="2051050" y="2925763"/>
            <a:ext cx="3457575" cy="46037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000066"/>
                </a:solidFill>
              </a:rPr>
              <a:t>对象类型</a:t>
            </a:r>
          </a:p>
        </p:txBody>
      </p:sp>
      <p:sp>
        <p:nvSpPr>
          <p:cNvPr id="31755" name="Text Box 12"/>
          <p:cNvSpPr txBox="1">
            <a:spLocks noChangeArrowheads="1"/>
          </p:cNvSpPr>
          <p:nvPr/>
        </p:nvSpPr>
        <p:spPr bwMode="auto">
          <a:xfrm>
            <a:off x="2286000" y="3716338"/>
            <a:ext cx="3024188" cy="11207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200">
                <a:solidFill>
                  <a:srgbClr val="3333FF"/>
                </a:solidFill>
              </a:rPr>
              <a:t>对象数据</a:t>
            </a:r>
          </a:p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3200">
                <a:solidFill>
                  <a:srgbClr val="3333FF"/>
                </a:solidFill>
              </a:rPr>
              <a:t>(</a:t>
            </a:r>
            <a:r>
              <a:rPr lang="zh-CN" altLang="en-US" sz="3200">
                <a:solidFill>
                  <a:srgbClr val="3333FF"/>
                </a:solidFill>
              </a:rPr>
              <a:t>对象体</a:t>
            </a:r>
            <a:r>
              <a:rPr lang="en-US" altLang="zh-CN" sz="3200">
                <a:solidFill>
                  <a:srgbClr val="3333FF"/>
                </a:solidFill>
              </a:rPr>
              <a:t>)</a:t>
            </a:r>
          </a:p>
        </p:txBody>
      </p:sp>
      <p:sp>
        <p:nvSpPr>
          <p:cNvPr id="31756" name="Text Box 13"/>
          <p:cNvSpPr txBox="1">
            <a:spLocks noChangeArrowheads="1"/>
          </p:cNvSpPr>
          <p:nvPr/>
        </p:nvSpPr>
        <p:spPr bwMode="auto">
          <a:xfrm>
            <a:off x="6443663" y="3013075"/>
            <a:ext cx="1944687" cy="30321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72000" tIns="0" rIns="0" bIns="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类型名称</a:t>
            </a:r>
          </a:p>
        </p:txBody>
      </p:sp>
      <p:sp>
        <p:nvSpPr>
          <p:cNvPr id="31757" name="Text Box 14"/>
          <p:cNvSpPr txBox="1">
            <a:spLocks noChangeArrowheads="1"/>
          </p:cNvSpPr>
          <p:nvPr/>
        </p:nvSpPr>
        <p:spPr bwMode="auto">
          <a:xfrm>
            <a:off x="6443663" y="3284538"/>
            <a:ext cx="1944687" cy="30321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72000" tIns="0" rIns="0" bIns="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访问类型</a:t>
            </a:r>
          </a:p>
        </p:txBody>
      </p:sp>
      <p:sp>
        <p:nvSpPr>
          <p:cNvPr id="31758" name="Text Box 15"/>
          <p:cNvSpPr txBox="1">
            <a:spLocks noChangeArrowheads="1"/>
          </p:cNvSpPr>
          <p:nvPr/>
        </p:nvSpPr>
        <p:spPr bwMode="auto">
          <a:xfrm>
            <a:off x="6443663" y="3573463"/>
            <a:ext cx="1944687" cy="30321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72000" tIns="0" rIns="0" bIns="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访问权</a:t>
            </a:r>
          </a:p>
        </p:txBody>
      </p:sp>
      <p:sp>
        <p:nvSpPr>
          <p:cNvPr id="31759" name="Text Box 16"/>
          <p:cNvSpPr txBox="1">
            <a:spLocks noChangeArrowheads="1"/>
          </p:cNvSpPr>
          <p:nvPr/>
        </p:nvSpPr>
        <p:spPr bwMode="auto">
          <a:xfrm>
            <a:off x="6443663" y="3860800"/>
            <a:ext cx="1944687" cy="30321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72000" tIns="0" rIns="0" bIns="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配额指示</a:t>
            </a:r>
          </a:p>
        </p:txBody>
      </p:sp>
      <p:sp>
        <p:nvSpPr>
          <p:cNvPr id="31760" name="Text Box 17"/>
          <p:cNvSpPr txBox="1">
            <a:spLocks noChangeArrowheads="1"/>
          </p:cNvSpPr>
          <p:nvPr/>
        </p:nvSpPr>
        <p:spPr bwMode="auto">
          <a:xfrm>
            <a:off x="6443663" y="4149725"/>
            <a:ext cx="1944687" cy="30321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72000" tIns="0" rIns="0" bIns="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可同步</a:t>
            </a:r>
          </a:p>
        </p:txBody>
      </p:sp>
      <p:sp>
        <p:nvSpPr>
          <p:cNvPr id="31761" name="Text Box 18"/>
          <p:cNvSpPr txBox="1">
            <a:spLocks noChangeArrowheads="1"/>
          </p:cNvSpPr>
          <p:nvPr/>
        </p:nvSpPr>
        <p:spPr bwMode="auto">
          <a:xfrm>
            <a:off x="6443663" y="4437063"/>
            <a:ext cx="1944687" cy="30321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72000" tIns="0" rIns="0" bIns="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2000">
                <a:solidFill>
                  <a:srgbClr val="3333FF"/>
                </a:solidFill>
              </a:rPr>
              <a:t>可分页</a:t>
            </a:r>
          </a:p>
        </p:txBody>
      </p:sp>
      <p:sp>
        <p:nvSpPr>
          <p:cNvPr id="31762" name="Text Box 19"/>
          <p:cNvSpPr txBox="1">
            <a:spLocks noChangeArrowheads="1"/>
          </p:cNvSpPr>
          <p:nvPr/>
        </p:nvSpPr>
        <p:spPr bwMode="auto">
          <a:xfrm>
            <a:off x="6443663" y="4724400"/>
            <a:ext cx="1944687" cy="16764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000">
                <a:solidFill>
                  <a:srgbClr val="3333FF"/>
                </a:solidFill>
              </a:rPr>
              <a:t>Open</a:t>
            </a:r>
            <a:r>
              <a:rPr lang="zh-CN" altLang="en-US" sz="2000">
                <a:solidFill>
                  <a:srgbClr val="3333FF"/>
                </a:solidFill>
              </a:rPr>
              <a:t>方法</a:t>
            </a:r>
          </a:p>
          <a:p>
            <a:pPr marL="342900" indent="-342900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2000">
                <a:solidFill>
                  <a:srgbClr val="3333FF"/>
                </a:solidFill>
              </a:rPr>
              <a:t>Close</a:t>
            </a:r>
            <a:r>
              <a:rPr kumimoji="0" lang="zh-CN" altLang="en-US" sz="2000">
                <a:solidFill>
                  <a:srgbClr val="3333FF"/>
                </a:solidFill>
              </a:rPr>
              <a:t>方法</a:t>
            </a:r>
          </a:p>
          <a:p>
            <a:pPr marL="342900" indent="-342900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2000">
                <a:solidFill>
                  <a:srgbClr val="3333FF"/>
                </a:solidFill>
              </a:rPr>
              <a:t>Delete</a:t>
            </a:r>
            <a:r>
              <a:rPr kumimoji="0" lang="zh-CN" altLang="en-US" sz="2000">
                <a:solidFill>
                  <a:srgbClr val="3333FF"/>
                </a:solidFill>
              </a:rPr>
              <a:t>方法</a:t>
            </a:r>
          </a:p>
          <a:p>
            <a:pPr marL="342900" indent="-342900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2000">
                <a:solidFill>
                  <a:srgbClr val="3333FF"/>
                </a:solidFill>
              </a:rPr>
              <a:t>Query name</a:t>
            </a:r>
            <a:r>
              <a:rPr kumimoji="0" lang="zh-CN" altLang="en-US" sz="2000">
                <a:solidFill>
                  <a:srgbClr val="3333FF"/>
                </a:solidFill>
              </a:rPr>
              <a:t>方法</a:t>
            </a:r>
          </a:p>
          <a:p>
            <a:pPr marL="342900" indent="-342900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2000">
                <a:solidFill>
                  <a:srgbClr val="3333FF"/>
                </a:solidFill>
              </a:rPr>
              <a:t>Parse</a:t>
            </a:r>
            <a:r>
              <a:rPr kumimoji="0" lang="zh-CN" altLang="en-US" sz="2000">
                <a:solidFill>
                  <a:srgbClr val="3333FF"/>
                </a:solidFill>
              </a:rPr>
              <a:t>方法</a:t>
            </a:r>
          </a:p>
          <a:p>
            <a:pPr marL="342900" indent="-342900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2000">
                <a:solidFill>
                  <a:srgbClr val="3333FF"/>
                </a:solidFill>
              </a:rPr>
              <a:t>Security</a:t>
            </a:r>
            <a:r>
              <a:rPr kumimoji="0" lang="zh-CN" altLang="en-US" sz="2000">
                <a:solidFill>
                  <a:srgbClr val="3333FF"/>
                </a:solidFill>
              </a:rPr>
              <a:t>方法</a:t>
            </a:r>
          </a:p>
        </p:txBody>
      </p:sp>
      <p:sp>
        <p:nvSpPr>
          <p:cNvPr id="31763" name="Text Box 20"/>
          <p:cNvSpPr txBox="1">
            <a:spLocks noChangeArrowheads="1"/>
          </p:cNvSpPr>
          <p:nvPr/>
        </p:nvSpPr>
        <p:spPr bwMode="auto">
          <a:xfrm>
            <a:off x="304800" y="1676400"/>
            <a:ext cx="1309688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200">
                <a:solidFill>
                  <a:srgbClr val="FF0066"/>
                </a:solidFill>
              </a:rPr>
              <a:t>对象头</a:t>
            </a:r>
          </a:p>
        </p:txBody>
      </p:sp>
      <p:sp>
        <p:nvSpPr>
          <p:cNvPr id="31764" name="Text Box 21"/>
          <p:cNvSpPr txBox="1">
            <a:spLocks noChangeArrowheads="1"/>
          </p:cNvSpPr>
          <p:nvPr/>
        </p:nvSpPr>
        <p:spPr bwMode="auto">
          <a:xfrm>
            <a:off x="228600" y="3733800"/>
            <a:ext cx="16764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None/>
            </a:pPr>
            <a:r>
              <a:rPr lang="zh-CN" altLang="en-US" sz="3200">
                <a:solidFill>
                  <a:srgbClr val="FF0066"/>
                </a:solidFill>
              </a:rPr>
              <a:t>对象体</a:t>
            </a:r>
          </a:p>
        </p:txBody>
      </p:sp>
      <p:sp>
        <p:nvSpPr>
          <p:cNvPr id="31765" name="AutoShape 22"/>
          <p:cNvSpPr>
            <a:spLocks/>
          </p:cNvSpPr>
          <p:nvPr/>
        </p:nvSpPr>
        <p:spPr bwMode="auto">
          <a:xfrm>
            <a:off x="1547813" y="908050"/>
            <a:ext cx="360362" cy="2376488"/>
          </a:xfrm>
          <a:prstGeom prst="leftBrace">
            <a:avLst>
              <a:gd name="adj1" fmla="val 54956"/>
              <a:gd name="adj2" fmla="val 51259"/>
            </a:avLst>
          </a:prstGeom>
          <a:noFill/>
          <a:ln w="1905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pPr marL="342900" indent="-342900" algn="ctr"/>
            <a:endParaRPr lang="zh-CN" altLang="zh-CN">
              <a:solidFill>
                <a:srgbClr val="FF0066"/>
              </a:solidFill>
            </a:endParaRPr>
          </a:p>
        </p:txBody>
      </p:sp>
      <p:sp>
        <p:nvSpPr>
          <p:cNvPr id="31766" name="AutoShape 23"/>
          <p:cNvSpPr>
            <a:spLocks/>
          </p:cNvSpPr>
          <p:nvPr/>
        </p:nvSpPr>
        <p:spPr bwMode="auto">
          <a:xfrm>
            <a:off x="1546225" y="3429000"/>
            <a:ext cx="361950" cy="1728788"/>
          </a:xfrm>
          <a:prstGeom prst="leftBrace">
            <a:avLst>
              <a:gd name="adj1" fmla="val 39803"/>
              <a:gd name="adj2" fmla="val 50000"/>
            </a:avLst>
          </a:prstGeom>
          <a:noFill/>
          <a:ln w="1905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67" name="Line 24"/>
          <p:cNvSpPr>
            <a:spLocks noChangeShapeType="1"/>
          </p:cNvSpPr>
          <p:nvPr/>
        </p:nvSpPr>
        <p:spPr bwMode="auto">
          <a:xfrm>
            <a:off x="5362575" y="3141663"/>
            <a:ext cx="1008063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8" name="AutoShape 26"/>
          <p:cNvSpPr>
            <a:spLocks noChangeArrowheads="1"/>
          </p:cNvSpPr>
          <p:nvPr/>
        </p:nvSpPr>
        <p:spPr bwMode="auto">
          <a:xfrm>
            <a:off x="6227763" y="1700213"/>
            <a:ext cx="2089150" cy="649287"/>
          </a:xfrm>
          <a:prstGeom prst="wedgeRoundRectCallout">
            <a:avLst>
              <a:gd name="adj1" fmla="val -4940"/>
              <a:gd name="adj2" fmla="val 116750"/>
              <a:gd name="adj3" fmla="val 16667"/>
            </a:avLst>
          </a:prstGeom>
          <a:solidFill>
            <a:srgbClr val="CCFFFF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buFont typeface="Wingdings" pitchFamily="2" charset="2"/>
              <a:buNone/>
            </a:pPr>
            <a:r>
              <a:rPr lang="zh-CN" altLang="en-US" sz="3200">
                <a:solidFill>
                  <a:srgbClr val="000066"/>
                </a:solidFill>
              </a:rPr>
              <a:t>类型对象</a:t>
            </a:r>
          </a:p>
        </p:txBody>
      </p:sp>
      <p:sp>
        <p:nvSpPr>
          <p:cNvPr id="31769" name="Text Box 27"/>
          <p:cNvSpPr txBox="1">
            <a:spLocks noChangeArrowheads="1"/>
          </p:cNvSpPr>
          <p:nvPr/>
        </p:nvSpPr>
        <p:spPr bwMode="auto">
          <a:xfrm>
            <a:off x="685800" y="5638800"/>
            <a:ext cx="352742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sz="3600">
                <a:solidFill>
                  <a:srgbClr val="FF0000"/>
                </a:solidFill>
              </a:rPr>
              <a:t>对象的结构</a:t>
            </a:r>
          </a:p>
        </p:txBody>
      </p:sp>
      <p:sp>
        <p:nvSpPr>
          <p:cNvPr id="31770" name="AutoShape 28"/>
          <p:cNvSpPr>
            <a:spLocks noChangeArrowheads="1"/>
          </p:cNvSpPr>
          <p:nvPr/>
        </p:nvSpPr>
        <p:spPr bwMode="auto">
          <a:xfrm>
            <a:off x="4191000" y="5638800"/>
            <a:ext cx="1905000" cy="685800"/>
          </a:xfrm>
          <a:prstGeom prst="wedgeRoundRectCallout">
            <a:avLst>
              <a:gd name="adj1" fmla="val 86667"/>
              <a:gd name="adj2" fmla="val -102083"/>
              <a:gd name="adj3" fmla="val 16667"/>
            </a:avLst>
          </a:prstGeom>
          <a:solidFill>
            <a:schemeClr val="bg1"/>
          </a:solidFill>
          <a:ln w="28575">
            <a:solidFill>
              <a:srgbClr val="FF0066"/>
            </a:solidFill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buFont typeface="Wingdings" pitchFamily="2" charset="2"/>
              <a:buNone/>
            </a:pPr>
            <a:r>
              <a:rPr lang="zh-CN" altLang="en-US" sz="3200">
                <a:solidFill>
                  <a:srgbClr val="000066"/>
                </a:solidFill>
              </a:rPr>
              <a:t>对象方法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EA3FE8D-D242-467B-9740-9ACE7C68CAF4}" type="slidenum">
              <a:rPr lang="en-US" altLang="zh-CN" smtClean="0"/>
              <a:pPr/>
              <a:t>22</a:t>
            </a:fld>
            <a:endParaRPr lang="en-US" altLang="zh-CN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800" b="1" smtClean="0">
                <a:solidFill>
                  <a:srgbClr val="FF0000"/>
                </a:solidFill>
              </a:rPr>
              <a:t>类型对象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Clr>
                <a:srgbClr val="FF0000"/>
              </a:buClr>
              <a:buSzPct val="80000"/>
              <a:buFont typeface="Wingdings" pitchFamily="2" charset="2"/>
              <a:buChar char="u"/>
            </a:pPr>
            <a:r>
              <a:rPr lang="zh-CN" altLang="en-US" sz="3000" b="1" dirty="0" smtClean="0">
                <a:solidFill>
                  <a:srgbClr val="000066"/>
                </a:solidFill>
              </a:rPr>
              <a:t>类型对象：存储特定类型对象的公共属性。</a:t>
            </a:r>
            <a:endParaRPr lang="en-US" altLang="zh-CN" sz="3000" b="1" dirty="0" smtClean="0">
              <a:solidFill>
                <a:srgbClr val="000066"/>
              </a:solidFill>
            </a:endParaRPr>
          </a:p>
          <a:p>
            <a:pPr marL="609600" indent="-609600" eaLnBrk="1" hangingPunct="1">
              <a:buClr>
                <a:srgbClr val="FF0000"/>
              </a:buClr>
              <a:buSzPct val="80000"/>
              <a:buFont typeface="Wingdings" pitchFamily="2" charset="2"/>
              <a:buChar char="u"/>
            </a:pPr>
            <a:r>
              <a:rPr lang="zh-CN" altLang="en-US" sz="3000" b="1" dirty="0" smtClean="0">
                <a:solidFill>
                  <a:srgbClr val="000066"/>
                </a:solidFill>
              </a:rPr>
              <a:t>系统有一个全局变量</a:t>
            </a:r>
            <a:r>
              <a:rPr lang="en-US" altLang="zh-CN" sz="3000" b="1" dirty="0" err="1" smtClean="0">
                <a:solidFill>
                  <a:srgbClr val="FF00FF"/>
                </a:solidFill>
              </a:rPr>
              <a:t>ObpObjectTypes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数组记录了所有已创建的类型。</a:t>
            </a:r>
          </a:p>
          <a:p>
            <a:pPr marL="609600" indent="-609600" eaLnBrk="1" hangingPunct="1">
              <a:buClr>
                <a:srgbClr val="FF0000"/>
              </a:buClr>
              <a:buSzPct val="80000"/>
              <a:buFont typeface="Wingdings" pitchFamily="2" charset="2"/>
              <a:buChar char="u"/>
            </a:pPr>
            <a:r>
              <a:rPr lang="en-US" altLang="zh-CN" sz="3000" b="1" dirty="0" smtClean="0">
                <a:solidFill>
                  <a:srgbClr val="000066"/>
                </a:solidFill>
              </a:rPr>
              <a:t>Windows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支持</a:t>
            </a:r>
            <a:r>
              <a:rPr lang="en-US" altLang="zh-CN" sz="3000" b="1" dirty="0" smtClean="0">
                <a:solidFill>
                  <a:srgbClr val="FF00FF"/>
                </a:solidFill>
              </a:rPr>
              <a:t>31</a:t>
            </a:r>
            <a:r>
              <a:rPr lang="zh-CN" altLang="en-US" sz="3000" b="1" dirty="0" smtClean="0">
                <a:solidFill>
                  <a:srgbClr val="FF00FF"/>
                </a:solidFill>
              </a:rPr>
              <a:t>种</a:t>
            </a:r>
            <a:r>
              <a:rPr lang="zh-CN" altLang="en-US" sz="3000" b="1" dirty="0" smtClean="0">
                <a:solidFill>
                  <a:srgbClr val="000066"/>
                </a:solidFill>
              </a:rPr>
              <a:t>类型对象： 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ExEventObjectType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ExMutantObjectType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ExSemaphoreObjectType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IoFileObjectType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IoDeviceObjectType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IoDriverObjectType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PsProcessType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, </a:t>
            </a:r>
            <a:r>
              <a:rPr lang="en-US" altLang="zh-CN" sz="2800" b="1" dirty="0" err="1" smtClean="0">
                <a:solidFill>
                  <a:srgbClr val="000066"/>
                </a:solidFill>
              </a:rPr>
              <a:t>PsThreadType</a:t>
            </a:r>
            <a:r>
              <a:rPr lang="en-US" altLang="zh-CN" sz="2800" b="1" dirty="0" smtClean="0">
                <a:solidFill>
                  <a:srgbClr val="000066"/>
                </a:solidFill>
              </a:rPr>
              <a:t>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00689A-E8FC-4A07-A25E-1EA58A21DFAC}" type="slidenum">
              <a:rPr lang="en-US" altLang="zh-CN" smtClean="0"/>
              <a:pPr/>
              <a:t>23</a:t>
            </a:fld>
            <a:endParaRPr lang="en-US" altLang="zh-CN" smtClean="0"/>
          </a:p>
        </p:txBody>
      </p:sp>
      <p:grpSp>
        <p:nvGrpSpPr>
          <p:cNvPr id="33795" name="Group 15"/>
          <p:cNvGrpSpPr>
            <a:grpSpLocks/>
          </p:cNvGrpSpPr>
          <p:nvPr/>
        </p:nvGrpSpPr>
        <p:grpSpPr bwMode="auto">
          <a:xfrm>
            <a:off x="571472" y="1142984"/>
            <a:ext cx="7764463" cy="4535488"/>
            <a:chOff x="340" y="799"/>
            <a:chExt cx="4891" cy="2857"/>
          </a:xfrm>
        </p:grpSpPr>
        <p:sp>
          <p:nvSpPr>
            <p:cNvPr id="33796" name="Text Box 4"/>
            <p:cNvSpPr txBox="1">
              <a:spLocks noChangeArrowheads="1"/>
            </p:cNvSpPr>
            <p:nvPr/>
          </p:nvSpPr>
          <p:spPr bwMode="auto">
            <a:xfrm>
              <a:off x="610" y="3319"/>
              <a:ext cx="4590" cy="3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342900" indent="-342900">
                <a:spcBef>
                  <a:spcPct val="50000"/>
                </a:spcBef>
                <a:buNone/>
              </a:pPr>
              <a:r>
                <a:rPr kumimoji="0" lang="zh-CN" altLang="en-US" sz="3200" dirty="0" smtClean="0">
                  <a:solidFill>
                    <a:srgbClr val="FF0000"/>
                  </a:solidFill>
                </a:rPr>
                <a:t>类型</a:t>
              </a:r>
              <a:r>
                <a:rPr kumimoji="0" lang="zh-CN" altLang="en-US" sz="3200" dirty="0">
                  <a:solidFill>
                    <a:srgbClr val="FF0000"/>
                  </a:solidFill>
                </a:rPr>
                <a:t>对象将所有同类对象链接在</a:t>
              </a:r>
              <a:r>
                <a:rPr kumimoji="0" lang="zh-CN" altLang="en-US" sz="3200" dirty="0" smtClean="0">
                  <a:solidFill>
                    <a:srgbClr val="FF0000"/>
                  </a:solidFill>
                </a:rPr>
                <a:t>一起</a:t>
              </a:r>
              <a:endParaRPr lang="zh-CN" altLang="en-US" sz="3200" dirty="0">
                <a:solidFill>
                  <a:srgbClr val="FF0000"/>
                </a:solidFill>
              </a:endParaRPr>
            </a:p>
          </p:txBody>
        </p:sp>
        <p:sp>
          <p:nvSpPr>
            <p:cNvPr id="33797" name="Freeform 5"/>
            <p:cNvSpPr>
              <a:spLocks/>
            </p:cNvSpPr>
            <p:nvPr/>
          </p:nvSpPr>
          <p:spPr bwMode="auto">
            <a:xfrm>
              <a:off x="340" y="1026"/>
              <a:ext cx="1089" cy="1270"/>
            </a:xfrm>
            <a:custGeom>
              <a:avLst/>
              <a:gdLst>
                <a:gd name="T0" fmla="*/ 1153 w 1081"/>
                <a:gd name="T1" fmla="*/ 0 h 1180"/>
                <a:gd name="T2" fmla="*/ 92 w 1081"/>
                <a:gd name="T3" fmla="*/ 966 h 1180"/>
                <a:gd name="T4" fmla="*/ 620 w 1081"/>
                <a:gd name="T5" fmla="*/ 2287 h 1180"/>
                <a:gd name="T6" fmla="*/ 0 60000 65536"/>
                <a:gd name="T7" fmla="*/ 0 60000 65536"/>
                <a:gd name="T8" fmla="*/ 0 60000 65536"/>
                <a:gd name="T9" fmla="*/ 0 w 1081"/>
                <a:gd name="T10" fmla="*/ 0 h 1180"/>
                <a:gd name="T11" fmla="*/ 1081 w 1081"/>
                <a:gd name="T12" fmla="*/ 1180 h 11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1" h="1180">
                  <a:moveTo>
                    <a:pt x="1081" y="0"/>
                  </a:moveTo>
                  <a:cubicBezTo>
                    <a:pt x="623" y="151"/>
                    <a:pt x="166" y="302"/>
                    <a:pt x="83" y="499"/>
                  </a:cubicBezTo>
                  <a:cubicBezTo>
                    <a:pt x="0" y="696"/>
                    <a:pt x="499" y="1067"/>
                    <a:pt x="582" y="118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8" name="Freeform 6"/>
            <p:cNvSpPr>
              <a:spLocks/>
            </p:cNvSpPr>
            <p:nvPr/>
          </p:nvSpPr>
          <p:spPr bwMode="auto">
            <a:xfrm>
              <a:off x="1701" y="1525"/>
              <a:ext cx="785" cy="884"/>
            </a:xfrm>
            <a:custGeom>
              <a:avLst/>
              <a:gdLst>
                <a:gd name="T0" fmla="*/ 0 w 785"/>
                <a:gd name="T1" fmla="*/ 861 h 884"/>
                <a:gd name="T2" fmla="*/ 363 w 785"/>
                <a:gd name="T3" fmla="*/ 816 h 884"/>
                <a:gd name="T4" fmla="*/ 725 w 785"/>
                <a:gd name="T5" fmla="*/ 453 h 884"/>
                <a:gd name="T6" fmla="*/ 725 w 785"/>
                <a:gd name="T7" fmla="*/ 136 h 884"/>
                <a:gd name="T8" fmla="*/ 363 w 785"/>
                <a:gd name="T9" fmla="*/ 0 h 8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5"/>
                <a:gd name="T16" fmla="*/ 0 h 884"/>
                <a:gd name="T17" fmla="*/ 785 w 785"/>
                <a:gd name="T18" fmla="*/ 884 h 8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5" h="884">
                  <a:moveTo>
                    <a:pt x="0" y="861"/>
                  </a:moveTo>
                  <a:cubicBezTo>
                    <a:pt x="121" y="872"/>
                    <a:pt x="242" y="884"/>
                    <a:pt x="363" y="816"/>
                  </a:cubicBezTo>
                  <a:cubicBezTo>
                    <a:pt x="484" y="748"/>
                    <a:pt x="665" y="566"/>
                    <a:pt x="725" y="453"/>
                  </a:cubicBezTo>
                  <a:cubicBezTo>
                    <a:pt x="785" y="340"/>
                    <a:pt x="785" y="212"/>
                    <a:pt x="725" y="136"/>
                  </a:cubicBezTo>
                  <a:cubicBezTo>
                    <a:pt x="665" y="60"/>
                    <a:pt x="423" y="23"/>
                    <a:pt x="363" y="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9" name="Freeform 7"/>
            <p:cNvSpPr>
              <a:spLocks/>
            </p:cNvSpPr>
            <p:nvPr/>
          </p:nvSpPr>
          <p:spPr bwMode="auto">
            <a:xfrm>
              <a:off x="2064" y="1026"/>
              <a:ext cx="3167" cy="1413"/>
            </a:xfrm>
            <a:custGeom>
              <a:avLst/>
              <a:gdLst>
                <a:gd name="T0" fmla="*/ 2676 w 3167"/>
                <a:gd name="T1" fmla="*/ 1406 h 1413"/>
                <a:gd name="T2" fmla="*/ 2993 w 3167"/>
                <a:gd name="T3" fmla="*/ 1360 h 1413"/>
                <a:gd name="T4" fmla="*/ 3129 w 3167"/>
                <a:gd name="T5" fmla="*/ 1088 h 1413"/>
                <a:gd name="T6" fmla="*/ 3129 w 3167"/>
                <a:gd name="T7" fmla="*/ 771 h 1413"/>
                <a:gd name="T8" fmla="*/ 2903 w 3167"/>
                <a:gd name="T9" fmla="*/ 589 h 1413"/>
                <a:gd name="T10" fmla="*/ 2540 w 3167"/>
                <a:gd name="T11" fmla="*/ 453 h 1413"/>
                <a:gd name="T12" fmla="*/ 1859 w 3167"/>
                <a:gd name="T13" fmla="*/ 272 h 1413"/>
                <a:gd name="T14" fmla="*/ 0 w 3167"/>
                <a:gd name="T15" fmla="*/ 0 h 14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167"/>
                <a:gd name="T25" fmla="*/ 0 h 1413"/>
                <a:gd name="T26" fmla="*/ 3167 w 3167"/>
                <a:gd name="T27" fmla="*/ 1413 h 141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167" h="1413">
                  <a:moveTo>
                    <a:pt x="2676" y="1406"/>
                  </a:moveTo>
                  <a:cubicBezTo>
                    <a:pt x="2797" y="1409"/>
                    <a:pt x="2918" y="1413"/>
                    <a:pt x="2993" y="1360"/>
                  </a:cubicBezTo>
                  <a:cubicBezTo>
                    <a:pt x="3068" y="1307"/>
                    <a:pt x="3106" y="1186"/>
                    <a:pt x="3129" y="1088"/>
                  </a:cubicBezTo>
                  <a:cubicBezTo>
                    <a:pt x="3152" y="990"/>
                    <a:pt x="3167" y="854"/>
                    <a:pt x="3129" y="771"/>
                  </a:cubicBezTo>
                  <a:cubicBezTo>
                    <a:pt x="3091" y="688"/>
                    <a:pt x="3001" y="642"/>
                    <a:pt x="2903" y="589"/>
                  </a:cubicBezTo>
                  <a:cubicBezTo>
                    <a:pt x="2805" y="536"/>
                    <a:pt x="2714" y="506"/>
                    <a:pt x="2540" y="453"/>
                  </a:cubicBezTo>
                  <a:cubicBezTo>
                    <a:pt x="2366" y="400"/>
                    <a:pt x="2282" y="348"/>
                    <a:pt x="1859" y="272"/>
                  </a:cubicBezTo>
                  <a:cubicBezTo>
                    <a:pt x="1436" y="196"/>
                    <a:pt x="310" y="45"/>
                    <a:pt x="0" y="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0" name="Freeform 8"/>
            <p:cNvSpPr>
              <a:spLocks/>
            </p:cNvSpPr>
            <p:nvPr/>
          </p:nvSpPr>
          <p:spPr bwMode="auto">
            <a:xfrm>
              <a:off x="2064" y="1252"/>
              <a:ext cx="1481" cy="1134"/>
            </a:xfrm>
            <a:custGeom>
              <a:avLst/>
              <a:gdLst>
                <a:gd name="T0" fmla="*/ 907 w 1481"/>
                <a:gd name="T1" fmla="*/ 1134 h 1134"/>
                <a:gd name="T2" fmla="*/ 1134 w 1481"/>
                <a:gd name="T3" fmla="*/ 1089 h 1134"/>
                <a:gd name="T4" fmla="*/ 1360 w 1481"/>
                <a:gd name="T5" fmla="*/ 908 h 1134"/>
                <a:gd name="T6" fmla="*/ 1451 w 1481"/>
                <a:gd name="T7" fmla="*/ 635 h 1134"/>
                <a:gd name="T8" fmla="*/ 1179 w 1481"/>
                <a:gd name="T9" fmla="*/ 318 h 1134"/>
                <a:gd name="T10" fmla="*/ 635 w 1481"/>
                <a:gd name="T11" fmla="*/ 136 h 1134"/>
                <a:gd name="T12" fmla="*/ 0 w 1481"/>
                <a:gd name="T13" fmla="*/ 0 h 11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81"/>
                <a:gd name="T22" fmla="*/ 0 h 1134"/>
                <a:gd name="T23" fmla="*/ 1481 w 1481"/>
                <a:gd name="T24" fmla="*/ 1134 h 113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81" h="1134">
                  <a:moveTo>
                    <a:pt x="907" y="1134"/>
                  </a:moveTo>
                  <a:cubicBezTo>
                    <a:pt x="982" y="1130"/>
                    <a:pt x="1058" y="1127"/>
                    <a:pt x="1134" y="1089"/>
                  </a:cubicBezTo>
                  <a:cubicBezTo>
                    <a:pt x="1210" y="1051"/>
                    <a:pt x="1307" y="984"/>
                    <a:pt x="1360" y="908"/>
                  </a:cubicBezTo>
                  <a:cubicBezTo>
                    <a:pt x="1413" y="832"/>
                    <a:pt x="1481" y="733"/>
                    <a:pt x="1451" y="635"/>
                  </a:cubicBezTo>
                  <a:cubicBezTo>
                    <a:pt x="1421" y="537"/>
                    <a:pt x="1315" y="401"/>
                    <a:pt x="1179" y="318"/>
                  </a:cubicBezTo>
                  <a:cubicBezTo>
                    <a:pt x="1043" y="235"/>
                    <a:pt x="831" y="189"/>
                    <a:pt x="635" y="136"/>
                  </a:cubicBezTo>
                  <a:cubicBezTo>
                    <a:pt x="439" y="83"/>
                    <a:pt x="106" y="23"/>
                    <a:pt x="0" y="0"/>
                  </a:cubicBezTo>
                </a:path>
              </a:pathLst>
            </a:custGeom>
            <a:noFill/>
            <a:ln w="28575">
              <a:solidFill>
                <a:srgbClr val="FF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Line 9"/>
            <p:cNvSpPr>
              <a:spLocks noChangeShapeType="1"/>
            </p:cNvSpPr>
            <p:nvPr/>
          </p:nvSpPr>
          <p:spPr bwMode="auto">
            <a:xfrm>
              <a:off x="1701" y="2613"/>
              <a:ext cx="544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2" name="Line 10"/>
            <p:cNvSpPr>
              <a:spLocks noChangeShapeType="1"/>
            </p:cNvSpPr>
            <p:nvPr/>
          </p:nvSpPr>
          <p:spPr bwMode="auto">
            <a:xfrm>
              <a:off x="2971" y="2613"/>
              <a:ext cx="1043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3" name="Text Box 11"/>
            <p:cNvSpPr txBox="1">
              <a:spLocks noChangeArrowheads="1"/>
            </p:cNvSpPr>
            <p:nvPr/>
          </p:nvSpPr>
          <p:spPr bwMode="auto">
            <a:xfrm>
              <a:off x="1247" y="799"/>
              <a:ext cx="817" cy="99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66"/>
                  </a:solidFill>
                </a:rPr>
                <a:t>进程</a:t>
              </a:r>
            </a:p>
            <a:p>
              <a:pPr marL="342900" indent="-342900" algn="ctr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66"/>
                  </a:solidFill>
                </a:rPr>
                <a:t>类型</a:t>
              </a:r>
            </a:p>
            <a:p>
              <a:pPr marL="342900" indent="-342900" algn="ctr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66"/>
                  </a:solidFill>
                </a:rPr>
                <a:t>对象</a:t>
              </a:r>
            </a:p>
          </p:txBody>
        </p:sp>
        <p:sp>
          <p:nvSpPr>
            <p:cNvPr id="33804" name="Text Box 12"/>
            <p:cNvSpPr txBox="1">
              <a:spLocks noChangeArrowheads="1"/>
            </p:cNvSpPr>
            <p:nvPr/>
          </p:nvSpPr>
          <p:spPr bwMode="auto">
            <a:xfrm>
              <a:off x="975" y="2296"/>
              <a:ext cx="816" cy="6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99"/>
                  </a:solidFill>
                </a:rPr>
                <a:t>进程</a:t>
              </a:r>
            </a:p>
            <a:p>
              <a:pPr marL="342900" indent="-342900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99"/>
                  </a:solidFill>
                </a:rPr>
                <a:t>对象</a:t>
              </a:r>
              <a:r>
                <a:rPr lang="en-US" altLang="zh-CN" sz="320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33805" name="Text Box 13"/>
            <p:cNvSpPr txBox="1">
              <a:spLocks noChangeArrowheads="1"/>
            </p:cNvSpPr>
            <p:nvPr/>
          </p:nvSpPr>
          <p:spPr bwMode="auto">
            <a:xfrm>
              <a:off x="2245" y="2296"/>
              <a:ext cx="816" cy="6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99"/>
                  </a:solidFill>
                </a:rPr>
                <a:t>进程</a:t>
              </a:r>
            </a:p>
            <a:p>
              <a:pPr marL="342900" indent="-342900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99"/>
                  </a:solidFill>
                </a:rPr>
                <a:t>对象</a:t>
              </a:r>
              <a:r>
                <a:rPr lang="en-US" altLang="zh-CN" sz="320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33806" name="Text Box 14"/>
            <p:cNvSpPr txBox="1">
              <a:spLocks noChangeArrowheads="1"/>
            </p:cNvSpPr>
            <p:nvPr/>
          </p:nvSpPr>
          <p:spPr bwMode="auto">
            <a:xfrm>
              <a:off x="4014" y="2296"/>
              <a:ext cx="816" cy="67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99"/>
                  </a:solidFill>
                </a:rPr>
                <a:t>进程</a:t>
              </a:r>
            </a:p>
            <a:p>
              <a:pPr marL="342900" indent="-342900">
                <a:spcBef>
                  <a:spcPct val="15000"/>
                </a:spcBef>
                <a:buFont typeface="Wingdings" pitchFamily="2" charset="2"/>
                <a:buNone/>
              </a:pPr>
              <a:r>
                <a:rPr lang="zh-CN" altLang="en-US" sz="3200">
                  <a:solidFill>
                    <a:srgbClr val="000099"/>
                  </a:solidFill>
                </a:rPr>
                <a:t>对象</a:t>
              </a:r>
              <a:r>
                <a:rPr lang="en-US" altLang="zh-CN" sz="3200">
                  <a:solidFill>
                    <a:srgbClr val="000099"/>
                  </a:solidFill>
                </a:rPr>
                <a:t>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48AEAB-19CE-4086-BF4F-CCA8F6E0B231}" type="slidenum">
              <a:rPr lang="en-US" altLang="zh-CN" smtClean="0"/>
              <a:pPr/>
              <a:t>24</a:t>
            </a:fld>
            <a:endParaRPr lang="en-US" altLang="zh-CN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765175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solidFill>
                  <a:srgbClr val="FF0000"/>
                </a:solidFill>
              </a:rPr>
              <a:t>14.4.2     </a:t>
            </a:r>
            <a:r>
              <a:rPr lang="zh-CN" altLang="en-US" b="1" smtClean="0">
                <a:solidFill>
                  <a:srgbClr val="FF0000"/>
                </a:solidFill>
              </a:rPr>
              <a:t>管理对象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2133600"/>
            <a:ext cx="8147050" cy="4175125"/>
          </a:xfrm>
        </p:spPr>
        <p:txBody>
          <a:bodyPr/>
          <a:lstStyle/>
          <a:p>
            <a:pPr marL="609600" indent="-609600" eaLnBrk="1" hangingPunct="1">
              <a:spcBef>
                <a:spcPct val="5000"/>
              </a:spcBef>
              <a:buClr>
                <a:srgbClr val="FF0000"/>
              </a:buClr>
              <a:buSzPct val="130000"/>
              <a:buFont typeface="Wingdings" pitchFamily="2" charset="2"/>
              <a:buChar char="v"/>
            </a:pPr>
            <a:r>
              <a:rPr lang="zh-CN" altLang="en-US" b="1" dirty="0" smtClean="0">
                <a:solidFill>
                  <a:srgbClr val="000066"/>
                </a:solidFill>
              </a:rPr>
              <a:t>对象有</a:t>
            </a:r>
            <a:r>
              <a:rPr lang="zh-CN" altLang="en-US" b="1" dirty="0" smtClean="0">
                <a:solidFill>
                  <a:srgbClr val="FF0066"/>
                </a:solidFill>
              </a:rPr>
              <a:t>对象名</a:t>
            </a:r>
            <a:r>
              <a:rPr lang="zh-CN" altLang="en-US" b="1" dirty="0" smtClean="0">
                <a:solidFill>
                  <a:srgbClr val="000066"/>
                </a:solidFill>
              </a:rPr>
              <a:t>。</a:t>
            </a:r>
          </a:p>
          <a:p>
            <a:pPr marL="609600" indent="-609600" eaLnBrk="1" hangingPunct="1">
              <a:spcBef>
                <a:spcPct val="5000"/>
              </a:spcBef>
              <a:buClr>
                <a:srgbClr val="FF0000"/>
              </a:buClr>
              <a:buSzPct val="130000"/>
              <a:buFont typeface="Wingdings" pitchFamily="2" charset="2"/>
              <a:buChar char="v"/>
            </a:pPr>
            <a:r>
              <a:rPr lang="zh-CN" altLang="en-US" b="1" dirty="0" smtClean="0">
                <a:solidFill>
                  <a:srgbClr val="000066"/>
                </a:solidFill>
              </a:rPr>
              <a:t>通过对象名创建对象，打开对象，返回</a:t>
            </a:r>
            <a:r>
              <a:rPr lang="zh-CN" altLang="en-US" b="1" dirty="0" smtClean="0">
                <a:solidFill>
                  <a:srgbClr val="FF0066"/>
                </a:solidFill>
              </a:rPr>
              <a:t>对象句柄</a:t>
            </a:r>
            <a:r>
              <a:rPr lang="zh-CN" altLang="en-US" b="1" dirty="0" smtClean="0">
                <a:solidFill>
                  <a:srgbClr val="000066"/>
                </a:solidFill>
              </a:rPr>
              <a:t>。</a:t>
            </a:r>
          </a:p>
          <a:p>
            <a:pPr marL="609600" indent="-609600" eaLnBrk="1" hangingPunct="1">
              <a:spcBef>
                <a:spcPct val="5000"/>
              </a:spcBef>
              <a:buClr>
                <a:srgbClr val="FF0000"/>
              </a:buClr>
              <a:buSzPct val="130000"/>
              <a:buFont typeface="Wingdings" pitchFamily="2" charset="2"/>
              <a:buChar char="v"/>
            </a:pPr>
            <a:r>
              <a:rPr lang="zh-CN" altLang="en-US" b="1" dirty="0" smtClean="0">
                <a:solidFill>
                  <a:srgbClr val="000066"/>
                </a:solidFill>
              </a:rPr>
              <a:t>进程将所有打开对象的地址放入</a:t>
            </a:r>
            <a:r>
              <a:rPr lang="zh-CN" altLang="en-US" b="1" dirty="0" smtClean="0">
                <a:solidFill>
                  <a:srgbClr val="FF0066"/>
                </a:solidFill>
              </a:rPr>
              <a:t>进程句柄表</a:t>
            </a:r>
            <a:r>
              <a:rPr lang="zh-CN" altLang="en-US" b="1" dirty="0" smtClean="0">
                <a:solidFill>
                  <a:srgbClr val="000066"/>
                </a:solidFill>
              </a:rPr>
              <a:t>中。句柄表在</a:t>
            </a:r>
            <a:r>
              <a:rPr lang="en-US" altLang="zh-CN" b="1" dirty="0" smtClean="0">
                <a:solidFill>
                  <a:srgbClr val="000066"/>
                </a:solidFill>
              </a:rPr>
              <a:t>EPROCESS</a:t>
            </a:r>
            <a:r>
              <a:rPr lang="zh-CN" altLang="en-US" b="1" dirty="0" smtClean="0">
                <a:solidFill>
                  <a:srgbClr val="000066"/>
                </a:solidFill>
              </a:rPr>
              <a:t>中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982ADD-1EB0-4AA2-81C7-8AFEA18B9DA1}" type="slidenum">
              <a:rPr lang="en-US" altLang="zh-CN" smtClean="0"/>
              <a:pPr/>
              <a:t>25</a:t>
            </a:fld>
            <a:endParaRPr lang="en-US" altLang="zh-CN" smtClean="0"/>
          </a:p>
        </p:txBody>
      </p:sp>
      <p:grpSp>
        <p:nvGrpSpPr>
          <p:cNvPr id="35843" name="Group 4"/>
          <p:cNvGrpSpPr>
            <a:grpSpLocks/>
          </p:cNvGrpSpPr>
          <p:nvPr/>
        </p:nvGrpSpPr>
        <p:grpSpPr bwMode="auto">
          <a:xfrm>
            <a:off x="250825" y="333375"/>
            <a:ext cx="8424863" cy="5916613"/>
            <a:chOff x="158" y="210"/>
            <a:chExt cx="5307" cy="3727"/>
          </a:xfrm>
        </p:grpSpPr>
        <p:sp>
          <p:nvSpPr>
            <p:cNvPr id="35844" name="Oval 5"/>
            <p:cNvSpPr>
              <a:spLocks noChangeArrowheads="1"/>
            </p:cNvSpPr>
            <p:nvPr/>
          </p:nvSpPr>
          <p:spPr bwMode="auto">
            <a:xfrm>
              <a:off x="2245" y="210"/>
              <a:ext cx="953" cy="859"/>
            </a:xfrm>
            <a:prstGeom prst="ellips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45" name="Text Box 6"/>
            <p:cNvSpPr txBox="1">
              <a:spLocks noChangeArrowheads="1"/>
            </p:cNvSpPr>
            <p:nvPr/>
          </p:nvSpPr>
          <p:spPr bwMode="auto">
            <a:xfrm>
              <a:off x="2381" y="300"/>
              <a:ext cx="659" cy="72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线程</a:t>
              </a:r>
            </a:p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类型</a:t>
              </a:r>
            </a:p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对象</a:t>
              </a:r>
            </a:p>
          </p:txBody>
        </p:sp>
        <p:sp>
          <p:nvSpPr>
            <p:cNvPr id="35846" name="Text Box 7"/>
            <p:cNvSpPr txBox="1">
              <a:spLocks noChangeArrowheads="1"/>
            </p:cNvSpPr>
            <p:nvPr/>
          </p:nvSpPr>
          <p:spPr bwMode="auto">
            <a:xfrm>
              <a:off x="1429" y="1344"/>
              <a:ext cx="725" cy="318"/>
            </a:xfrm>
            <a:prstGeom prst="rect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dirty="0">
                  <a:solidFill>
                    <a:srgbClr val="000099"/>
                  </a:solidFill>
                </a:rPr>
                <a:t>线程</a:t>
              </a:r>
              <a:r>
                <a:rPr lang="en-US" altLang="zh-CN" dirty="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35847" name="Text Box 8"/>
            <p:cNvSpPr txBox="1">
              <a:spLocks noChangeArrowheads="1"/>
            </p:cNvSpPr>
            <p:nvPr/>
          </p:nvSpPr>
          <p:spPr bwMode="auto">
            <a:xfrm>
              <a:off x="2245" y="1344"/>
              <a:ext cx="725" cy="318"/>
            </a:xfrm>
            <a:prstGeom prst="rect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dirty="0">
                  <a:solidFill>
                    <a:srgbClr val="000099"/>
                  </a:solidFill>
                </a:rPr>
                <a:t>线程</a:t>
              </a:r>
              <a:r>
                <a:rPr lang="en-US" altLang="zh-CN" dirty="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35848" name="Text Box 9"/>
            <p:cNvSpPr txBox="1">
              <a:spLocks noChangeArrowheads="1"/>
            </p:cNvSpPr>
            <p:nvPr/>
          </p:nvSpPr>
          <p:spPr bwMode="auto">
            <a:xfrm>
              <a:off x="3062" y="1344"/>
              <a:ext cx="725" cy="318"/>
            </a:xfrm>
            <a:prstGeom prst="rect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线程</a:t>
              </a:r>
              <a:r>
                <a:rPr lang="en-US" altLang="zh-CN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35849" name="Text Box 10"/>
            <p:cNvSpPr txBox="1">
              <a:spLocks noChangeArrowheads="1"/>
            </p:cNvSpPr>
            <p:nvPr/>
          </p:nvSpPr>
          <p:spPr bwMode="auto">
            <a:xfrm>
              <a:off x="3878" y="1344"/>
              <a:ext cx="771" cy="318"/>
            </a:xfrm>
            <a:prstGeom prst="rect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线程</a:t>
              </a:r>
              <a:r>
                <a:rPr lang="en-US" altLang="zh-CN">
                  <a:solidFill>
                    <a:srgbClr val="000099"/>
                  </a:solidFill>
                </a:rPr>
                <a:t>4</a:t>
              </a:r>
            </a:p>
          </p:txBody>
        </p:sp>
        <p:sp>
          <p:nvSpPr>
            <p:cNvPr id="35850" name="Text Box 11"/>
            <p:cNvSpPr txBox="1">
              <a:spLocks noChangeArrowheads="1"/>
            </p:cNvSpPr>
            <p:nvPr/>
          </p:nvSpPr>
          <p:spPr bwMode="auto">
            <a:xfrm>
              <a:off x="1292" y="3339"/>
              <a:ext cx="953" cy="318"/>
            </a:xfrm>
            <a:prstGeom prst="rect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互斥量</a:t>
              </a:r>
              <a:r>
                <a:rPr lang="en-US" altLang="zh-CN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35851" name="Text Box 12"/>
            <p:cNvSpPr txBox="1">
              <a:spLocks noChangeArrowheads="1"/>
            </p:cNvSpPr>
            <p:nvPr/>
          </p:nvSpPr>
          <p:spPr bwMode="auto">
            <a:xfrm>
              <a:off x="2290" y="3338"/>
              <a:ext cx="953" cy="318"/>
            </a:xfrm>
            <a:prstGeom prst="rect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0" lang="zh-CN" altLang="en-US">
                  <a:solidFill>
                    <a:srgbClr val="000099"/>
                  </a:solidFill>
                </a:rPr>
                <a:t>互斥量</a:t>
              </a:r>
              <a:r>
                <a:rPr kumimoji="0" lang="en-US" altLang="zh-CN">
                  <a:solidFill>
                    <a:srgbClr val="000099"/>
                  </a:solidFill>
                </a:rPr>
                <a:t>2</a:t>
              </a:r>
              <a:endParaRPr lang="en-US" altLang="zh-CN">
                <a:solidFill>
                  <a:srgbClr val="000099"/>
                </a:solidFill>
              </a:endParaRPr>
            </a:p>
          </p:txBody>
        </p:sp>
        <p:sp>
          <p:nvSpPr>
            <p:cNvPr id="35852" name="Text Box 13"/>
            <p:cNvSpPr txBox="1">
              <a:spLocks noChangeArrowheads="1"/>
            </p:cNvSpPr>
            <p:nvPr/>
          </p:nvSpPr>
          <p:spPr bwMode="auto">
            <a:xfrm>
              <a:off x="3288" y="3339"/>
              <a:ext cx="952" cy="318"/>
            </a:xfrm>
            <a:prstGeom prst="rect">
              <a:avLst/>
            </a:prstGeom>
            <a:noFill/>
            <a:ln w="28575">
              <a:solidFill>
                <a:srgbClr val="0000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互斥量</a:t>
              </a:r>
              <a:r>
                <a:rPr lang="en-US" altLang="zh-CN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35853" name="Oval 14"/>
            <p:cNvSpPr>
              <a:spLocks noChangeArrowheads="1"/>
            </p:cNvSpPr>
            <p:nvPr/>
          </p:nvSpPr>
          <p:spPr bwMode="auto">
            <a:xfrm>
              <a:off x="2200" y="1979"/>
              <a:ext cx="980" cy="990"/>
            </a:xfrm>
            <a:prstGeom prst="ellips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4" name="Text Box 15"/>
            <p:cNvSpPr txBox="1">
              <a:spLocks noChangeArrowheads="1"/>
            </p:cNvSpPr>
            <p:nvPr/>
          </p:nvSpPr>
          <p:spPr bwMode="auto">
            <a:xfrm>
              <a:off x="2200" y="2115"/>
              <a:ext cx="980" cy="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互斥量</a:t>
              </a:r>
            </a:p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类型</a:t>
              </a:r>
            </a:p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000099"/>
                  </a:solidFill>
                </a:rPr>
                <a:t>对象</a:t>
              </a:r>
            </a:p>
          </p:txBody>
        </p:sp>
        <p:sp>
          <p:nvSpPr>
            <p:cNvPr id="35855" name="Text Box 16"/>
            <p:cNvSpPr txBox="1">
              <a:spLocks noChangeArrowheads="1"/>
            </p:cNvSpPr>
            <p:nvPr/>
          </p:nvSpPr>
          <p:spPr bwMode="auto">
            <a:xfrm>
              <a:off x="4422" y="1616"/>
              <a:ext cx="1043" cy="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FF0000"/>
                  </a:solidFill>
                </a:rPr>
                <a:t>进程</a:t>
              </a:r>
              <a:r>
                <a:rPr lang="en-US" altLang="zh-CN">
                  <a:solidFill>
                    <a:srgbClr val="FF0000"/>
                  </a:solidFill>
                </a:rPr>
                <a:t>B</a:t>
              </a:r>
              <a:r>
                <a:rPr lang="zh-CN" altLang="en-US">
                  <a:solidFill>
                    <a:srgbClr val="FF0000"/>
                  </a:solidFill>
                </a:rPr>
                <a:t>的</a:t>
              </a:r>
            </a:p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FF0000"/>
                  </a:solidFill>
                </a:rPr>
                <a:t>句柄表</a:t>
              </a:r>
            </a:p>
          </p:txBody>
        </p:sp>
        <p:sp>
          <p:nvSpPr>
            <p:cNvPr id="35856" name="Rectangle 17"/>
            <p:cNvSpPr>
              <a:spLocks noChangeArrowheads="1"/>
            </p:cNvSpPr>
            <p:nvPr/>
          </p:nvSpPr>
          <p:spPr bwMode="auto">
            <a:xfrm>
              <a:off x="4558" y="2206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7" name="Rectangle 18"/>
            <p:cNvSpPr>
              <a:spLocks noChangeArrowheads="1"/>
            </p:cNvSpPr>
            <p:nvPr/>
          </p:nvSpPr>
          <p:spPr bwMode="auto">
            <a:xfrm>
              <a:off x="4558" y="2296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8" name="Rectangle 19"/>
            <p:cNvSpPr>
              <a:spLocks noChangeArrowheads="1"/>
            </p:cNvSpPr>
            <p:nvPr/>
          </p:nvSpPr>
          <p:spPr bwMode="auto">
            <a:xfrm>
              <a:off x="4558" y="2387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9" name="Rectangle 20"/>
            <p:cNvSpPr>
              <a:spLocks noChangeArrowheads="1"/>
            </p:cNvSpPr>
            <p:nvPr/>
          </p:nvSpPr>
          <p:spPr bwMode="auto">
            <a:xfrm>
              <a:off x="4558" y="2478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0" name="Rectangle 21"/>
            <p:cNvSpPr>
              <a:spLocks noChangeArrowheads="1"/>
            </p:cNvSpPr>
            <p:nvPr/>
          </p:nvSpPr>
          <p:spPr bwMode="auto">
            <a:xfrm>
              <a:off x="4558" y="2569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1" name="Rectangle 22"/>
            <p:cNvSpPr>
              <a:spLocks noChangeArrowheads="1"/>
            </p:cNvSpPr>
            <p:nvPr/>
          </p:nvSpPr>
          <p:spPr bwMode="auto">
            <a:xfrm>
              <a:off x="4558" y="2659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2" name="Rectangle 23"/>
            <p:cNvSpPr>
              <a:spLocks noChangeArrowheads="1"/>
            </p:cNvSpPr>
            <p:nvPr/>
          </p:nvSpPr>
          <p:spPr bwMode="auto">
            <a:xfrm>
              <a:off x="4558" y="2750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3" name="Rectangle 24"/>
            <p:cNvSpPr>
              <a:spLocks noChangeArrowheads="1"/>
            </p:cNvSpPr>
            <p:nvPr/>
          </p:nvSpPr>
          <p:spPr bwMode="auto">
            <a:xfrm>
              <a:off x="4558" y="2841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4" name="Rectangle 25"/>
            <p:cNvSpPr>
              <a:spLocks noChangeArrowheads="1"/>
            </p:cNvSpPr>
            <p:nvPr/>
          </p:nvSpPr>
          <p:spPr bwMode="auto">
            <a:xfrm>
              <a:off x="4558" y="2932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5" name="Rectangle 26"/>
            <p:cNvSpPr>
              <a:spLocks noChangeArrowheads="1"/>
            </p:cNvSpPr>
            <p:nvPr/>
          </p:nvSpPr>
          <p:spPr bwMode="auto">
            <a:xfrm>
              <a:off x="4558" y="3022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6" name="Rectangle 27"/>
            <p:cNvSpPr>
              <a:spLocks noChangeArrowheads="1"/>
            </p:cNvSpPr>
            <p:nvPr/>
          </p:nvSpPr>
          <p:spPr bwMode="auto">
            <a:xfrm>
              <a:off x="4558" y="3113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7" name="Line 28"/>
            <p:cNvSpPr>
              <a:spLocks noChangeShapeType="1"/>
            </p:cNvSpPr>
            <p:nvPr/>
          </p:nvSpPr>
          <p:spPr bwMode="auto">
            <a:xfrm>
              <a:off x="4967" y="2205"/>
              <a:ext cx="0" cy="99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8" name="Text Box 29"/>
            <p:cNvSpPr txBox="1">
              <a:spLocks noChangeArrowheads="1"/>
            </p:cNvSpPr>
            <p:nvPr/>
          </p:nvSpPr>
          <p:spPr bwMode="auto">
            <a:xfrm>
              <a:off x="158" y="1480"/>
              <a:ext cx="1043" cy="5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FF0000"/>
                  </a:solidFill>
                </a:rPr>
                <a:t>进程</a:t>
              </a:r>
              <a:r>
                <a:rPr lang="en-US" altLang="zh-CN">
                  <a:solidFill>
                    <a:srgbClr val="FF0000"/>
                  </a:solidFill>
                </a:rPr>
                <a:t>A</a:t>
              </a:r>
              <a:r>
                <a:rPr lang="zh-CN" altLang="en-US">
                  <a:solidFill>
                    <a:srgbClr val="FF0000"/>
                  </a:solidFill>
                </a:rPr>
                <a:t>的</a:t>
              </a:r>
            </a:p>
            <a:p>
              <a:pPr marL="342900" indent="-342900" algn="ctr">
                <a:spcBef>
                  <a:spcPct val="0"/>
                </a:spcBef>
                <a:buFont typeface="Wingdings" pitchFamily="2" charset="2"/>
                <a:buNone/>
              </a:pPr>
              <a:r>
                <a:rPr lang="zh-CN" altLang="en-US">
                  <a:solidFill>
                    <a:srgbClr val="FF0000"/>
                  </a:solidFill>
                </a:rPr>
                <a:t>句柄表</a:t>
              </a:r>
            </a:p>
          </p:txBody>
        </p:sp>
        <p:sp>
          <p:nvSpPr>
            <p:cNvPr id="35869" name="Rectangle 30"/>
            <p:cNvSpPr>
              <a:spLocks noChangeArrowheads="1"/>
            </p:cNvSpPr>
            <p:nvPr/>
          </p:nvSpPr>
          <p:spPr bwMode="auto">
            <a:xfrm>
              <a:off x="294" y="2025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0" name="Rectangle 31"/>
            <p:cNvSpPr>
              <a:spLocks noChangeArrowheads="1"/>
            </p:cNvSpPr>
            <p:nvPr/>
          </p:nvSpPr>
          <p:spPr bwMode="auto">
            <a:xfrm>
              <a:off x="294" y="2115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1" name="Rectangle 32"/>
            <p:cNvSpPr>
              <a:spLocks noChangeArrowheads="1"/>
            </p:cNvSpPr>
            <p:nvPr/>
          </p:nvSpPr>
          <p:spPr bwMode="auto">
            <a:xfrm>
              <a:off x="294" y="2206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2" name="Rectangle 33"/>
            <p:cNvSpPr>
              <a:spLocks noChangeArrowheads="1"/>
            </p:cNvSpPr>
            <p:nvPr/>
          </p:nvSpPr>
          <p:spPr bwMode="auto">
            <a:xfrm>
              <a:off x="294" y="2297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3" name="Rectangle 34"/>
            <p:cNvSpPr>
              <a:spLocks noChangeArrowheads="1"/>
            </p:cNvSpPr>
            <p:nvPr/>
          </p:nvSpPr>
          <p:spPr bwMode="auto">
            <a:xfrm>
              <a:off x="294" y="2388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4" name="Rectangle 35"/>
            <p:cNvSpPr>
              <a:spLocks noChangeArrowheads="1"/>
            </p:cNvSpPr>
            <p:nvPr/>
          </p:nvSpPr>
          <p:spPr bwMode="auto">
            <a:xfrm>
              <a:off x="294" y="2478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5" name="Rectangle 36"/>
            <p:cNvSpPr>
              <a:spLocks noChangeArrowheads="1"/>
            </p:cNvSpPr>
            <p:nvPr/>
          </p:nvSpPr>
          <p:spPr bwMode="auto">
            <a:xfrm>
              <a:off x="294" y="2569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6" name="Rectangle 37"/>
            <p:cNvSpPr>
              <a:spLocks noChangeArrowheads="1"/>
            </p:cNvSpPr>
            <p:nvPr/>
          </p:nvSpPr>
          <p:spPr bwMode="auto">
            <a:xfrm>
              <a:off x="294" y="2660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7" name="Rectangle 38"/>
            <p:cNvSpPr>
              <a:spLocks noChangeArrowheads="1"/>
            </p:cNvSpPr>
            <p:nvPr/>
          </p:nvSpPr>
          <p:spPr bwMode="auto">
            <a:xfrm>
              <a:off x="294" y="2751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8" name="Rectangle 39"/>
            <p:cNvSpPr>
              <a:spLocks noChangeArrowheads="1"/>
            </p:cNvSpPr>
            <p:nvPr/>
          </p:nvSpPr>
          <p:spPr bwMode="auto">
            <a:xfrm>
              <a:off x="294" y="2841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9" name="Rectangle 40"/>
            <p:cNvSpPr>
              <a:spLocks noChangeArrowheads="1"/>
            </p:cNvSpPr>
            <p:nvPr/>
          </p:nvSpPr>
          <p:spPr bwMode="auto">
            <a:xfrm>
              <a:off x="294" y="2932"/>
              <a:ext cx="817" cy="91"/>
            </a:xfrm>
            <a:prstGeom prst="rect">
              <a:avLst/>
            </a:prstGeom>
            <a:noFill/>
            <a:ln w="19050">
              <a:solidFill>
                <a:srgbClr val="FF00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0" name="Line 41"/>
            <p:cNvSpPr>
              <a:spLocks noChangeShapeType="1"/>
            </p:cNvSpPr>
            <p:nvPr/>
          </p:nvSpPr>
          <p:spPr bwMode="auto">
            <a:xfrm>
              <a:off x="703" y="2024"/>
              <a:ext cx="0" cy="99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1" name="Line 42"/>
            <p:cNvSpPr>
              <a:spLocks noChangeShapeType="1"/>
            </p:cNvSpPr>
            <p:nvPr/>
          </p:nvSpPr>
          <p:spPr bwMode="auto">
            <a:xfrm flipV="1">
              <a:off x="1927" y="2931"/>
              <a:ext cx="545" cy="40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2" name="Line 43"/>
            <p:cNvSpPr>
              <a:spLocks noChangeShapeType="1"/>
            </p:cNvSpPr>
            <p:nvPr/>
          </p:nvSpPr>
          <p:spPr bwMode="auto">
            <a:xfrm flipV="1">
              <a:off x="2744" y="3022"/>
              <a:ext cx="0" cy="317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3" name="Line 44"/>
            <p:cNvSpPr>
              <a:spLocks noChangeShapeType="1"/>
            </p:cNvSpPr>
            <p:nvPr/>
          </p:nvSpPr>
          <p:spPr bwMode="auto">
            <a:xfrm flipH="1" flipV="1">
              <a:off x="3016" y="2886"/>
              <a:ext cx="635" cy="453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4" name="Line 45"/>
            <p:cNvSpPr>
              <a:spLocks noChangeShapeType="1"/>
            </p:cNvSpPr>
            <p:nvPr/>
          </p:nvSpPr>
          <p:spPr bwMode="auto">
            <a:xfrm flipV="1">
              <a:off x="2562" y="1117"/>
              <a:ext cx="91" cy="227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5" name="Line 46"/>
            <p:cNvSpPr>
              <a:spLocks noChangeShapeType="1"/>
            </p:cNvSpPr>
            <p:nvPr/>
          </p:nvSpPr>
          <p:spPr bwMode="auto">
            <a:xfrm flipH="1" flipV="1">
              <a:off x="3016" y="1026"/>
              <a:ext cx="363" cy="318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6" name="Line 47"/>
            <p:cNvSpPr>
              <a:spLocks noChangeShapeType="1"/>
            </p:cNvSpPr>
            <p:nvPr/>
          </p:nvSpPr>
          <p:spPr bwMode="auto">
            <a:xfrm flipH="1" flipV="1">
              <a:off x="3107" y="890"/>
              <a:ext cx="1088" cy="454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7" name="Line 48"/>
            <p:cNvSpPr>
              <a:spLocks noChangeShapeType="1"/>
            </p:cNvSpPr>
            <p:nvPr/>
          </p:nvSpPr>
          <p:spPr bwMode="auto">
            <a:xfrm flipV="1">
              <a:off x="1837" y="981"/>
              <a:ext cx="499" cy="363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8" name="Line 49"/>
            <p:cNvSpPr>
              <a:spLocks noChangeShapeType="1"/>
            </p:cNvSpPr>
            <p:nvPr/>
          </p:nvSpPr>
          <p:spPr bwMode="auto">
            <a:xfrm flipV="1">
              <a:off x="975" y="1661"/>
              <a:ext cx="499" cy="4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9" name="Line 50"/>
            <p:cNvSpPr>
              <a:spLocks noChangeShapeType="1"/>
            </p:cNvSpPr>
            <p:nvPr/>
          </p:nvSpPr>
          <p:spPr bwMode="auto">
            <a:xfrm flipV="1">
              <a:off x="975" y="1661"/>
              <a:ext cx="1315" cy="49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0" name="Line 51"/>
            <p:cNvSpPr>
              <a:spLocks noChangeShapeType="1"/>
            </p:cNvSpPr>
            <p:nvPr/>
          </p:nvSpPr>
          <p:spPr bwMode="auto">
            <a:xfrm flipH="1" flipV="1">
              <a:off x="3515" y="1661"/>
              <a:ext cx="1179" cy="5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1" name="Freeform 52"/>
            <p:cNvSpPr>
              <a:spLocks/>
            </p:cNvSpPr>
            <p:nvPr/>
          </p:nvSpPr>
          <p:spPr bwMode="auto">
            <a:xfrm>
              <a:off x="975" y="2228"/>
              <a:ext cx="726" cy="1111"/>
            </a:xfrm>
            <a:custGeom>
              <a:avLst/>
              <a:gdLst>
                <a:gd name="T0" fmla="*/ 0 w 726"/>
                <a:gd name="T1" fmla="*/ 23 h 1111"/>
                <a:gd name="T2" fmla="*/ 363 w 726"/>
                <a:gd name="T3" fmla="*/ 23 h 1111"/>
                <a:gd name="T4" fmla="*/ 590 w 726"/>
                <a:gd name="T5" fmla="*/ 159 h 1111"/>
                <a:gd name="T6" fmla="*/ 680 w 726"/>
                <a:gd name="T7" fmla="*/ 703 h 1111"/>
                <a:gd name="T8" fmla="*/ 726 w 726"/>
                <a:gd name="T9" fmla="*/ 1111 h 1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6"/>
                <a:gd name="T16" fmla="*/ 0 h 1111"/>
                <a:gd name="T17" fmla="*/ 726 w 726"/>
                <a:gd name="T18" fmla="*/ 1111 h 1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6" h="1111">
                  <a:moveTo>
                    <a:pt x="0" y="23"/>
                  </a:moveTo>
                  <a:cubicBezTo>
                    <a:pt x="132" y="11"/>
                    <a:pt x="265" y="0"/>
                    <a:pt x="363" y="23"/>
                  </a:cubicBezTo>
                  <a:cubicBezTo>
                    <a:pt x="461" y="46"/>
                    <a:pt x="537" y="46"/>
                    <a:pt x="590" y="159"/>
                  </a:cubicBezTo>
                  <a:cubicBezTo>
                    <a:pt x="643" y="272"/>
                    <a:pt x="657" y="544"/>
                    <a:pt x="680" y="703"/>
                  </a:cubicBezTo>
                  <a:cubicBezTo>
                    <a:pt x="703" y="862"/>
                    <a:pt x="718" y="1043"/>
                    <a:pt x="726" y="1111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2" name="Freeform 53"/>
            <p:cNvSpPr>
              <a:spLocks/>
            </p:cNvSpPr>
            <p:nvPr/>
          </p:nvSpPr>
          <p:spPr bwMode="auto">
            <a:xfrm>
              <a:off x="3969" y="2326"/>
              <a:ext cx="725" cy="1013"/>
            </a:xfrm>
            <a:custGeom>
              <a:avLst/>
              <a:gdLst>
                <a:gd name="T0" fmla="*/ 725 w 725"/>
                <a:gd name="T1" fmla="*/ 15 h 1013"/>
                <a:gd name="T2" fmla="*/ 363 w 725"/>
                <a:gd name="T3" fmla="*/ 15 h 1013"/>
                <a:gd name="T4" fmla="*/ 136 w 725"/>
                <a:gd name="T5" fmla="*/ 106 h 1013"/>
                <a:gd name="T6" fmla="*/ 45 w 725"/>
                <a:gd name="T7" fmla="*/ 378 h 1013"/>
                <a:gd name="T8" fmla="*/ 0 w 725"/>
                <a:gd name="T9" fmla="*/ 1013 h 10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25"/>
                <a:gd name="T16" fmla="*/ 0 h 1013"/>
                <a:gd name="T17" fmla="*/ 725 w 725"/>
                <a:gd name="T18" fmla="*/ 1013 h 10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25" h="1013">
                  <a:moveTo>
                    <a:pt x="725" y="15"/>
                  </a:moveTo>
                  <a:cubicBezTo>
                    <a:pt x="593" y="7"/>
                    <a:pt x="461" y="0"/>
                    <a:pt x="363" y="15"/>
                  </a:cubicBezTo>
                  <a:cubicBezTo>
                    <a:pt x="265" y="30"/>
                    <a:pt x="189" y="46"/>
                    <a:pt x="136" y="106"/>
                  </a:cubicBezTo>
                  <a:cubicBezTo>
                    <a:pt x="83" y="166"/>
                    <a:pt x="68" y="227"/>
                    <a:pt x="45" y="378"/>
                  </a:cubicBezTo>
                  <a:cubicBezTo>
                    <a:pt x="22" y="529"/>
                    <a:pt x="7" y="907"/>
                    <a:pt x="0" y="1013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3" name="Freeform 54"/>
            <p:cNvSpPr>
              <a:spLocks/>
            </p:cNvSpPr>
            <p:nvPr/>
          </p:nvSpPr>
          <p:spPr bwMode="auto">
            <a:xfrm>
              <a:off x="839" y="2341"/>
              <a:ext cx="1678" cy="1573"/>
            </a:xfrm>
            <a:custGeom>
              <a:avLst/>
              <a:gdLst>
                <a:gd name="T0" fmla="*/ 0 w 1542"/>
                <a:gd name="T1" fmla="*/ 23 h 1596"/>
                <a:gd name="T2" fmla="*/ 582 w 1542"/>
                <a:gd name="T3" fmla="*/ 23 h 1596"/>
                <a:gd name="T4" fmla="*/ 677 w 1542"/>
                <a:gd name="T5" fmla="*/ 142 h 1596"/>
                <a:gd name="T6" fmla="*/ 677 w 1542"/>
                <a:gd name="T7" fmla="*/ 698 h 1596"/>
                <a:gd name="T8" fmla="*/ 677 w 1542"/>
                <a:gd name="T9" fmla="*/ 1214 h 1596"/>
                <a:gd name="T10" fmla="*/ 972 w 1542"/>
                <a:gd name="T11" fmla="*/ 1374 h 1596"/>
                <a:gd name="T12" fmla="*/ 2333 w 1542"/>
                <a:gd name="T13" fmla="*/ 1374 h 1596"/>
                <a:gd name="T14" fmla="*/ 3104 w 1542"/>
                <a:gd name="T15" fmla="*/ 1295 h 1596"/>
                <a:gd name="T16" fmla="*/ 3301 w 1542"/>
                <a:gd name="T17" fmla="*/ 1135 h 15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42"/>
                <a:gd name="T28" fmla="*/ 0 h 1596"/>
                <a:gd name="T29" fmla="*/ 1542 w 1542"/>
                <a:gd name="T30" fmla="*/ 1596 h 159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42" h="1596">
                  <a:moveTo>
                    <a:pt x="0" y="23"/>
                  </a:moveTo>
                  <a:cubicBezTo>
                    <a:pt x="109" y="11"/>
                    <a:pt x="219" y="0"/>
                    <a:pt x="272" y="23"/>
                  </a:cubicBezTo>
                  <a:cubicBezTo>
                    <a:pt x="325" y="46"/>
                    <a:pt x="310" y="31"/>
                    <a:pt x="317" y="160"/>
                  </a:cubicBezTo>
                  <a:cubicBezTo>
                    <a:pt x="324" y="289"/>
                    <a:pt x="317" y="591"/>
                    <a:pt x="317" y="795"/>
                  </a:cubicBezTo>
                  <a:cubicBezTo>
                    <a:pt x="317" y="999"/>
                    <a:pt x="294" y="1256"/>
                    <a:pt x="317" y="1384"/>
                  </a:cubicBezTo>
                  <a:cubicBezTo>
                    <a:pt x="340" y="1512"/>
                    <a:pt x="325" y="1536"/>
                    <a:pt x="454" y="1566"/>
                  </a:cubicBezTo>
                  <a:cubicBezTo>
                    <a:pt x="583" y="1596"/>
                    <a:pt x="923" y="1581"/>
                    <a:pt x="1089" y="1566"/>
                  </a:cubicBezTo>
                  <a:cubicBezTo>
                    <a:pt x="1255" y="1551"/>
                    <a:pt x="1376" y="1520"/>
                    <a:pt x="1451" y="1475"/>
                  </a:cubicBezTo>
                  <a:cubicBezTo>
                    <a:pt x="1526" y="1430"/>
                    <a:pt x="1527" y="1324"/>
                    <a:pt x="1542" y="129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4" name="Freeform 55"/>
            <p:cNvSpPr>
              <a:spLocks/>
            </p:cNvSpPr>
            <p:nvPr/>
          </p:nvSpPr>
          <p:spPr bwMode="auto">
            <a:xfrm>
              <a:off x="2925" y="2425"/>
              <a:ext cx="1769" cy="1512"/>
            </a:xfrm>
            <a:custGeom>
              <a:avLst/>
              <a:gdLst>
                <a:gd name="T0" fmla="*/ 1769 w 1769"/>
                <a:gd name="T1" fmla="*/ 7 h 1512"/>
                <a:gd name="T2" fmla="*/ 1497 w 1769"/>
                <a:gd name="T3" fmla="*/ 53 h 1512"/>
                <a:gd name="T4" fmla="*/ 1407 w 1769"/>
                <a:gd name="T5" fmla="*/ 325 h 1512"/>
                <a:gd name="T6" fmla="*/ 1407 w 1769"/>
                <a:gd name="T7" fmla="*/ 824 h 1512"/>
                <a:gd name="T8" fmla="*/ 1407 w 1769"/>
                <a:gd name="T9" fmla="*/ 1187 h 1512"/>
                <a:gd name="T10" fmla="*/ 1270 w 1769"/>
                <a:gd name="T11" fmla="*/ 1459 h 1512"/>
                <a:gd name="T12" fmla="*/ 499 w 1769"/>
                <a:gd name="T13" fmla="*/ 1504 h 1512"/>
                <a:gd name="T14" fmla="*/ 91 w 1769"/>
                <a:gd name="T15" fmla="*/ 1413 h 1512"/>
                <a:gd name="T16" fmla="*/ 0 w 1769"/>
                <a:gd name="T17" fmla="*/ 1187 h 15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69"/>
                <a:gd name="T28" fmla="*/ 0 h 1512"/>
                <a:gd name="T29" fmla="*/ 1769 w 1769"/>
                <a:gd name="T30" fmla="*/ 1512 h 15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69" h="1512">
                  <a:moveTo>
                    <a:pt x="1769" y="7"/>
                  </a:moveTo>
                  <a:cubicBezTo>
                    <a:pt x="1663" y="3"/>
                    <a:pt x="1557" y="0"/>
                    <a:pt x="1497" y="53"/>
                  </a:cubicBezTo>
                  <a:cubicBezTo>
                    <a:pt x="1437" y="106"/>
                    <a:pt x="1422" y="197"/>
                    <a:pt x="1407" y="325"/>
                  </a:cubicBezTo>
                  <a:cubicBezTo>
                    <a:pt x="1392" y="453"/>
                    <a:pt x="1407" y="680"/>
                    <a:pt x="1407" y="824"/>
                  </a:cubicBezTo>
                  <a:cubicBezTo>
                    <a:pt x="1407" y="968"/>
                    <a:pt x="1430" y="1081"/>
                    <a:pt x="1407" y="1187"/>
                  </a:cubicBezTo>
                  <a:cubicBezTo>
                    <a:pt x="1384" y="1293"/>
                    <a:pt x="1421" y="1406"/>
                    <a:pt x="1270" y="1459"/>
                  </a:cubicBezTo>
                  <a:cubicBezTo>
                    <a:pt x="1119" y="1512"/>
                    <a:pt x="695" y="1512"/>
                    <a:pt x="499" y="1504"/>
                  </a:cubicBezTo>
                  <a:cubicBezTo>
                    <a:pt x="303" y="1496"/>
                    <a:pt x="174" y="1466"/>
                    <a:pt x="91" y="1413"/>
                  </a:cubicBezTo>
                  <a:cubicBezTo>
                    <a:pt x="8" y="1360"/>
                    <a:pt x="15" y="1225"/>
                    <a:pt x="0" y="1187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464347-24FA-421A-B572-0B75C996E75B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1026" name="AutoShape 2" descr="http://p.blog.csdn.net/images/p_blog_csdn_net/misterliwei/a1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8" name="AutoShape 4" descr="http://p.blog.csdn.net/images/p_blog_csdn_net/misterliwei/a1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30" name="AutoShape 6" descr="http://p.blog.csdn.net/images/p_blog_csdn_net/misterliwei/a1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3156274"/>
            <a:ext cx="7416824" cy="315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467544" y="764704"/>
            <a:ext cx="8132440" cy="230425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buClrTx/>
              <a:buSzTx/>
              <a:buNone/>
            </a:pP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</a:t>
            </a: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系统利用“目录对象”将所有“对象”组织起来，目录对象是一个有</a:t>
            </a: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37</a:t>
            </a: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个数组元素组成的哈希表，系统用对象名计算</a:t>
            </a: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hash</a:t>
            </a: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值。系统中存在多个“子目录对象”，以“根目录对象”为根，组成一个“对象树”。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03834C-8FD8-4CA1-B780-4E2134C390D9}" type="slidenum">
              <a:rPr lang="en-US" altLang="zh-CN" smtClean="0"/>
              <a:pPr/>
              <a:t>27</a:t>
            </a:fld>
            <a:endParaRPr lang="en-US" altLang="zh-CN" smtClean="0"/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62000" y="2057400"/>
            <a:ext cx="7772400" cy="4032250"/>
          </a:xfrm>
        </p:spPr>
        <p:txBody>
          <a:bodyPr/>
          <a:lstStyle/>
          <a:p>
            <a:pPr marL="609600" indent="-609600" algn="just" eaLnBrk="1" hangingPunct="1">
              <a:lnSpc>
                <a:spcPct val="110000"/>
              </a:lnSpc>
              <a:spcBef>
                <a:spcPct val="40000"/>
              </a:spcBef>
              <a:buFontTx/>
              <a:buNone/>
            </a:pPr>
            <a:r>
              <a:rPr lang="en-US" altLang="zh-CN" b="1" dirty="0" smtClean="0">
                <a:solidFill>
                  <a:srgbClr val="008000"/>
                </a:solidFill>
              </a:rPr>
              <a:t> 	</a:t>
            </a:r>
            <a:r>
              <a:rPr lang="zh-CN" altLang="en-US" b="1" dirty="0" smtClean="0">
                <a:solidFill>
                  <a:srgbClr val="000066"/>
                </a:solidFill>
              </a:rPr>
              <a:t>要正确地共享主存中的某些数据，多线程必须同步执行。</a:t>
            </a:r>
          </a:p>
          <a:p>
            <a:pPr marL="609600" indent="-609600" eaLnBrk="1" hangingPunct="1">
              <a:lnSpc>
                <a:spcPct val="110000"/>
              </a:lnSpc>
              <a:spcBef>
                <a:spcPct val="40000"/>
              </a:spcBef>
              <a:buFontTx/>
              <a:buNone/>
            </a:pPr>
            <a:r>
              <a:rPr lang="en-US" altLang="zh-CN" b="1" dirty="0" smtClean="0">
                <a:solidFill>
                  <a:srgbClr val="000099"/>
                </a:solidFill>
              </a:rPr>
              <a:t>1.  </a:t>
            </a:r>
            <a:r>
              <a:rPr lang="zh-CN" altLang="en-US" b="1" dirty="0" smtClean="0">
                <a:solidFill>
                  <a:srgbClr val="000099"/>
                </a:solidFill>
              </a:rPr>
              <a:t>内核同步</a:t>
            </a:r>
          </a:p>
          <a:p>
            <a:pPr marL="609600" indent="-609600" eaLnBrk="1" hangingPunct="1">
              <a:lnSpc>
                <a:spcPct val="110000"/>
              </a:lnSpc>
              <a:spcBef>
                <a:spcPct val="40000"/>
              </a:spcBef>
              <a:buFontTx/>
              <a:buNone/>
            </a:pPr>
            <a:r>
              <a:rPr lang="en-US" altLang="zh-CN" b="1" dirty="0" smtClean="0">
                <a:solidFill>
                  <a:srgbClr val="000099"/>
                </a:solidFill>
              </a:rPr>
              <a:t>2.  </a:t>
            </a:r>
            <a:r>
              <a:rPr lang="zh-CN" altLang="en-US" b="1" dirty="0" smtClean="0">
                <a:solidFill>
                  <a:srgbClr val="000099"/>
                </a:solidFill>
              </a:rPr>
              <a:t>执行体同步</a:t>
            </a:r>
          </a:p>
        </p:txBody>
      </p:sp>
      <p:sp>
        <p:nvSpPr>
          <p:cNvPr id="44037" name="AutoShape 5"/>
          <p:cNvSpPr>
            <a:spLocks noChangeArrowheads="1"/>
          </p:cNvSpPr>
          <p:nvPr/>
        </p:nvSpPr>
        <p:spPr bwMode="auto">
          <a:xfrm>
            <a:off x="395288" y="304800"/>
            <a:ext cx="8497887" cy="1447800"/>
          </a:xfrm>
          <a:prstGeom prst="horizontalScroll">
            <a:avLst>
              <a:gd name="adj" fmla="val 13986"/>
            </a:avLst>
          </a:prstGeom>
          <a:solidFill>
            <a:schemeClr val="bg1"/>
          </a:solidFill>
          <a:ln w="3810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zh-CN" sz="4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14.5   </a:t>
            </a:r>
            <a:r>
              <a:rPr lang="zh-CN" altLang="en-US" sz="480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对象之间的同步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3BB6CA6-A2C2-440F-A177-56A7CDB22E87}" type="slidenum">
              <a:rPr lang="en-US" altLang="zh-CN" smtClean="0"/>
              <a:pPr/>
              <a:t>28</a:t>
            </a:fld>
            <a:endParaRPr lang="en-US" altLang="zh-CN" dirty="0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90600"/>
          </a:xfrm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</a:rPr>
              <a:t>1.   </a:t>
            </a:r>
            <a:r>
              <a:rPr lang="zh-CN" altLang="en-US" b="1" dirty="0" smtClean="0">
                <a:solidFill>
                  <a:srgbClr val="FF0000"/>
                </a:solidFill>
              </a:rPr>
              <a:t>内核同步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916832"/>
            <a:ext cx="8294687" cy="4329122"/>
          </a:xfrm>
        </p:spPr>
        <p:txBody>
          <a:bodyPr/>
          <a:lstStyle/>
          <a:p>
            <a:pPr marL="609600" indent="-609600" eaLnBrk="1" hangingPunct="1">
              <a:spcBef>
                <a:spcPts val="1200"/>
              </a:spcBef>
              <a:buClr>
                <a:srgbClr val="FF0000"/>
              </a:buClr>
              <a:buSzPct val="150000"/>
              <a:buFont typeface="Wingdings" pitchFamily="2" charset="2"/>
              <a:buChar char="§"/>
            </a:pPr>
            <a:r>
              <a:rPr lang="zh-CN" altLang="en-US" b="1" dirty="0" smtClean="0">
                <a:solidFill>
                  <a:srgbClr val="000066"/>
                </a:solidFill>
              </a:rPr>
              <a:t>内核引入</a:t>
            </a:r>
            <a:r>
              <a:rPr lang="zh-CN" altLang="en-US" b="1" dirty="0" smtClean="0">
                <a:solidFill>
                  <a:srgbClr val="FF00FF"/>
                </a:solidFill>
              </a:rPr>
              <a:t>自旋锁</a:t>
            </a:r>
            <a:r>
              <a:rPr lang="zh-CN" altLang="en-US" b="1" dirty="0" smtClean="0">
                <a:solidFill>
                  <a:srgbClr val="000066"/>
                </a:solidFill>
              </a:rPr>
              <a:t>实现多处理机互斥访问内核临界区（修改全局数据结构的代码段）。</a:t>
            </a:r>
          </a:p>
          <a:p>
            <a:pPr marL="609600" indent="-609600" eaLnBrk="1" hangingPunct="1">
              <a:spcBef>
                <a:spcPts val="1200"/>
              </a:spcBef>
              <a:buClr>
                <a:srgbClr val="FF0000"/>
              </a:buClr>
              <a:buSzPct val="150000"/>
              <a:buFont typeface="Wingdings" pitchFamily="2" charset="2"/>
              <a:buChar char="§"/>
            </a:pPr>
            <a:r>
              <a:rPr lang="zh-CN" altLang="en-US" b="1" dirty="0" smtClean="0">
                <a:solidFill>
                  <a:srgbClr val="000066"/>
                </a:solidFill>
              </a:rPr>
              <a:t>在</a:t>
            </a:r>
            <a:r>
              <a:rPr lang="en-US" altLang="zh-CN" b="1" dirty="0" smtClean="0">
                <a:solidFill>
                  <a:srgbClr val="000066"/>
                </a:solidFill>
              </a:rPr>
              <a:t>Intel</a:t>
            </a:r>
            <a:r>
              <a:rPr lang="zh-CN" altLang="en-US" b="1" dirty="0" smtClean="0">
                <a:solidFill>
                  <a:srgbClr val="000066"/>
                </a:solidFill>
              </a:rPr>
              <a:t>处理机上，自旋锁是通过</a:t>
            </a:r>
            <a:r>
              <a:rPr lang="zh-CN" altLang="en-US" b="1" dirty="0" smtClean="0">
                <a:solidFill>
                  <a:srgbClr val="FF00FF"/>
                </a:solidFill>
              </a:rPr>
              <a:t>“测试与设置”</a:t>
            </a:r>
            <a:r>
              <a:rPr lang="en-US" altLang="zh-CN" b="1" dirty="0" err="1" smtClean="0">
                <a:solidFill>
                  <a:srgbClr val="FF00FF"/>
                </a:solidFill>
              </a:rPr>
              <a:t>testset</a:t>
            </a:r>
            <a:r>
              <a:rPr lang="en-US" altLang="zh-CN" b="1" dirty="0" smtClean="0">
                <a:solidFill>
                  <a:srgbClr val="FF00FF"/>
                </a:solidFill>
              </a:rPr>
              <a:t>( )</a:t>
            </a:r>
            <a:r>
              <a:rPr lang="zh-CN" altLang="en-US" b="1" dirty="0" smtClean="0">
                <a:solidFill>
                  <a:srgbClr val="000066"/>
                </a:solidFill>
              </a:rPr>
              <a:t>硬件指令实现的。</a:t>
            </a:r>
            <a:endParaRPr lang="en-US" altLang="zh-CN" b="1" dirty="0" smtClean="0">
              <a:solidFill>
                <a:srgbClr val="000066"/>
              </a:solidFill>
            </a:endParaRPr>
          </a:p>
          <a:p>
            <a:pPr marL="609600" indent="-609600" eaLnBrk="1" hangingPunct="1">
              <a:spcBef>
                <a:spcPts val="1200"/>
              </a:spcBef>
              <a:buClr>
                <a:srgbClr val="FF0000"/>
              </a:buClr>
              <a:buSzPct val="150000"/>
              <a:buFont typeface="Wingdings" pitchFamily="2" charset="2"/>
              <a:buChar char="§"/>
            </a:pPr>
            <a:r>
              <a:rPr lang="zh-CN" altLang="en-US" b="1" dirty="0" smtClean="0">
                <a:solidFill>
                  <a:srgbClr val="000066"/>
                </a:solidFill>
              </a:rPr>
              <a:t>拥有自旋锁的线程不被剥夺处理机。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B6D0FA-7DC7-48DF-A644-3DADF6F06317}" type="slidenum">
              <a:rPr lang="en-US" altLang="zh-CN" smtClean="0"/>
              <a:pPr/>
              <a:t>29</a:t>
            </a:fld>
            <a:endParaRPr lang="en-US" altLang="zh-CN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808"/>
            <a:ext cx="8280151" cy="4680520"/>
          </a:xfrm>
        </p:spPr>
        <p:txBody>
          <a:bodyPr/>
          <a:lstStyle/>
          <a:p>
            <a:pPr marL="609600" indent="-609600" eaLnBrk="1" hangingPunct="1">
              <a:lnSpc>
                <a:spcPts val="3500"/>
              </a:lnSpc>
              <a:spcBef>
                <a:spcPts val="1200"/>
              </a:spcBef>
              <a:buClr>
                <a:srgbClr val="FF0000"/>
              </a:buClr>
              <a:buSzPct val="150000"/>
              <a:buFont typeface="Wingdings" pitchFamily="2" charset="2"/>
              <a:buChar char="§"/>
            </a:pPr>
            <a:r>
              <a:rPr lang="zh-CN" altLang="en-US" b="1" dirty="0" smtClean="0">
                <a:solidFill>
                  <a:srgbClr val="000066"/>
                </a:solidFill>
              </a:rPr>
              <a:t>执行体组件需要同步访问全局数据结构（如页框数据库），执行体还提供用户态的同步机制。</a:t>
            </a:r>
            <a:endParaRPr lang="en-US" altLang="zh-CN" b="1" dirty="0" smtClean="0">
              <a:solidFill>
                <a:srgbClr val="000066"/>
              </a:solidFill>
            </a:endParaRPr>
          </a:p>
          <a:p>
            <a:pPr marL="609600" indent="-609600" eaLnBrk="1" hangingPunct="1">
              <a:lnSpc>
                <a:spcPts val="3500"/>
              </a:lnSpc>
              <a:spcBef>
                <a:spcPts val="1200"/>
              </a:spcBef>
              <a:buClr>
                <a:srgbClr val="FF0000"/>
              </a:buClr>
              <a:buSzPct val="150000"/>
              <a:buFont typeface="Wingdings" pitchFamily="2" charset="2"/>
              <a:buChar char="§"/>
            </a:pPr>
            <a:r>
              <a:rPr lang="en-US" altLang="zh-CN" b="1" dirty="0" smtClean="0">
                <a:solidFill>
                  <a:srgbClr val="000066"/>
                </a:solidFill>
              </a:rPr>
              <a:t>Windows</a:t>
            </a:r>
            <a:r>
              <a:rPr lang="zh-CN" altLang="en-US" b="1" dirty="0" smtClean="0">
                <a:solidFill>
                  <a:srgbClr val="000066"/>
                </a:solidFill>
              </a:rPr>
              <a:t>定义了统一的同步机制：等待</a:t>
            </a:r>
            <a:r>
              <a:rPr lang="zh-CN" altLang="en-US" b="1" dirty="0" smtClean="0">
                <a:solidFill>
                  <a:srgbClr val="FF00FF"/>
                </a:solidFill>
              </a:rPr>
              <a:t>调度程序对象</a:t>
            </a:r>
            <a:r>
              <a:rPr lang="zh-CN" altLang="en-US" b="1" dirty="0" smtClean="0">
                <a:solidFill>
                  <a:srgbClr val="000066"/>
                </a:solidFill>
              </a:rPr>
              <a:t>为有信号状态，</a:t>
            </a:r>
            <a:r>
              <a:rPr lang="en-US" altLang="zh-CN" b="1" dirty="0" err="1" smtClean="0">
                <a:solidFill>
                  <a:srgbClr val="FF00FF"/>
                </a:solidFill>
              </a:rPr>
              <a:t>WaitForSingleObject</a:t>
            </a:r>
            <a:r>
              <a:rPr lang="en-US" altLang="zh-CN" b="1" dirty="0" smtClean="0">
                <a:solidFill>
                  <a:srgbClr val="FF00FF"/>
                </a:solidFill>
              </a:rPr>
              <a:t>( ) </a:t>
            </a:r>
            <a:r>
              <a:rPr lang="zh-CN" altLang="en-US" b="1" dirty="0" smtClean="0">
                <a:solidFill>
                  <a:srgbClr val="000066"/>
                </a:solidFill>
              </a:rPr>
              <a:t>。</a:t>
            </a:r>
            <a:endParaRPr lang="en-US" altLang="zh-CN" b="1" dirty="0" smtClean="0">
              <a:solidFill>
                <a:srgbClr val="000066"/>
              </a:solidFill>
            </a:endParaRPr>
          </a:p>
          <a:p>
            <a:pPr marL="609600" indent="-609600" eaLnBrk="1" hangingPunct="1">
              <a:lnSpc>
                <a:spcPts val="3500"/>
              </a:lnSpc>
              <a:spcBef>
                <a:spcPts val="1200"/>
              </a:spcBef>
              <a:buClr>
                <a:srgbClr val="FF0000"/>
              </a:buClr>
              <a:buSzPct val="150000"/>
              <a:buFont typeface="Wingdings" pitchFamily="2" charset="2"/>
              <a:buChar char="§"/>
            </a:pPr>
            <a:r>
              <a:rPr lang="zh-CN" altLang="en-US" b="1" dirty="0" smtClean="0">
                <a:solidFill>
                  <a:srgbClr val="000066"/>
                </a:solidFill>
              </a:rPr>
              <a:t>每个同步对象有两种状态：“有信号”，“无信号”。（线程、进程终止时有信号）</a:t>
            </a:r>
          </a:p>
          <a:p>
            <a:pPr eaLnBrk="1" hangingPunct="1">
              <a:lnSpc>
                <a:spcPts val="3500"/>
              </a:lnSpc>
              <a:spcBef>
                <a:spcPts val="1200"/>
              </a:spcBef>
              <a:buFontTx/>
              <a:buNone/>
            </a:pPr>
            <a:r>
              <a:rPr lang="zh-CN" altLang="en-US" sz="2800" b="1" dirty="0" smtClean="0">
                <a:solidFill>
                  <a:srgbClr val="000066"/>
                </a:solidFill>
                <a:latin typeface="宋体" charset="-122"/>
              </a:rPr>
              <a:t>    </a:t>
            </a:r>
            <a:endParaRPr lang="en-US" altLang="zh-CN" sz="2800" b="1" dirty="0" smtClean="0">
              <a:solidFill>
                <a:srgbClr val="FF0066"/>
              </a:solidFill>
            </a:endParaRP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title"/>
          </p:nvPr>
        </p:nvSpPr>
        <p:spPr>
          <a:xfrm>
            <a:off x="683568" y="620688"/>
            <a:ext cx="7772400" cy="838200"/>
          </a:xfrm>
          <a:noFill/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FF0000"/>
                </a:solidFill>
              </a:rPr>
              <a:t>2.   </a:t>
            </a:r>
            <a:r>
              <a:rPr lang="zh-CN" altLang="en-US" b="1" dirty="0" smtClean="0">
                <a:solidFill>
                  <a:srgbClr val="FF0000"/>
                </a:solidFill>
              </a:rPr>
              <a:t>执行体同步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9E1D5B-DA30-4A6F-BDC7-46AD41C8AE75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923928" y="908720"/>
            <a:ext cx="1800200" cy="480131"/>
          </a:xfrm>
          <a:prstGeom prst="rect">
            <a:avLst/>
          </a:prstGeom>
          <a:solidFill>
            <a:srgbClr val="FFFF00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线程对象</a:t>
            </a:r>
            <a:r>
              <a:rPr lang="en-US" altLang="zh-CN" dirty="0" smtClean="0">
                <a:solidFill>
                  <a:srgbClr val="000099"/>
                </a:solidFill>
              </a:rPr>
              <a:t>1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6" name="Line 49"/>
          <p:cNvSpPr>
            <a:spLocks noChangeShapeType="1"/>
          </p:cNvSpPr>
          <p:nvPr/>
        </p:nvSpPr>
        <p:spPr bwMode="auto">
          <a:xfrm>
            <a:off x="3203848" y="2780556"/>
            <a:ext cx="864096" cy="3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228184" y="908720"/>
            <a:ext cx="2016224" cy="480131"/>
          </a:xfrm>
          <a:prstGeom prst="rect">
            <a:avLst/>
          </a:prstGeom>
          <a:solidFill>
            <a:srgbClr val="FFFF00"/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线程对象</a:t>
            </a:r>
            <a:r>
              <a:rPr lang="en-US" altLang="zh-CN" dirty="0" smtClean="0">
                <a:solidFill>
                  <a:srgbClr val="000099"/>
                </a:solidFill>
              </a:rPr>
              <a:t>2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539552" y="2492896"/>
            <a:ext cx="2664296" cy="4801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调度程序对象</a:t>
            </a:r>
            <a:r>
              <a:rPr lang="en-US" altLang="zh-CN" dirty="0" smtClean="0">
                <a:solidFill>
                  <a:srgbClr val="000099"/>
                </a:solidFill>
              </a:rPr>
              <a:t>1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39552" y="4005064"/>
            <a:ext cx="2664296" cy="4801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调度程序对象</a:t>
            </a:r>
            <a:r>
              <a:rPr lang="en-US" altLang="zh-CN" dirty="0" smtClean="0">
                <a:solidFill>
                  <a:srgbClr val="000099"/>
                </a:solidFill>
              </a:rPr>
              <a:t>2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067944" y="2492896"/>
            <a:ext cx="1368152" cy="480131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等待块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6516216" y="2492896"/>
            <a:ext cx="1368152" cy="480131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等待块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067944" y="4005064"/>
            <a:ext cx="1368152" cy="480131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等待块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6516216" y="4005064"/>
            <a:ext cx="1368152" cy="480131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等待块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14" name="Line 49"/>
          <p:cNvSpPr>
            <a:spLocks noChangeShapeType="1"/>
          </p:cNvSpPr>
          <p:nvPr/>
        </p:nvSpPr>
        <p:spPr bwMode="auto">
          <a:xfrm>
            <a:off x="3203848" y="4220716"/>
            <a:ext cx="864096" cy="3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Line 49"/>
          <p:cNvSpPr>
            <a:spLocks noChangeShapeType="1"/>
          </p:cNvSpPr>
          <p:nvPr/>
        </p:nvSpPr>
        <p:spPr bwMode="auto">
          <a:xfrm>
            <a:off x="5436096" y="2780928"/>
            <a:ext cx="108012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Line 49"/>
          <p:cNvSpPr>
            <a:spLocks noChangeShapeType="1"/>
          </p:cNvSpPr>
          <p:nvPr/>
        </p:nvSpPr>
        <p:spPr bwMode="auto">
          <a:xfrm>
            <a:off x="5436096" y="4221088"/>
            <a:ext cx="108012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Line 49"/>
          <p:cNvSpPr>
            <a:spLocks noChangeShapeType="1"/>
          </p:cNvSpPr>
          <p:nvPr/>
        </p:nvSpPr>
        <p:spPr bwMode="auto">
          <a:xfrm>
            <a:off x="4716016" y="1412776"/>
            <a:ext cx="0" cy="108012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Line 49"/>
          <p:cNvSpPr>
            <a:spLocks noChangeShapeType="1"/>
          </p:cNvSpPr>
          <p:nvPr/>
        </p:nvSpPr>
        <p:spPr bwMode="auto">
          <a:xfrm>
            <a:off x="7164288" y="1412776"/>
            <a:ext cx="0" cy="108012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49"/>
          <p:cNvSpPr>
            <a:spLocks noChangeShapeType="1"/>
          </p:cNvSpPr>
          <p:nvPr/>
        </p:nvSpPr>
        <p:spPr bwMode="auto">
          <a:xfrm>
            <a:off x="4716016" y="2996952"/>
            <a:ext cx="0" cy="10081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49"/>
          <p:cNvSpPr>
            <a:spLocks noChangeShapeType="1"/>
          </p:cNvSpPr>
          <p:nvPr/>
        </p:nvSpPr>
        <p:spPr bwMode="auto">
          <a:xfrm>
            <a:off x="7164288" y="2996952"/>
            <a:ext cx="0" cy="10081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539552" y="5469149"/>
            <a:ext cx="2664296" cy="4801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调度程序对象</a:t>
            </a:r>
            <a:r>
              <a:rPr lang="en-US" altLang="zh-CN" dirty="0" smtClean="0">
                <a:solidFill>
                  <a:srgbClr val="000099"/>
                </a:solidFill>
              </a:rPr>
              <a:t>3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4067944" y="5469149"/>
            <a:ext cx="1368152" cy="480131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等待块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23" name="Text Box 7"/>
          <p:cNvSpPr txBox="1">
            <a:spLocks noChangeArrowheads="1"/>
          </p:cNvSpPr>
          <p:nvPr/>
        </p:nvSpPr>
        <p:spPr bwMode="auto">
          <a:xfrm>
            <a:off x="6516216" y="5469149"/>
            <a:ext cx="1368152" cy="480131"/>
          </a:xfrm>
          <a:prstGeom prst="rect">
            <a:avLst/>
          </a:prstGeom>
          <a:noFill/>
          <a:ln w="28575">
            <a:solidFill>
              <a:srgbClr val="0000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spcBef>
                <a:spcPct val="50000"/>
              </a:spcBef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99"/>
                </a:solidFill>
              </a:rPr>
              <a:t>等待块</a:t>
            </a:r>
            <a:endParaRPr lang="en-US" altLang="zh-CN" dirty="0">
              <a:solidFill>
                <a:srgbClr val="000099"/>
              </a:solidFill>
            </a:endParaRPr>
          </a:p>
        </p:txBody>
      </p:sp>
      <p:sp>
        <p:nvSpPr>
          <p:cNvPr id="24" name="Line 49"/>
          <p:cNvSpPr>
            <a:spLocks noChangeShapeType="1"/>
          </p:cNvSpPr>
          <p:nvPr/>
        </p:nvSpPr>
        <p:spPr bwMode="auto">
          <a:xfrm>
            <a:off x="3203848" y="5684801"/>
            <a:ext cx="864096" cy="3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Line 49"/>
          <p:cNvSpPr>
            <a:spLocks noChangeShapeType="1"/>
          </p:cNvSpPr>
          <p:nvPr/>
        </p:nvSpPr>
        <p:spPr bwMode="auto">
          <a:xfrm>
            <a:off x="5436096" y="5685173"/>
            <a:ext cx="108012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Line 49"/>
          <p:cNvSpPr>
            <a:spLocks noChangeShapeType="1"/>
          </p:cNvSpPr>
          <p:nvPr/>
        </p:nvSpPr>
        <p:spPr bwMode="auto">
          <a:xfrm>
            <a:off x="4716016" y="4461037"/>
            <a:ext cx="0" cy="10081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Line 49"/>
          <p:cNvSpPr>
            <a:spLocks noChangeShapeType="1"/>
          </p:cNvSpPr>
          <p:nvPr/>
        </p:nvSpPr>
        <p:spPr bwMode="auto">
          <a:xfrm>
            <a:off x="7164288" y="4461037"/>
            <a:ext cx="0" cy="10081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Line 49"/>
          <p:cNvSpPr>
            <a:spLocks noChangeShapeType="1"/>
          </p:cNvSpPr>
          <p:nvPr/>
        </p:nvSpPr>
        <p:spPr bwMode="auto">
          <a:xfrm>
            <a:off x="7884368" y="2780928"/>
            <a:ext cx="864096" cy="3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Line 49"/>
          <p:cNvSpPr>
            <a:spLocks noChangeShapeType="1"/>
          </p:cNvSpPr>
          <p:nvPr/>
        </p:nvSpPr>
        <p:spPr bwMode="auto">
          <a:xfrm>
            <a:off x="7884368" y="4221088"/>
            <a:ext cx="864096" cy="3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Line 49"/>
          <p:cNvSpPr>
            <a:spLocks noChangeShapeType="1"/>
          </p:cNvSpPr>
          <p:nvPr/>
        </p:nvSpPr>
        <p:spPr bwMode="auto">
          <a:xfrm>
            <a:off x="7884368" y="5661248"/>
            <a:ext cx="864096" cy="37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251520" y="692696"/>
            <a:ext cx="3096344" cy="1255728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	</a:t>
            </a:r>
            <a:r>
              <a:rPr lang="zh-CN" altLang="en-US" dirty="0" smtClean="0">
                <a:solidFill>
                  <a:srgbClr val="FF0000"/>
                </a:solidFill>
              </a:rPr>
              <a:t>等待者和被等待者之间的关系图</a:t>
            </a:r>
            <a:r>
              <a:rPr lang="en-US" altLang="zh-CN" dirty="0" smtClean="0">
                <a:solidFill>
                  <a:srgbClr val="FF0000"/>
                </a:solidFill>
              </a:rPr>
              <a:t>P283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1B15E2-B0DF-48BE-A44C-1FC28562BD51}" type="slidenum">
              <a:rPr lang="en-US" altLang="zh-CN" smtClean="0"/>
              <a:pPr/>
              <a:t>31</a:t>
            </a:fld>
            <a:endParaRPr lang="en-US" altLang="zh-CN" smtClean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solidFill>
                  <a:srgbClr val="FF0000"/>
                </a:solidFill>
              </a:rPr>
              <a:t>14.6      </a:t>
            </a:r>
            <a:r>
              <a:rPr lang="zh-CN" altLang="en-US" sz="4000" b="1" smtClean="0">
                <a:solidFill>
                  <a:srgbClr val="FF0000"/>
                </a:solidFill>
              </a:rPr>
              <a:t>小结</a:t>
            </a:r>
            <a:endParaRPr lang="zh-CN" altLang="en-US" sz="4000" smtClean="0">
              <a:solidFill>
                <a:srgbClr val="FF0000"/>
              </a:solidFill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153400" cy="4343400"/>
          </a:xfrm>
        </p:spPr>
        <p:txBody>
          <a:bodyPr/>
          <a:lstStyle/>
          <a:p>
            <a:pPr marL="533400" indent="-533400" algn="just" eaLnBrk="1" hangingPunct="1">
              <a:buFontTx/>
              <a:buAutoNum type="arabicPeriod"/>
            </a:pPr>
            <a:r>
              <a:rPr lang="zh-CN" altLang="en-US" b="1" smtClean="0">
                <a:solidFill>
                  <a:srgbClr val="000066"/>
                </a:solidFill>
              </a:rPr>
              <a:t>融合了分层和客户</a:t>
            </a:r>
            <a:r>
              <a:rPr lang="en-US" altLang="zh-CN" b="1" smtClean="0">
                <a:solidFill>
                  <a:srgbClr val="000066"/>
                </a:solidFill>
              </a:rPr>
              <a:t>/</a:t>
            </a:r>
            <a:r>
              <a:rPr lang="zh-CN" altLang="en-US" b="1" smtClean="0">
                <a:solidFill>
                  <a:srgbClr val="000066"/>
                </a:solidFill>
              </a:rPr>
              <a:t>服务器系统模型。</a:t>
            </a:r>
          </a:p>
          <a:p>
            <a:pPr marL="533400" indent="-533400" algn="just" eaLnBrk="1" hangingPunct="1">
              <a:buFontTx/>
              <a:buAutoNum type="arabicPeriod"/>
            </a:pPr>
            <a:r>
              <a:rPr lang="zh-CN" altLang="en-US" b="1" smtClean="0">
                <a:solidFill>
                  <a:srgbClr val="000066"/>
                </a:solidFill>
              </a:rPr>
              <a:t>系统机制：包括陷阱调度、执行体对象管理器、各种同步对象以及本地过程调用等。</a:t>
            </a:r>
          </a:p>
          <a:p>
            <a:pPr marL="533400" indent="-533400" algn="just" eaLnBrk="1" hangingPunct="1">
              <a:buFontTx/>
              <a:buAutoNum type="arabicPeriod"/>
            </a:pPr>
            <a:r>
              <a:rPr lang="zh-CN" altLang="en-US" b="1" smtClean="0">
                <a:solidFill>
                  <a:srgbClr val="000066"/>
                </a:solidFill>
              </a:rPr>
              <a:t>对象管理器。它将系统公共的资源作为对象来对待，以控制进程使用对象。有两种类型的对象：执行体对象和内核对象。</a:t>
            </a:r>
          </a:p>
          <a:p>
            <a:pPr marL="533400" indent="-533400" algn="just" eaLnBrk="1" hangingPunct="1">
              <a:buFontTx/>
              <a:buAutoNum type="arabicPeriod"/>
            </a:pPr>
            <a:r>
              <a:rPr lang="zh-CN" altLang="en-US" b="1" smtClean="0">
                <a:solidFill>
                  <a:srgbClr val="000066"/>
                </a:solidFill>
              </a:rPr>
              <a:t>对象之间的同步。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just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rgbClr val="FF0000"/>
          </a:buClr>
          <a:buSzPct val="150000"/>
          <a:buFont typeface="Wingdings" pitchFamily="2" charset="2"/>
          <a:buChar char="§"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just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rgbClr val="FF0000"/>
          </a:buClr>
          <a:buSzPct val="150000"/>
          <a:buFont typeface="Wingdings" pitchFamily="2" charset="2"/>
          <a:buChar char="§"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  <a:txDef>
      <a:spPr bwMode="auto">
        <a:noFill/>
        <a:ln w="28575">
          <a:solidFill>
            <a:srgbClr val="000066"/>
          </a:solidFill>
          <a:miter lim="800000"/>
          <a:headEnd/>
          <a:tailEnd/>
        </a:ln>
      </a:spPr>
      <a:bodyPr wrap="square">
        <a:spAutoFit/>
      </a:bodyPr>
      <a:lstStyle>
        <a:defPPr marL="342900" indent="-342900" algn="l">
          <a:spcBef>
            <a:spcPct val="50000"/>
          </a:spcBef>
          <a:buFont typeface="Wingdings" pitchFamily="2" charset="2"/>
          <a:buNone/>
          <a:defRPr dirty="0" smtClean="0">
            <a:solidFill>
              <a:srgbClr val="FF0000"/>
            </a:solidFill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10908</TotalTime>
  <Words>1477</Words>
  <Application>Microsoft Office PowerPoint</Application>
  <PresentationFormat>全屏显示(4:3)</PresentationFormat>
  <Paragraphs>257</Paragraphs>
  <Slides>31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2" baseType="lpstr">
      <vt:lpstr>默认设计模板</vt:lpstr>
      <vt:lpstr>第三篇   Windows 操作系统研究 </vt:lpstr>
      <vt:lpstr>第14章  Windows                操作系统模型 </vt:lpstr>
      <vt:lpstr>幻灯片 3</vt:lpstr>
      <vt:lpstr>Windows 系统文件</vt:lpstr>
      <vt:lpstr>Windows子系统</vt:lpstr>
      <vt:lpstr>窗口、消息</vt:lpstr>
      <vt:lpstr>幻灯片 7</vt:lpstr>
      <vt:lpstr>幻灯片 8</vt:lpstr>
      <vt:lpstr>幻灯片 9</vt:lpstr>
      <vt:lpstr>内核对象</vt:lpstr>
      <vt:lpstr>幻灯片 11</vt:lpstr>
      <vt:lpstr>幻灯片 12</vt:lpstr>
      <vt:lpstr>幻灯片 13</vt:lpstr>
      <vt:lpstr>幻灯片 14</vt:lpstr>
      <vt:lpstr>延迟过程调用 DPC</vt:lpstr>
      <vt:lpstr>幻灯片 16</vt:lpstr>
      <vt:lpstr>异步过程调用 APC</vt:lpstr>
      <vt:lpstr>I/O请求中断处理过程</vt:lpstr>
      <vt:lpstr>幻灯片 19</vt:lpstr>
      <vt:lpstr>14.4.1    对象结构</vt:lpstr>
      <vt:lpstr>幻灯片 21</vt:lpstr>
      <vt:lpstr>类型对象</vt:lpstr>
      <vt:lpstr>幻灯片 23</vt:lpstr>
      <vt:lpstr>14.4.2     管理对象</vt:lpstr>
      <vt:lpstr>幻灯片 25</vt:lpstr>
      <vt:lpstr>幻灯片 26</vt:lpstr>
      <vt:lpstr>幻灯片 27</vt:lpstr>
      <vt:lpstr>1.   内核同步</vt:lpstr>
      <vt:lpstr>2.   执行体同步</vt:lpstr>
      <vt:lpstr>幻灯片 30</vt:lpstr>
      <vt:lpstr>14.6      小结</vt:lpstr>
    </vt:vector>
  </TitlesOfParts>
  <Company>jys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lmh</dc:creator>
  <cp:lastModifiedBy>dell</cp:lastModifiedBy>
  <cp:revision>320</cp:revision>
  <dcterms:created xsi:type="dcterms:W3CDTF">2004-05-05T08:22:12Z</dcterms:created>
  <dcterms:modified xsi:type="dcterms:W3CDTF">2020-12-03T09:14:38Z</dcterms:modified>
</cp:coreProperties>
</file>